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 name="Rectangle 42"/>
          <p:cNvSpPr/>
          <p:nvPr/>
        </p:nvSpPr>
        <p:spPr>
          <a:xfrm>
            <a:off x="384048" y="2039112"/>
            <a:ext cx="11356848" cy="256032"/>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874519"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Problem &amp; Motivation</a:t>
            </a:r>
          </a:p>
        </p:txBody>
      </p:sp>
      <p:sp>
        <p:nvSpPr>
          <p:cNvPr id="3" name="Rectangle 2"/>
          <p:cNvSpPr/>
          <p:nvPr/>
        </p:nvSpPr>
        <p:spPr>
          <a:xfrm>
            <a:off x="1874519" y="0"/>
            <a:ext cx="105156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RQ</a:t>
            </a:r>
          </a:p>
        </p:txBody>
      </p:sp>
      <p:sp>
        <p:nvSpPr>
          <p:cNvPr id="4" name="Rectangle 3"/>
          <p:cNvSpPr/>
          <p:nvPr/>
        </p:nvSpPr>
        <p:spPr>
          <a:xfrm>
            <a:off x="2926079" y="0"/>
            <a:ext cx="256032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Methodology</a:t>
            </a:r>
          </a:p>
        </p:txBody>
      </p:sp>
      <p:sp>
        <p:nvSpPr>
          <p:cNvPr id="5" name="Rectangle 4"/>
          <p:cNvSpPr/>
          <p:nvPr/>
        </p:nvSpPr>
        <p:spPr>
          <a:xfrm>
            <a:off x="5486400" y="0"/>
            <a:ext cx="210312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Experimental Results &amp; Analysis</a:t>
            </a:r>
          </a:p>
        </p:txBody>
      </p:sp>
      <p:sp>
        <p:nvSpPr>
          <p:cNvPr id="6" name="Rectangle 5"/>
          <p:cNvSpPr/>
          <p:nvPr/>
        </p:nvSpPr>
        <p:spPr>
          <a:xfrm>
            <a:off x="7589520" y="0"/>
            <a:ext cx="242316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Proposed Improvements</a:t>
            </a:r>
          </a:p>
        </p:txBody>
      </p:sp>
      <p:sp>
        <p:nvSpPr>
          <p:cNvPr id="7" name="Rectangle 6"/>
          <p:cNvSpPr/>
          <p:nvPr/>
        </p:nvSpPr>
        <p:spPr>
          <a:xfrm>
            <a:off x="10012680" y="0"/>
            <a:ext cx="2176272" cy="274320"/>
          </a:xfrm>
          <a:prstGeom prst="rect">
            <a:avLst/>
          </a:prstGeom>
          <a:solidFill>
            <a:srgbClr val="8AA9F7"/>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Validation &amp; Conclusions</a:t>
            </a:r>
          </a:p>
        </p:txBody>
      </p:sp>
      <p:sp>
        <p:nvSpPr>
          <p:cNvPr id="8" name="TextBox 7"/>
          <p:cNvSpPr txBox="1"/>
          <p:nvPr/>
        </p:nvSpPr>
        <p:spPr>
          <a:xfrm>
            <a:off x="438912" y="384048"/>
            <a:ext cx="11338560" cy="402336"/>
          </a:xfrm>
          <a:prstGeom prst="rect">
            <a:avLst/>
          </a:prstGeom>
          <a:noFill/>
        </p:spPr>
        <p:txBody>
          <a:bodyPr wrap="square" lIns="0" rIns="0" tIns="0" bIns="0" anchor="ctr">
            <a:spAutoFit/>
          </a:bodyPr>
          <a:lstStyle/>
          <a:p>
            <a:pPr algn="l"/>
            <a:r>
              <a:rPr sz="2500" b="1" i="0" u="none">
                <a:solidFill>
                  <a:srgbClr val="141E27"/>
                </a:solidFill>
                <a:latin typeface="Helvetica Neue"/>
              </a:rPr>
              <a:t>Ablation: What Each Module Actually Does</a:t>
            </a:r>
          </a:p>
        </p:txBody>
      </p:sp>
      <p:sp>
        <p:nvSpPr>
          <p:cNvPr id="9" name="TextBox 8"/>
          <p:cNvSpPr txBox="1"/>
          <p:nvPr/>
        </p:nvSpPr>
        <p:spPr>
          <a:xfrm>
            <a:off x="438912" y="804672"/>
            <a:ext cx="11338560" cy="219456"/>
          </a:xfrm>
          <a:prstGeom prst="rect">
            <a:avLst/>
          </a:prstGeom>
          <a:noFill/>
        </p:spPr>
        <p:txBody>
          <a:bodyPr wrap="square" lIns="0" rIns="0" tIns="0" bIns="0" anchor="ctr">
            <a:spAutoFit/>
          </a:bodyPr>
          <a:lstStyle/>
          <a:p>
            <a:pPr algn="l"/>
            <a:r>
              <a:rPr sz="1150" b="0" i="1" u="none">
                <a:solidFill>
                  <a:srgbClr val="4C5C6B"/>
                </a:solidFill>
                <a:latin typeface="Helvetica Neue"/>
              </a:rPr>
              <a:t>One finding per arm. Every gain is stated with the number behind it, and every regression is traced to the stage that causes it.</a:t>
            </a:r>
          </a:p>
        </p:txBody>
      </p:sp>
      <p:sp>
        <p:nvSpPr>
          <p:cNvPr id="10" name="TextBox 9"/>
          <p:cNvSpPr txBox="1"/>
          <p:nvPr/>
        </p:nvSpPr>
        <p:spPr>
          <a:xfrm>
            <a:off x="438912" y="1170432"/>
            <a:ext cx="11338560" cy="182880"/>
          </a:xfrm>
          <a:prstGeom prst="rect">
            <a:avLst/>
          </a:prstGeom>
          <a:noFill/>
        </p:spPr>
        <p:txBody>
          <a:bodyPr wrap="square" lIns="0" rIns="0" tIns="0" bIns="0" anchor="ctr">
            <a:spAutoFit/>
          </a:bodyPr>
          <a:lstStyle/>
          <a:p>
            <a:pPr algn="l"/>
            <a:r>
              <a:rPr sz="1050" b="1" i="0" u="none">
                <a:solidFill>
                  <a:srgbClr val="141E27"/>
                </a:solidFill>
                <a:latin typeface="Helvetica Neue"/>
              </a:rPr>
              <a:t>Table 1.  The five arms  (LoCoMo n = 199, HaluMem n = 125 adjudicated, MemFail n = 35, update points n = 142)</a:t>
            </a:r>
          </a:p>
        </p:txBody>
      </p:sp>
      <p:cxnSp>
        <p:nvCxnSpPr>
          <p:cNvPr id="11" name="Connector 10"/>
          <p:cNvCxnSpPr/>
          <p:nvPr/>
        </p:nvCxnSpPr>
        <p:spPr>
          <a:xfrm>
            <a:off x="438912" y="1389888"/>
            <a:ext cx="11247120"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8912" y="1435608"/>
            <a:ext cx="1115568" cy="164592"/>
          </a:xfrm>
          <a:prstGeom prst="rect">
            <a:avLst/>
          </a:prstGeom>
          <a:noFill/>
        </p:spPr>
        <p:txBody>
          <a:bodyPr wrap="square" lIns="0" rIns="0" tIns="0" bIns="0" anchor="ctr">
            <a:spAutoFit/>
          </a:bodyPr>
          <a:lstStyle/>
          <a:p>
            <a:pPr algn="l"/>
            <a:r>
              <a:rPr sz="800" b="1" i="0" u="none">
                <a:solidFill>
                  <a:srgbClr val="7E8D9B"/>
                </a:solidFill>
                <a:latin typeface="Helvetica Neue"/>
              </a:rPr>
              <a:t/>
            </a:r>
          </a:p>
        </p:txBody>
      </p:sp>
      <p:sp>
        <p:nvSpPr>
          <p:cNvPr id="13" name="TextBox 12"/>
          <p:cNvSpPr txBox="1"/>
          <p:nvPr/>
        </p:nvSpPr>
        <p:spPr>
          <a:xfrm>
            <a:off x="438912" y="1600200"/>
            <a:ext cx="1115568" cy="164592"/>
          </a:xfrm>
          <a:prstGeom prst="rect">
            <a:avLst/>
          </a:prstGeom>
          <a:noFill/>
        </p:spPr>
        <p:txBody>
          <a:bodyPr wrap="square" lIns="0" rIns="0" tIns="0" bIns="0" anchor="ctr">
            <a:spAutoFit/>
          </a:bodyPr>
          <a:lstStyle/>
          <a:p>
            <a:pPr algn="l"/>
            <a:r>
              <a:rPr sz="900" b="1" i="0" u="none">
                <a:solidFill>
                  <a:srgbClr val="4C5C6B"/>
                </a:solidFill>
                <a:latin typeface="Helvetica Neue"/>
              </a:rPr>
              <a:t/>
            </a:r>
          </a:p>
        </p:txBody>
      </p:sp>
      <p:sp>
        <p:nvSpPr>
          <p:cNvPr id="14" name="TextBox 13"/>
          <p:cNvSpPr txBox="1"/>
          <p:nvPr/>
        </p:nvSpPr>
        <p:spPr>
          <a:xfrm>
            <a:off x="1554480" y="1435608"/>
            <a:ext cx="1097280" cy="164592"/>
          </a:xfrm>
          <a:prstGeom prst="rect">
            <a:avLst/>
          </a:prstGeom>
          <a:noFill/>
        </p:spPr>
        <p:txBody>
          <a:bodyPr wrap="square" lIns="0" rIns="0" tIns="0" bIns="0" anchor="ctr">
            <a:spAutoFit/>
          </a:bodyPr>
          <a:lstStyle/>
          <a:p>
            <a:pPr algn="ctr"/>
            <a:r>
              <a:rPr sz="800" b="1" i="0" u="none">
                <a:solidFill>
                  <a:srgbClr val="7E8D9B"/>
                </a:solidFill>
                <a:latin typeface="Helvetica Neue"/>
              </a:rPr>
              <a:t>LoCoMo</a:t>
            </a:r>
          </a:p>
        </p:txBody>
      </p:sp>
      <p:sp>
        <p:nvSpPr>
          <p:cNvPr id="15" name="TextBox 14"/>
          <p:cNvSpPr txBox="1"/>
          <p:nvPr/>
        </p:nvSpPr>
        <p:spPr>
          <a:xfrm>
            <a:off x="1554480" y="1600200"/>
            <a:ext cx="1097280" cy="164592"/>
          </a:xfrm>
          <a:prstGeom prst="rect">
            <a:avLst/>
          </a:prstGeom>
          <a:noFill/>
        </p:spPr>
        <p:txBody>
          <a:bodyPr wrap="square" lIns="0" rIns="0" tIns="0" bIns="0" anchor="ctr">
            <a:spAutoFit/>
          </a:bodyPr>
          <a:lstStyle/>
          <a:p>
            <a:pPr algn="ctr"/>
            <a:r>
              <a:rPr sz="900" b="1" i="0" u="none">
                <a:solidFill>
                  <a:srgbClr val="4C5C6B"/>
                </a:solidFill>
                <a:latin typeface="Helvetica Neue"/>
              </a:rPr>
              <a:t>QA ↑</a:t>
            </a:r>
          </a:p>
        </p:txBody>
      </p:sp>
      <p:sp>
        <p:nvSpPr>
          <p:cNvPr id="16" name="TextBox 15"/>
          <p:cNvSpPr txBox="1"/>
          <p:nvPr/>
        </p:nvSpPr>
        <p:spPr>
          <a:xfrm>
            <a:off x="2651760" y="1435608"/>
            <a:ext cx="1097280" cy="164592"/>
          </a:xfrm>
          <a:prstGeom prst="rect">
            <a:avLst/>
          </a:prstGeom>
          <a:noFill/>
        </p:spPr>
        <p:txBody>
          <a:bodyPr wrap="square" lIns="0" rIns="0" tIns="0" bIns="0" anchor="ctr">
            <a:spAutoFit/>
          </a:bodyPr>
          <a:lstStyle/>
          <a:p>
            <a:pPr algn="ctr"/>
            <a:r>
              <a:rPr sz="800" b="1" i="0" u="none">
                <a:solidFill>
                  <a:srgbClr val="7E8D9B"/>
                </a:solidFill>
                <a:latin typeface="Helvetica Neue"/>
              </a:rPr>
              <a:t>LoCoMo</a:t>
            </a:r>
          </a:p>
        </p:txBody>
      </p:sp>
      <p:sp>
        <p:nvSpPr>
          <p:cNvPr id="17" name="TextBox 16"/>
          <p:cNvSpPr txBox="1"/>
          <p:nvPr/>
        </p:nvSpPr>
        <p:spPr>
          <a:xfrm>
            <a:off x="2651760" y="1600200"/>
            <a:ext cx="1097280" cy="164592"/>
          </a:xfrm>
          <a:prstGeom prst="rect">
            <a:avLst/>
          </a:prstGeom>
          <a:noFill/>
        </p:spPr>
        <p:txBody>
          <a:bodyPr wrap="square" lIns="0" rIns="0" tIns="0" bIns="0" anchor="ctr">
            <a:spAutoFit/>
          </a:bodyPr>
          <a:lstStyle/>
          <a:p>
            <a:pPr algn="ctr"/>
            <a:r>
              <a:rPr sz="900" b="1" i="0" u="none">
                <a:solidFill>
                  <a:srgbClr val="4C5C6B"/>
                </a:solidFill>
                <a:latin typeface="Helvetica Neue"/>
              </a:rPr>
              <a:t>P1 ↓</a:t>
            </a:r>
          </a:p>
        </p:txBody>
      </p:sp>
      <p:sp>
        <p:nvSpPr>
          <p:cNvPr id="18" name="TextBox 17"/>
          <p:cNvSpPr txBox="1"/>
          <p:nvPr/>
        </p:nvSpPr>
        <p:spPr>
          <a:xfrm>
            <a:off x="3749039" y="1435608"/>
            <a:ext cx="1097280" cy="164592"/>
          </a:xfrm>
          <a:prstGeom prst="rect">
            <a:avLst/>
          </a:prstGeom>
          <a:noFill/>
        </p:spPr>
        <p:txBody>
          <a:bodyPr wrap="square" lIns="0" rIns="0" tIns="0" bIns="0" anchor="ctr">
            <a:spAutoFit/>
          </a:bodyPr>
          <a:lstStyle/>
          <a:p>
            <a:pPr algn="ctr"/>
            <a:r>
              <a:rPr sz="800" b="1" i="0" u="none">
                <a:solidFill>
                  <a:srgbClr val="7E8D9B"/>
                </a:solidFill>
                <a:latin typeface="Helvetica Neue"/>
              </a:rPr>
              <a:t>LoCoMo</a:t>
            </a:r>
          </a:p>
        </p:txBody>
      </p:sp>
      <p:sp>
        <p:nvSpPr>
          <p:cNvPr id="19" name="TextBox 18"/>
          <p:cNvSpPr txBox="1"/>
          <p:nvPr/>
        </p:nvSpPr>
        <p:spPr>
          <a:xfrm>
            <a:off x="3749039" y="1600200"/>
            <a:ext cx="1097280" cy="164592"/>
          </a:xfrm>
          <a:prstGeom prst="rect">
            <a:avLst/>
          </a:prstGeom>
          <a:noFill/>
        </p:spPr>
        <p:txBody>
          <a:bodyPr wrap="square" lIns="0" rIns="0" tIns="0" bIns="0" anchor="ctr">
            <a:spAutoFit/>
          </a:bodyPr>
          <a:lstStyle/>
          <a:p>
            <a:pPr algn="ctr"/>
            <a:r>
              <a:rPr sz="900" b="1" i="0" u="none">
                <a:solidFill>
                  <a:srgbClr val="4C5C6B"/>
                </a:solidFill>
                <a:latin typeface="Helvetica Neue"/>
              </a:rPr>
              <a:t>P5 ↓</a:t>
            </a:r>
          </a:p>
        </p:txBody>
      </p:sp>
      <p:sp>
        <p:nvSpPr>
          <p:cNvPr id="20" name="TextBox 19"/>
          <p:cNvSpPr txBox="1"/>
          <p:nvPr/>
        </p:nvSpPr>
        <p:spPr>
          <a:xfrm>
            <a:off x="4846320" y="1435608"/>
            <a:ext cx="1097280" cy="164592"/>
          </a:xfrm>
          <a:prstGeom prst="rect">
            <a:avLst/>
          </a:prstGeom>
          <a:noFill/>
        </p:spPr>
        <p:txBody>
          <a:bodyPr wrap="square" lIns="0" rIns="0" tIns="0" bIns="0" anchor="ctr">
            <a:spAutoFit/>
          </a:bodyPr>
          <a:lstStyle/>
          <a:p>
            <a:pPr algn="ctr"/>
            <a:r>
              <a:rPr sz="800" b="1" i="0" u="none">
                <a:solidFill>
                  <a:srgbClr val="7E8D9B"/>
                </a:solidFill>
                <a:latin typeface="Helvetica Neue"/>
              </a:rPr>
              <a:t>HaluMem</a:t>
            </a:r>
          </a:p>
        </p:txBody>
      </p:sp>
      <p:sp>
        <p:nvSpPr>
          <p:cNvPr id="21" name="TextBox 20"/>
          <p:cNvSpPr txBox="1"/>
          <p:nvPr/>
        </p:nvSpPr>
        <p:spPr>
          <a:xfrm>
            <a:off x="4846320" y="1600200"/>
            <a:ext cx="1097280" cy="164592"/>
          </a:xfrm>
          <a:prstGeom prst="rect">
            <a:avLst/>
          </a:prstGeom>
          <a:noFill/>
        </p:spPr>
        <p:txBody>
          <a:bodyPr wrap="square" lIns="0" rIns="0" tIns="0" bIns="0" anchor="ctr">
            <a:spAutoFit/>
          </a:bodyPr>
          <a:lstStyle/>
          <a:p>
            <a:pPr algn="ctr"/>
            <a:r>
              <a:rPr sz="900" b="1" i="0" u="none">
                <a:solidFill>
                  <a:srgbClr val="4C5C6B"/>
                </a:solidFill>
                <a:latin typeface="Helvetica Neue"/>
              </a:rPr>
              <a:t>P4 ↓</a:t>
            </a:r>
          </a:p>
        </p:txBody>
      </p:sp>
      <p:sp>
        <p:nvSpPr>
          <p:cNvPr id="22" name="TextBox 21"/>
          <p:cNvSpPr txBox="1"/>
          <p:nvPr/>
        </p:nvSpPr>
        <p:spPr>
          <a:xfrm>
            <a:off x="5943600" y="1435608"/>
            <a:ext cx="1097280" cy="164592"/>
          </a:xfrm>
          <a:prstGeom prst="rect">
            <a:avLst/>
          </a:prstGeom>
          <a:noFill/>
        </p:spPr>
        <p:txBody>
          <a:bodyPr wrap="square" lIns="0" rIns="0" tIns="0" bIns="0" anchor="ctr">
            <a:spAutoFit/>
          </a:bodyPr>
          <a:lstStyle/>
          <a:p>
            <a:pPr algn="ctr"/>
            <a:r>
              <a:rPr sz="800" b="1" i="0" u="none">
                <a:solidFill>
                  <a:srgbClr val="7E8D9B"/>
                </a:solidFill>
                <a:latin typeface="Helvetica Neue"/>
              </a:rPr>
              <a:t>HaluMem</a:t>
            </a:r>
          </a:p>
        </p:txBody>
      </p:sp>
      <p:sp>
        <p:nvSpPr>
          <p:cNvPr id="23" name="TextBox 22"/>
          <p:cNvSpPr txBox="1"/>
          <p:nvPr/>
        </p:nvSpPr>
        <p:spPr>
          <a:xfrm>
            <a:off x="5943600" y="1600200"/>
            <a:ext cx="1097280" cy="164592"/>
          </a:xfrm>
          <a:prstGeom prst="rect">
            <a:avLst/>
          </a:prstGeom>
          <a:noFill/>
        </p:spPr>
        <p:txBody>
          <a:bodyPr wrap="square" lIns="0" rIns="0" tIns="0" bIns="0" anchor="ctr">
            <a:spAutoFit/>
          </a:bodyPr>
          <a:lstStyle/>
          <a:p>
            <a:pPr algn="ctr"/>
            <a:r>
              <a:rPr sz="900" b="1" i="0" u="none">
                <a:solidFill>
                  <a:srgbClr val="4C5C6B"/>
                </a:solidFill>
                <a:latin typeface="Helvetica Neue"/>
              </a:rPr>
              <a:t>P5 ↓</a:t>
            </a:r>
          </a:p>
        </p:txBody>
      </p:sp>
      <p:sp>
        <p:nvSpPr>
          <p:cNvPr id="24" name="TextBox 23"/>
          <p:cNvSpPr txBox="1"/>
          <p:nvPr/>
        </p:nvSpPr>
        <p:spPr>
          <a:xfrm>
            <a:off x="7040880" y="1435608"/>
            <a:ext cx="1170432" cy="164592"/>
          </a:xfrm>
          <a:prstGeom prst="rect">
            <a:avLst/>
          </a:prstGeom>
          <a:noFill/>
        </p:spPr>
        <p:txBody>
          <a:bodyPr wrap="square" lIns="0" rIns="0" tIns="0" bIns="0" anchor="ctr">
            <a:spAutoFit/>
          </a:bodyPr>
          <a:lstStyle/>
          <a:p>
            <a:pPr algn="ctr"/>
            <a:r>
              <a:rPr sz="800" b="1" i="0" u="none">
                <a:solidFill>
                  <a:srgbClr val="7E8D9B"/>
                </a:solidFill>
                <a:latin typeface="Helvetica Neue"/>
              </a:rPr>
              <a:t>Update</a:t>
            </a:r>
          </a:p>
        </p:txBody>
      </p:sp>
      <p:sp>
        <p:nvSpPr>
          <p:cNvPr id="25" name="TextBox 24"/>
          <p:cNvSpPr txBox="1"/>
          <p:nvPr/>
        </p:nvSpPr>
        <p:spPr>
          <a:xfrm>
            <a:off x="7040880" y="1600200"/>
            <a:ext cx="1170432" cy="164592"/>
          </a:xfrm>
          <a:prstGeom prst="rect">
            <a:avLst/>
          </a:prstGeom>
          <a:noFill/>
        </p:spPr>
        <p:txBody>
          <a:bodyPr wrap="square" lIns="0" rIns="0" tIns="0" bIns="0" anchor="ctr">
            <a:spAutoFit/>
          </a:bodyPr>
          <a:lstStyle/>
          <a:p>
            <a:pPr algn="ctr"/>
            <a:r>
              <a:rPr sz="900" b="1" i="0" u="none">
                <a:solidFill>
                  <a:srgbClr val="4C5C6B"/>
                </a:solidFill>
                <a:latin typeface="Helvetica Neue"/>
              </a:rPr>
              <a:t>landed ↑</a:t>
            </a:r>
          </a:p>
        </p:txBody>
      </p:sp>
      <p:sp>
        <p:nvSpPr>
          <p:cNvPr id="26" name="TextBox 25"/>
          <p:cNvSpPr txBox="1"/>
          <p:nvPr/>
        </p:nvSpPr>
        <p:spPr>
          <a:xfrm>
            <a:off x="8211312" y="1435608"/>
            <a:ext cx="1060704" cy="164592"/>
          </a:xfrm>
          <a:prstGeom prst="rect">
            <a:avLst/>
          </a:prstGeom>
          <a:noFill/>
        </p:spPr>
        <p:txBody>
          <a:bodyPr wrap="square" lIns="0" rIns="0" tIns="0" bIns="0" anchor="ctr">
            <a:spAutoFit/>
          </a:bodyPr>
          <a:lstStyle/>
          <a:p>
            <a:pPr algn="ctr"/>
            <a:r>
              <a:rPr sz="800" b="1" i="0" u="none">
                <a:solidFill>
                  <a:srgbClr val="7E8D9B"/>
                </a:solidFill>
                <a:latin typeface="Helvetica Neue"/>
              </a:rPr>
              <a:t>MemFail</a:t>
            </a:r>
          </a:p>
        </p:txBody>
      </p:sp>
      <p:sp>
        <p:nvSpPr>
          <p:cNvPr id="27" name="TextBox 26"/>
          <p:cNvSpPr txBox="1"/>
          <p:nvPr/>
        </p:nvSpPr>
        <p:spPr>
          <a:xfrm>
            <a:off x="8211312" y="1600200"/>
            <a:ext cx="1060704" cy="164592"/>
          </a:xfrm>
          <a:prstGeom prst="rect">
            <a:avLst/>
          </a:prstGeom>
          <a:noFill/>
        </p:spPr>
        <p:txBody>
          <a:bodyPr wrap="square" lIns="0" rIns="0" tIns="0" bIns="0" anchor="ctr">
            <a:spAutoFit/>
          </a:bodyPr>
          <a:lstStyle/>
          <a:p>
            <a:pPr algn="ctr"/>
            <a:r>
              <a:rPr sz="900" b="1" i="0" u="none">
                <a:solidFill>
                  <a:srgbClr val="4C5C6B"/>
                </a:solidFill>
                <a:latin typeface="Helvetica Neue"/>
              </a:rPr>
              <a:t>/ 35 ↑</a:t>
            </a:r>
          </a:p>
        </p:txBody>
      </p:sp>
      <p:sp>
        <p:nvSpPr>
          <p:cNvPr id="28" name="TextBox 27"/>
          <p:cNvSpPr txBox="1"/>
          <p:nvPr/>
        </p:nvSpPr>
        <p:spPr>
          <a:xfrm>
            <a:off x="9272016" y="1435608"/>
            <a:ext cx="1133856" cy="164592"/>
          </a:xfrm>
          <a:prstGeom prst="rect">
            <a:avLst/>
          </a:prstGeom>
          <a:noFill/>
        </p:spPr>
        <p:txBody>
          <a:bodyPr wrap="square" lIns="0" rIns="0" tIns="0" bIns="0" anchor="ctr">
            <a:spAutoFit/>
          </a:bodyPr>
          <a:lstStyle/>
          <a:p>
            <a:pPr algn="ctr"/>
            <a:r>
              <a:rPr sz="800" b="1" i="0" u="none">
                <a:solidFill>
                  <a:srgbClr val="7E8D9B"/>
                </a:solidFill>
                <a:latin typeface="Helvetica Neue"/>
              </a:rPr>
              <a:t>Coexist</a:t>
            </a:r>
          </a:p>
        </p:txBody>
      </p:sp>
      <p:sp>
        <p:nvSpPr>
          <p:cNvPr id="29" name="TextBox 28"/>
          <p:cNvSpPr txBox="1"/>
          <p:nvPr/>
        </p:nvSpPr>
        <p:spPr>
          <a:xfrm>
            <a:off x="9272016" y="1600200"/>
            <a:ext cx="1133856" cy="164592"/>
          </a:xfrm>
          <a:prstGeom prst="rect">
            <a:avLst/>
          </a:prstGeom>
          <a:noFill/>
        </p:spPr>
        <p:txBody>
          <a:bodyPr wrap="square" lIns="0" rIns="0" tIns="0" bIns="0" anchor="ctr">
            <a:spAutoFit/>
          </a:bodyPr>
          <a:lstStyle/>
          <a:p>
            <a:pPr algn="ctr"/>
            <a:r>
              <a:rPr sz="900" b="1" i="0" u="none">
                <a:solidFill>
                  <a:srgbClr val="4C5C6B"/>
                </a:solidFill>
                <a:latin typeface="Helvetica Neue"/>
              </a:rPr>
              <a:t>listed ↑</a:t>
            </a:r>
          </a:p>
        </p:txBody>
      </p:sp>
      <p:sp>
        <p:nvSpPr>
          <p:cNvPr id="30" name="TextBox 29"/>
          <p:cNvSpPr txBox="1"/>
          <p:nvPr/>
        </p:nvSpPr>
        <p:spPr>
          <a:xfrm>
            <a:off x="10405872" y="1435608"/>
            <a:ext cx="1280160" cy="164592"/>
          </a:xfrm>
          <a:prstGeom prst="rect">
            <a:avLst/>
          </a:prstGeom>
          <a:noFill/>
        </p:spPr>
        <p:txBody>
          <a:bodyPr wrap="square" lIns="0" rIns="0" tIns="0" bIns="0" anchor="ctr">
            <a:spAutoFit/>
          </a:bodyPr>
          <a:lstStyle/>
          <a:p>
            <a:pPr algn="ctr"/>
            <a:r>
              <a:rPr sz="800" b="1" i="0" u="none">
                <a:solidFill>
                  <a:srgbClr val="7E8D9B"/>
                </a:solidFill>
                <a:latin typeface="Helvetica Neue"/>
              </a:rPr>
              <a:t>Write</a:t>
            </a:r>
          </a:p>
        </p:txBody>
      </p:sp>
      <p:sp>
        <p:nvSpPr>
          <p:cNvPr id="31" name="TextBox 30"/>
          <p:cNvSpPr txBox="1"/>
          <p:nvPr/>
        </p:nvSpPr>
        <p:spPr>
          <a:xfrm>
            <a:off x="10405872" y="1600200"/>
            <a:ext cx="1280160" cy="164592"/>
          </a:xfrm>
          <a:prstGeom prst="rect">
            <a:avLst/>
          </a:prstGeom>
          <a:noFill/>
        </p:spPr>
        <p:txBody>
          <a:bodyPr wrap="square" lIns="0" rIns="0" tIns="0" bIns="0" anchor="ctr">
            <a:spAutoFit/>
          </a:bodyPr>
          <a:lstStyle/>
          <a:p>
            <a:pPr algn="ctr"/>
            <a:r>
              <a:rPr sz="900" b="1" i="0" u="none">
                <a:solidFill>
                  <a:srgbClr val="4C5C6B"/>
                </a:solidFill>
                <a:latin typeface="Helvetica Neue"/>
              </a:rPr>
              <a:t>tok/unit ↓</a:t>
            </a:r>
          </a:p>
        </p:txBody>
      </p:sp>
      <p:cxnSp>
        <p:nvCxnSpPr>
          <p:cNvPr id="32" name="Connector 31"/>
          <p:cNvCxnSpPr/>
          <p:nvPr/>
        </p:nvCxnSpPr>
        <p:spPr>
          <a:xfrm>
            <a:off x="438912" y="1810512"/>
            <a:ext cx="11247120" cy="0"/>
          </a:xfrm>
          <a:prstGeom prst="line">
            <a:avLst/>
          </a:prstGeom>
          <a:ln w="11430">
            <a:solidFill>
              <a:srgbClr val="141E27"/>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38912" y="1819656"/>
            <a:ext cx="1115568" cy="201168"/>
          </a:xfrm>
          <a:prstGeom prst="rect">
            <a:avLst/>
          </a:prstGeom>
          <a:noFill/>
        </p:spPr>
        <p:txBody>
          <a:bodyPr wrap="square" lIns="0" rIns="0" tIns="0" bIns="0" anchor="ctr">
            <a:spAutoFit/>
          </a:bodyPr>
          <a:lstStyle/>
          <a:p>
            <a:pPr algn="l"/>
            <a:r>
              <a:rPr sz="1000" b="1" i="0" u="none">
                <a:solidFill>
                  <a:srgbClr val="141E27"/>
                </a:solidFill>
                <a:latin typeface="Helvetica Neue"/>
              </a:rPr>
              <a:t>E0  baseline</a:t>
            </a:r>
          </a:p>
        </p:txBody>
      </p:sp>
      <p:sp>
        <p:nvSpPr>
          <p:cNvPr id="34" name="TextBox 33"/>
          <p:cNvSpPr txBox="1"/>
          <p:nvPr/>
        </p:nvSpPr>
        <p:spPr>
          <a:xfrm>
            <a:off x="1554480" y="1819656"/>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0.643</a:t>
            </a:r>
          </a:p>
        </p:txBody>
      </p:sp>
      <p:sp>
        <p:nvSpPr>
          <p:cNvPr id="35" name="TextBox 34"/>
          <p:cNvSpPr txBox="1"/>
          <p:nvPr/>
        </p:nvSpPr>
        <p:spPr>
          <a:xfrm>
            <a:off x="2651760" y="1819656"/>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0.057</a:t>
            </a:r>
          </a:p>
        </p:txBody>
      </p:sp>
      <p:sp>
        <p:nvSpPr>
          <p:cNvPr id="36" name="TextBox 35"/>
          <p:cNvSpPr txBox="1"/>
          <p:nvPr/>
        </p:nvSpPr>
        <p:spPr>
          <a:xfrm>
            <a:off x="3749039" y="1819656"/>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0.224</a:t>
            </a:r>
          </a:p>
        </p:txBody>
      </p:sp>
      <p:sp>
        <p:nvSpPr>
          <p:cNvPr id="37" name="TextBox 36"/>
          <p:cNvSpPr txBox="1"/>
          <p:nvPr/>
        </p:nvSpPr>
        <p:spPr>
          <a:xfrm>
            <a:off x="4846320" y="1819656"/>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0.200</a:t>
            </a:r>
          </a:p>
        </p:txBody>
      </p:sp>
      <p:sp>
        <p:nvSpPr>
          <p:cNvPr id="38" name="TextBox 37"/>
          <p:cNvSpPr txBox="1"/>
          <p:nvPr/>
        </p:nvSpPr>
        <p:spPr>
          <a:xfrm>
            <a:off x="5943600" y="1819656"/>
            <a:ext cx="1097280" cy="201168"/>
          </a:xfrm>
          <a:prstGeom prst="rect">
            <a:avLst/>
          </a:prstGeom>
          <a:noFill/>
        </p:spPr>
        <p:txBody>
          <a:bodyPr wrap="square" lIns="0" rIns="0" tIns="0" bIns="0" anchor="ctr">
            <a:spAutoFit/>
          </a:bodyPr>
          <a:lstStyle/>
          <a:p>
            <a:pPr algn="ctr"/>
            <a:r>
              <a:rPr sz="900" b="1" i="0" u="none">
                <a:solidFill>
                  <a:srgbClr val="141E27"/>
                </a:solidFill>
                <a:latin typeface="Menlo"/>
              </a:rPr>
              <a:t>0.344</a:t>
            </a:r>
          </a:p>
        </p:txBody>
      </p:sp>
      <p:sp>
        <p:nvSpPr>
          <p:cNvPr id="39" name="TextBox 38"/>
          <p:cNvSpPr txBox="1"/>
          <p:nvPr/>
        </p:nvSpPr>
        <p:spPr>
          <a:xfrm>
            <a:off x="7040880" y="1819656"/>
            <a:ext cx="1170432" cy="201168"/>
          </a:xfrm>
          <a:prstGeom prst="rect">
            <a:avLst/>
          </a:prstGeom>
          <a:noFill/>
        </p:spPr>
        <p:txBody>
          <a:bodyPr wrap="square" lIns="0" rIns="0" tIns="0" bIns="0" anchor="ctr">
            <a:spAutoFit/>
          </a:bodyPr>
          <a:lstStyle/>
          <a:p>
            <a:pPr algn="ctr"/>
            <a:r>
              <a:rPr sz="900" b="0" i="0" u="none">
                <a:solidFill>
                  <a:srgbClr val="141E27"/>
                </a:solidFill>
                <a:latin typeface="Menlo"/>
              </a:rPr>
              <a:t>0.718</a:t>
            </a:r>
          </a:p>
        </p:txBody>
      </p:sp>
      <p:sp>
        <p:nvSpPr>
          <p:cNvPr id="40" name="TextBox 39"/>
          <p:cNvSpPr txBox="1"/>
          <p:nvPr/>
        </p:nvSpPr>
        <p:spPr>
          <a:xfrm>
            <a:off x="8211312" y="1819656"/>
            <a:ext cx="1060704" cy="201168"/>
          </a:xfrm>
          <a:prstGeom prst="rect">
            <a:avLst/>
          </a:prstGeom>
          <a:noFill/>
        </p:spPr>
        <p:txBody>
          <a:bodyPr wrap="square" lIns="0" rIns="0" tIns="0" bIns="0" anchor="ctr">
            <a:spAutoFit/>
          </a:bodyPr>
          <a:lstStyle/>
          <a:p>
            <a:pPr algn="ctr"/>
            <a:r>
              <a:rPr sz="900" b="1" i="0" u="none">
                <a:solidFill>
                  <a:srgbClr val="141E27"/>
                </a:solidFill>
                <a:latin typeface="Menlo"/>
              </a:rPr>
              <a:t>30</a:t>
            </a:r>
          </a:p>
        </p:txBody>
      </p:sp>
      <p:sp>
        <p:nvSpPr>
          <p:cNvPr id="41" name="TextBox 40"/>
          <p:cNvSpPr txBox="1"/>
          <p:nvPr/>
        </p:nvSpPr>
        <p:spPr>
          <a:xfrm>
            <a:off x="9272016" y="1819656"/>
            <a:ext cx="1133856" cy="201168"/>
          </a:xfrm>
          <a:prstGeom prst="rect">
            <a:avLst/>
          </a:prstGeom>
          <a:noFill/>
        </p:spPr>
        <p:txBody>
          <a:bodyPr wrap="square" lIns="0" rIns="0" tIns="0" bIns="0" anchor="ctr">
            <a:spAutoFit/>
          </a:bodyPr>
          <a:lstStyle/>
          <a:p>
            <a:pPr algn="ctr"/>
            <a:r>
              <a:rPr sz="900" b="1" i="0" u="none">
                <a:solidFill>
                  <a:srgbClr val="141E27"/>
                </a:solidFill>
                <a:latin typeface="Menlo"/>
              </a:rPr>
              <a:t>17/20</a:t>
            </a:r>
          </a:p>
        </p:txBody>
      </p:sp>
      <p:sp>
        <p:nvSpPr>
          <p:cNvPr id="42" name="TextBox 41"/>
          <p:cNvSpPr txBox="1"/>
          <p:nvPr/>
        </p:nvSpPr>
        <p:spPr>
          <a:xfrm>
            <a:off x="10405872" y="1819656"/>
            <a:ext cx="1280160" cy="201168"/>
          </a:xfrm>
          <a:prstGeom prst="rect">
            <a:avLst/>
          </a:prstGeom>
          <a:noFill/>
        </p:spPr>
        <p:txBody>
          <a:bodyPr wrap="square" lIns="0" rIns="0" tIns="0" bIns="0" anchor="ctr">
            <a:spAutoFit/>
          </a:bodyPr>
          <a:lstStyle/>
          <a:p>
            <a:pPr algn="ctr"/>
            <a:r>
              <a:rPr sz="900" b="1" i="0" u="none">
                <a:solidFill>
                  <a:srgbClr val="141E27"/>
                </a:solidFill>
                <a:latin typeface="Menlo"/>
              </a:rPr>
              <a:t>18,374</a:t>
            </a:r>
          </a:p>
        </p:txBody>
      </p:sp>
      <p:sp>
        <p:nvSpPr>
          <p:cNvPr id="44" name="TextBox 43"/>
          <p:cNvSpPr txBox="1"/>
          <p:nvPr/>
        </p:nvSpPr>
        <p:spPr>
          <a:xfrm>
            <a:off x="438912" y="2066543"/>
            <a:ext cx="1115568" cy="201168"/>
          </a:xfrm>
          <a:prstGeom prst="rect">
            <a:avLst/>
          </a:prstGeom>
          <a:noFill/>
        </p:spPr>
        <p:txBody>
          <a:bodyPr wrap="square" lIns="0" rIns="0" tIns="0" bIns="0" anchor="ctr">
            <a:spAutoFit/>
          </a:bodyPr>
          <a:lstStyle/>
          <a:p>
            <a:pPr algn="l"/>
            <a:r>
              <a:rPr sz="1000" b="1" i="0" u="none">
                <a:solidFill>
                  <a:srgbClr val="141E27"/>
                </a:solidFill>
                <a:latin typeface="Helvetica Neue"/>
              </a:rPr>
              <a:t>E1  M1</a:t>
            </a:r>
          </a:p>
        </p:txBody>
      </p:sp>
      <p:sp>
        <p:nvSpPr>
          <p:cNvPr id="45" name="TextBox 44"/>
          <p:cNvSpPr txBox="1"/>
          <p:nvPr/>
        </p:nvSpPr>
        <p:spPr>
          <a:xfrm>
            <a:off x="1554480" y="2066543"/>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0.673</a:t>
            </a:r>
          </a:p>
        </p:txBody>
      </p:sp>
      <p:sp>
        <p:nvSpPr>
          <p:cNvPr id="46" name="TextBox 45"/>
          <p:cNvSpPr txBox="1"/>
          <p:nvPr/>
        </p:nvSpPr>
        <p:spPr>
          <a:xfrm>
            <a:off x="2651760" y="2066543"/>
            <a:ext cx="1097280" cy="201168"/>
          </a:xfrm>
          <a:prstGeom prst="rect">
            <a:avLst/>
          </a:prstGeom>
          <a:noFill/>
        </p:spPr>
        <p:txBody>
          <a:bodyPr wrap="square" lIns="0" rIns="0" tIns="0" bIns="0" anchor="ctr">
            <a:spAutoFit/>
          </a:bodyPr>
          <a:lstStyle/>
          <a:p>
            <a:pPr algn="ctr"/>
            <a:r>
              <a:rPr sz="900" b="0" i="0" u="sng">
                <a:solidFill>
                  <a:srgbClr val="141E27"/>
                </a:solidFill>
                <a:latin typeface="Menlo"/>
              </a:rPr>
              <a:t>0.052</a:t>
            </a:r>
          </a:p>
        </p:txBody>
      </p:sp>
      <p:sp>
        <p:nvSpPr>
          <p:cNvPr id="47" name="TextBox 46"/>
          <p:cNvSpPr txBox="1"/>
          <p:nvPr/>
        </p:nvSpPr>
        <p:spPr>
          <a:xfrm>
            <a:off x="3749039" y="2066543"/>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0.193</a:t>
            </a:r>
          </a:p>
        </p:txBody>
      </p:sp>
      <p:sp>
        <p:nvSpPr>
          <p:cNvPr id="48" name="TextBox 47"/>
          <p:cNvSpPr txBox="1"/>
          <p:nvPr/>
        </p:nvSpPr>
        <p:spPr>
          <a:xfrm>
            <a:off x="4846320" y="2066543"/>
            <a:ext cx="1097280" cy="201168"/>
          </a:xfrm>
          <a:prstGeom prst="rect">
            <a:avLst/>
          </a:prstGeom>
          <a:noFill/>
        </p:spPr>
        <p:txBody>
          <a:bodyPr wrap="square" lIns="0" rIns="0" tIns="0" bIns="0" anchor="ctr">
            <a:spAutoFit/>
          </a:bodyPr>
          <a:lstStyle/>
          <a:p>
            <a:pPr algn="ctr"/>
            <a:r>
              <a:rPr sz="900" b="0" i="0" u="sng">
                <a:solidFill>
                  <a:srgbClr val="141E27"/>
                </a:solidFill>
                <a:latin typeface="Menlo"/>
              </a:rPr>
              <a:t>0.176</a:t>
            </a:r>
          </a:p>
        </p:txBody>
      </p:sp>
      <p:sp>
        <p:nvSpPr>
          <p:cNvPr id="49" name="TextBox 48"/>
          <p:cNvSpPr txBox="1"/>
          <p:nvPr/>
        </p:nvSpPr>
        <p:spPr>
          <a:xfrm>
            <a:off x="5943600" y="2066543"/>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0.448</a:t>
            </a:r>
          </a:p>
        </p:txBody>
      </p:sp>
      <p:sp>
        <p:nvSpPr>
          <p:cNvPr id="50" name="TextBox 49"/>
          <p:cNvSpPr txBox="1"/>
          <p:nvPr/>
        </p:nvSpPr>
        <p:spPr>
          <a:xfrm>
            <a:off x="7040880" y="2066543"/>
            <a:ext cx="1170432" cy="201168"/>
          </a:xfrm>
          <a:prstGeom prst="rect">
            <a:avLst/>
          </a:prstGeom>
          <a:noFill/>
        </p:spPr>
        <p:txBody>
          <a:bodyPr wrap="square" lIns="0" rIns="0" tIns="0" bIns="0" anchor="ctr">
            <a:spAutoFit/>
          </a:bodyPr>
          <a:lstStyle/>
          <a:p>
            <a:pPr algn="ctr"/>
            <a:r>
              <a:rPr sz="900" b="1" i="0" u="none">
                <a:solidFill>
                  <a:srgbClr val="141E27"/>
                </a:solidFill>
                <a:latin typeface="Menlo"/>
              </a:rPr>
              <a:t>0.739</a:t>
            </a:r>
          </a:p>
        </p:txBody>
      </p:sp>
      <p:sp>
        <p:nvSpPr>
          <p:cNvPr id="51" name="TextBox 50"/>
          <p:cNvSpPr txBox="1"/>
          <p:nvPr/>
        </p:nvSpPr>
        <p:spPr>
          <a:xfrm>
            <a:off x="8211312" y="2066543"/>
            <a:ext cx="1060704" cy="201168"/>
          </a:xfrm>
          <a:prstGeom prst="rect">
            <a:avLst/>
          </a:prstGeom>
          <a:noFill/>
        </p:spPr>
        <p:txBody>
          <a:bodyPr wrap="square" lIns="0" rIns="0" tIns="0" bIns="0" anchor="ctr">
            <a:spAutoFit/>
          </a:bodyPr>
          <a:lstStyle/>
          <a:p>
            <a:pPr algn="ctr"/>
            <a:r>
              <a:rPr sz="900" b="0" i="0" u="sng">
                <a:solidFill>
                  <a:srgbClr val="141E27"/>
                </a:solidFill>
                <a:latin typeface="Menlo"/>
              </a:rPr>
              <a:t>29</a:t>
            </a:r>
          </a:p>
        </p:txBody>
      </p:sp>
      <p:sp>
        <p:nvSpPr>
          <p:cNvPr id="52" name="TextBox 51"/>
          <p:cNvSpPr txBox="1"/>
          <p:nvPr/>
        </p:nvSpPr>
        <p:spPr>
          <a:xfrm>
            <a:off x="9272016" y="2066543"/>
            <a:ext cx="1133856" cy="201168"/>
          </a:xfrm>
          <a:prstGeom prst="rect">
            <a:avLst/>
          </a:prstGeom>
          <a:noFill/>
        </p:spPr>
        <p:txBody>
          <a:bodyPr wrap="square" lIns="0" rIns="0" tIns="0" bIns="0" anchor="ctr">
            <a:spAutoFit/>
          </a:bodyPr>
          <a:lstStyle/>
          <a:p>
            <a:pPr algn="ctr"/>
            <a:r>
              <a:rPr sz="900" b="1" i="0" u="none">
                <a:solidFill>
                  <a:srgbClr val="141E27"/>
                </a:solidFill>
                <a:latin typeface="Menlo"/>
              </a:rPr>
              <a:t>17/20</a:t>
            </a:r>
          </a:p>
        </p:txBody>
      </p:sp>
      <p:sp>
        <p:nvSpPr>
          <p:cNvPr id="53" name="TextBox 52"/>
          <p:cNvSpPr txBox="1"/>
          <p:nvPr/>
        </p:nvSpPr>
        <p:spPr>
          <a:xfrm>
            <a:off x="10405872" y="2066543"/>
            <a:ext cx="1280160" cy="201168"/>
          </a:xfrm>
          <a:prstGeom prst="rect">
            <a:avLst/>
          </a:prstGeom>
          <a:noFill/>
        </p:spPr>
        <p:txBody>
          <a:bodyPr wrap="square" lIns="0" rIns="0" tIns="0" bIns="0" anchor="ctr">
            <a:spAutoFit/>
          </a:bodyPr>
          <a:lstStyle/>
          <a:p>
            <a:pPr algn="ctr"/>
            <a:r>
              <a:rPr sz="900" b="0" i="0" u="none">
                <a:solidFill>
                  <a:srgbClr val="141E27"/>
                </a:solidFill>
                <a:latin typeface="Menlo"/>
              </a:rPr>
              <a:t>19,355</a:t>
            </a:r>
          </a:p>
        </p:txBody>
      </p:sp>
      <p:sp>
        <p:nvSpPr>
          <p:cNvPr id="54" name="TextBox 53"/>
          <p:cNvSpPr txBox="1"/>
          <p:nvPr/>
        </p:nvSpPr>
        <p:spPr>
          <a:xfrm>
            <a:off x="438912" y="2313431"/>
            <a:ext cx="1115568" cy="201168"/>
          </a:xfrm>
          <a:prstGeom prst="rect">
            <a:avLst/>
          </a:prstGeom>
          <a:noFill/>
        </p:spPr>
        <p:txBody>
          <a:bodyPr wrap="square" lIns="0" rIns="0" tIns="0" bIns="0" anchor="ctr">
            <a:spAutoFit/>
          </a:bodyPr>
          <a:lstStyle/>
          <a:p>
            <a:pPr algn="l"/>
            <a:r>
              <a:rPr sz="1000" b="1" i="0" u="none">
                <a:solidFill>
                  <a:srgbClr val="141E27"/>
                </a:solidFill>
                <a:latin typeface="Helvetica Neue"/>
              </a:rPr>
              <a:t>E2  M1+M3</a:t>
            </a:r>
          </a:p>
        </p:txBody>
      </p:sp>
      <p:sp>
        <p:nvSpPr>
          <p:cNvPr id="55" name="TextBox 54"/>
          <p:cNvSpPr txBox="1"/>
          <p:nvPr/>
        </p:nvSpPr>
        <p:spPr>
          <a:xfrm>
            <a:off x="1554480" y="2313431"/>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0.668</a:t>
            </a:r>
          </a:p>
        </p:txBody>
      </p:sp>
      <p:sp>
        <p:nvSpPr>
          <p:cNvPr id="56" name="TextBox 55"/>
          <p:cNvSpPr txBox="1"/>
          <p:nvPr/>
        </p:nvSpPr>
        <p:spPr>
          <a:xfrm>
            <a:off x="2651760" y="2313431"/>
            <a:ext cx="1097280" cy="201168"/>
          </a:xfrm>
          <a:prstGeom prst="rect">
            <a:avLst/>
          </a:prstGeom>
          <a:noFill/>
        </p:spPr>
        <p:txBody>
          <a:bodyPr wrap="square" lIns="0" rIns="0" tIns="0" bIns="0" anchor="ctr">
            <a:spAutoFit/>
          </a:bodyPr>
          <a:lstStyle/>
          <a:p>
            <a:pPr algn="ctr"/>
            <a:r>
              <a:rPr sz="900" b="1" i="0" u="none">
                <a:solidFill>
                  <a:srgbClr val="141E27"/>
                </a:solidFill>
                <a:latin typeface="Menlo"/>
              </a:rPr>
              <a:t>0.047</a:t>
            </a:r>
          </a:p>
        </p:txBody>
      </p:sp>
      <p:sp>
        <p:nvSpPr>
          <p:cNvPr id="57" name="TextBox 56"/>
          <p:cNvSpPr txBox="1"/>
          <p:nvPr/>
        </p:nvSpPr>
        <p:spPr>
          <a:xfrm>
            <a:off x="3749039" y="2313431"/>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0.213</a:t>
            </a:r>
          </a:p>
        </p:txBody>
      </p:sp>
      <p:sp>
        <p:nvSpPr>
          <p:cNvPr id="58" name="TextBox 57"/>
          <p:cNvSpPr txBox="1"/>
          <p:nvPr/>
        </p:nvSpPr>
        <p:spPr>
          <a:xfrm>
            <a:off x="4846320" y="2313431"/>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0.240</a:t>
            </a:r>
          </a:p>
        </p:txBody>
      </p:sp>
      <p:sp>
        <p:nvSpPr>
          <p:cNvPr id="59" name="TextBox 58"/>
          <p:cNvSpPr txBox="1"/>
          <p:nvPr/>
        </p:nvSpPr>
        <p:spPr>
          <a:xfrm>
            <a:off x="5943600" y="2313431"/>
            <a:ext cx="1097280" cy="201168"/>
          </a:xfrm>
          <a:prstGeom prst="rect">
            <a:avLst/>
          </a:prstGeom>
          <a:noFill/>
        </p:spPr>
        <p:txBody>
          <a:bodyPr wrap="square" lIns="0" rIns="0" tIns="0" bIns="0" anchor="ctr">
            <a:spAutoFit/>
          </a:bodyPr>
          <a:lstStyle/>
          <a:p>
            <a:pPr algn="ctr"/>
            <a:r>
              <a:rPr sz="900" b="0" i="0" u="sng">
                <a:solidFill>
                  <a:srgbClr val="141E27"/>
                </a:solidFill>
                <a:latin typeface="Menlo"/>
              </a:rPr>
              <a:t>0.360</a:t>
            </a:r>
          </a:p>
        </p:txBody>
      </p:sp>
      <p:sp>
        <p:nvSpPr>
          <p:cNvPr id="60" name="TextBox 59"/>
          <p:cNvSpPr txBox="1"/>
          <p:nvPr/>
        </p:nvSpPr>
        <p:spPr>
          <a:xfrm>
            <a:off x="7040880" y="2313431"/>
            <a:ext cx="1170432" cy="201168"/>
          </a:xfrm>
          <a:prstGeom prst="rect">
            <a:avLst/>
          </a:prstGeom>
          <a:noFill/>
        </p:spPr>
        <p:txBody>
          <a:bodyPr wrap="square" lIns="0" rIns="0" tIns="0" bIns="0" anchor="ctr">
            <a:spAutoFit/>
          </a:bodyPr>
          <a:lstStyle/>
          <a:p>
            <a:pPr algn="ctr"/>
            <a:r>
              <a:rPr sz="900" b="0" i="0" u="none">
                <a:solidFill>
                  <a:srgbClr val="141E27"/>
                </a:solidFill>
                <a:latin typeface="Menlo"/>
              </a:rPr>
              <a:t>0.641</a:t>
            </a:r>
          </a:p>
        </p:txBody>
      </p:sp>
      <p:sp>
        <p:nvSpPr>
          <p:cNvPr id="61" name="TextBox 60"/>
          <p:cNvSpPr txBox="1"/>
          <p:nvPr/>
        </p:nvSpPr>
        <p:spPr>
          <a:xfrm>
            <a:off x="8211312" y="2313431"/>
            <a:ext cx="1060704" cy="201168"/>
          </a:xfrm>
          <a:prstGeom prst="rect">
            <a:avLst/>
          </a:prstGeom>
          <a:noFill/>
        </p:spPr>
        <p:txBody>
          <a:bodyPr wrap="square" lIns="0" rIns="0" tIns="0" bIns="0" anchor="ctr">
            <a:spAutoFit/>
          </a:bodyPr>
          <a:lstStyle/>
          <a:p>
            <a:pPr algn="ctr"/>
            <a:r>
              <a:rPr sz="900" b="0" i="0" u="none">
                <a:solidFill>
                  <a:srgbClr val="141E27"/>
                </a:solidFill>
                <a:latin typeface="Menlo"/>
              </a:rPr>
              <a:t>26</a:t>
            </a:r>
          </a:p>
        </p:txBody>
      </p:sp>
      <p:sp>
        <p:nvSpPr>
          <p:cNvPr id="62" name="TextBox 61"/>
          <p:cNvSpPr txBox="1"/>
          <p:nvPr/>
        </p:nvSpPr>
        <p:spPr>
          <a:xfrm>
            <a:off x="9272016" y="2313431"/>
            <a:ext cx="1133856" cy="201168"/>
          </a:xfrm>
          <a:prstGeom prst="rect">
            <a:avLst/>
          </a:prstGeom>
          <a:noFill/>
        </p:spPr>
        <p:txBody>
          <a:bodyPr wrap="square" lIns="0" rIns="0" tIns="0" bIns="0" anchor="ctr">
            <a:spAutoFit/>
          </a:bodyPr>
          <a:lstStyle/>
          <a:p>
            <a:pPr algn="ctr"/>
            <a:r>
              <a:rPr sz="900" b="0" i="0" u="none">
                <a:solidFill>
                  <a:srgbClr val="141E27"/>
                </a:solidFill>
                <a:latin typeface="Menlo"/>
              </a:rPr>
              <a:t>15/20</a:t>
            </a:r>
          </a:p>
        </p:txBody>
      </p:sp>
      <p:sp>
        <p:nvSpPr>
          <p:cNvPr id="63" name="TextBox 62"/>
          <p:cNvSpPr txBox="1"/>
          <p:nvPr/>
        </p:nvSpPr>
        <p:spPr>
          <a:xfrm>
            <a:off x="10405872" y="2313431"/>
            <a:ext cx="1280160" cy="201168"/>
          </a:xfrm>
          <a:prstGeom prst="rect">
            <a:avLst/>
          </a:prstGeom>
          <a:noFill/>
        </p:spPr>
        <p:txBody>
          <a:bodyPr wrap="square" lIns="0" rIns="0" tIns="0" bIns="0" anchor="ctr">
            <a:spAutoFit/>
          </a:bodyPr>
          <a:lstStyle/>
          <a:p>
            <a:pPr algn="ctr"/>
            <a:r>
              <a:rPr sz="900" b="0" i="0" u="none">
                <a:solidFill>
                  <a:srgbClr val="141E27"/>
                </a:solidFill>
                <a:latin typeface="Menlo"/>
              </a:rPr>
              <a:t>21,719</a:t>
            </a:r>
          </a:p>
        </p:txBody>
      </p:sp>
      <p:sp>
        <p:nvSpPr>
          <p:cNvPr id="64" name="TextBox 63"/>
          <p:cNvSpPr txBox="1"/>
          <p:nvPr/>
        </p:nvSpPr>
        <p:spPr>
          <a:xfrm>
            <a:off x="438912" y="2560319"/>
            <a:ext cx="1115568" cy="201168"/>
          </a:xfrm>
          <a:prstGeom prst="rect">
            <a:avLst/>
          </a:prstGeom>
          <a:noFill/>
        </p:spPr>
        <p:txBody>
          <a:bodyPr wrap="square" lIns="0" rIns="0" tIns="0" bIns="0" anchor="ctr">
            <a:spAutoFit/>
          </a:bodyPr>
          <a:lstStyle/>
          <a:p>
            <a:pPr algn="l"/>
            <a:r>
              <a:rPr sz="1000" b="1" i="0" u="none">
                <a:solidFill>
                  <a:srgbClr val="141E27"/>
                </a:solidFill>
                <a:latin typeface="Helvetica Neue"/>
              </a:rPr>
              <a:t>E3  M1+M4</a:t>
            </a:r>
          </a:p>
        </p:txBody>
      </p:sp>
      <p:sp>
        <p:nvSpPr>
          <p:cNvPr id="65" name="TextBox 64"/>
          <p:cNvSpPr txBox="1"/>
          <p:nvPr/>
        </p:nvSpPr>
        <p:spPr>
          <a:xfrm>
            <a:off x="1554480" y="2560319"/>
            <a:ext cx="1097280" cy="201168"/>
          </a:xfrm>
          <a:prstGeom prst="rect">
            <a:avLst/>
          </a:prstGeom>
          <a:noFill/>
        </p:spPr>
        <p:txBody>
          <a:bodyPr wrap="square" lIns="0" rIns="0" tIns="0" bIns="0" anchor="ctr">
            <a:spAutoFit/>
          </a:bodyPr>
          <a:lstStyle/>
          <a:p>
            <a:pPr algn="ctr"/>
            <a:r>
              <a:rPr sz="900" b="1" i="0" u="none">
                <a:solidFill>
                  <a:srgbClr val="141E27"/>
                </a:solidFill>
                <a:latin typeface="Menlo"/>
              </a:rPr>
              <a:t>0.683</a:t>
            </a:r>
          </a:p>
        </p:txBody>
      </p:sp>
      <p:sp>
        <p:nvSpPr>
          <p:cNvPr id="66" name="TextBox 65"/>
          <p:cNvSpPr txBox="1"/>
          <p:nvPr/>
        </p:nvSpPr>
        <p:spPr>
          <a:xfrm>
            <a:off x="2651760" y="2560319"/>
            <a:ext cx="1097280" cy="201168"/>
          </a:xfrm>
          <a:prstGeom prst="rect">
            <a:avLst/>
          </a:prstGeom>
          <a:noFill/>
        </p:spPr>
        <p:txBody>
          <a:bodyPr wrap="square" lIns="0" rIns="0" tIns="0" bIns="0" anchor="ctr">
            <a:spAutoFit/>
          </a:bodyPr>
          <a:lstStyle/>
          <a:p>
            <a:pPr algn="ctr"/>
            <a:r>
              <a:rPr sz="900" b="0" i="0" u="sng">
                <a:solidFill>
                  <a:srgbClr val="141E27"/>
                </a:solidFill>
                <a:latin typeface="Menlo"/>
              </a:rPr>
              <a:t>0.052</a:t>
            </a:r>
          </a:p>
        </p:txBody>
      </p:sp>
      <p:sp>
        <p:nvSpPr>
          <p:cNvPr id="67" name="TextBox 66"/>
          <p:cNvSpPr txBox="1"/>
          <p:nvPr/>
        </p:nvSpPr>
        <p:spPr>
          <a:xfrm>
            <a:off x="3749039" y="2560319"/>
            <a:ext cx="1097280" cy="201168"/>
          </a:xfrm>
          <a:prstGeom prst="rect">
            <a:avLst/>
          </a:prstGeom>
          <a:noFill/>
        </p:spPr>
        <p:txBody>
          <a:bodyPr wrap="square" lIns="0" rIns="0" tIns="0" bIns="0" anchor="ctr">
            <a:spAutoFit/>
          </a:bodyPr>
          <a:lstStyle/>
          <a:p>
            <a:pPr algn="ctr"/>
            <a:r>
              <a:rPr sz="900" b="0" i="0" u="sng">
                <a:solidFill>
                  <a:srgbClr val="141E27"/>
                </a:solidFill>
                <a:latin typeface="Menlo"/>
              </a:rPr>
              <a:t>0.192</a:t>
            </a:r>
          </a:p>
        </p:txBody>
      </p:sp>
      <p:sp>
        <p:nvSpPr>
          <p:cNvPr id="68" name="TextBox 67"/>
          <p:cNvSpPr txBox="1"/>
          <p:nvPr/>
        </p:nvSpPr>
        <p:spPr>
          <a:xfrm>
            <a:off x="4846320" y="2560319"/>
            <a:ext cx="1097280" cy="201168"/>
          </a:xfrm>
          <a:prstGeom prst="rect">
            <a:avLst/>
          </a:prstGeom>
          <a:noFill/>
        </p:spPr>
        <p:txBody>
          <a:bodyPr wrap="square" lIns="0" rIns="0" tIns="0" bIns="0" anchor="ctr">
            <a:spAutoFit/>
          </a:bodyPr>
          <a:lstStyle/>
          <a:p>
            <a:pPr algn="ctr"/>
            <a:r>
              <a:rPr sz="900" b="1" i="0" u="none">
                <a:solidFill>
                  <a:srgbClr val="141E27"/>
                </a:solidFill>
                <a:latin typeface="Menlo"/>
              </a:rPr>
              <a:t>0.152</a:t>
            </a:r>
          </a:p>
        </p:txBody>
      </p:sp>
      <p:sp>
        <p:nvSpPr>
          <p:cNvPr id="69" name="TextBox 68"/>
          <p:cNvSpPr txBox="1"/>
          <p:nvPr/>
        </p:nvSpPr>
        <p:spPr>
          <a:xfrm>
            <a:off x="5943600" y="2560319"/>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0.448</a:t>
            </a:r>
          </a:p>
        </p:txBody>
      </p:sp>
      <p:sp>
        <p:nvSpPr>
          <p:cNvPr id="70" name="TextBox 69"/>
          <p:cNvSpPr txBox="1"/>
          <p:nvPr/>
        </p:nvSpPr>
        <p:spPr>
          <a:xfrm>
            <a:off x="7040880" y="2560319"/>
            <a:ext cx="1170432" cy="201168"/>
          </a:xfrm>
          <a:prstGeom prst="rect">
            <a:avLst/>
          </a:prstGeom>
          <a:noFill/>
        </p:spPr>
        <p:txBody>
          <a:bodyPr wrap="square" lIns="0" rIns="0" tIns="0" bIns="0" anchor="ctr">
            <a:spAutoFit/>
          </a:bodyPr>
          <a:lstStyle/>
          <a:p>
            <a:pPr algn="ctr"/>
            <a:r>
              <a:rPr sz="900" b="0" i="0" u="none">
                <a:solidFill>
                  <a:srgbClr val="141E27"/>
                </a:solidFill>
                <a:latin typeface="Menlo"/>
              </a:rPr>
              <a:t>0.711</a:t>
            </a:r>
          </a:p>
        </p:txBody>
      </p:sp>
      <p:sp>
        <p:nvSpPr>
          <p:cNvPr id="71" name="TextBox 70"/>
          <p:cNvSpPr txBox="1"/>
          <p:nvPr/>
        </p:nvSpPr>
        <p:spPr>
          <a:xfrm>
            <a:off x="8211312" y="2560319"/>
            <a:ext cx="1060704" cy="201168"/>
          </a:xfrm>
          <a:prstGeom prst="rect">
            <a:avLst/>
          </a:prstGeom>
          <a:noFill/>
        </p:spPr>
        <p:txBody>
          <a:bodyPr wrap="square" lIns="0" rIns="0" tIns="0" bIns="0" anchor="ctr">
            <a:spAutoFit/>
          </a:bodyPr>
          <a:lstStyle/>
          <a:p>
            <a:pPr algn="ctr"/>
            <a:r>
              <a:rPr sz="900" b="0" i="0" u="none">
                <a:solidFill>
                  <a:srgbClr val="141E27"/>
                </a:solidFill>
                <a:latin typeface="Menlo"/>
              </a:rPr>
              <a:t>23</a:t>
            </a:r>
          </a:p>
        </p:txBody>
      </p:sp>
      <p:sp>
        <p:nvSpPr>
          <p:cNvPr id="72" name="TextBox 71"/>
          <p:cNvSpPr txBox="1"/>
          <p:nvPr/>
        </p:nvSpPr>
        <p:spPr>
          <a:xfrm>
            <a:off x="9272016" y="2560319"/>
            <a:ext cx="1133856" cy="201168"/>
          </a:xfrm>
          <a:prstGeom prst="rect">
            <a:avLst/>
          </a:prstGeom>
          <a:noFill/>
        </p:spPr>
        <p:txBody>
          <a:bodyPr wrap="square" lIns="0" rIns="0" tIns="0" bIns="0" anchor="ctr">
            <a:spAutoFit/>
          </a:bodyPr>
          <a:lstStyle/>
          <a:p>
            <a:pPr algn="ctr"/>
            <a:r>
              <a:rPr sz="900" b="0" i="0" u="none">
                <a:solidFill>
                  <a:srgbClr val="141E27"/>
                </a:solidFill>
                <a:latin typeface="Menlo"/>
              </a:rPr>
              <a:t>15/20</a:t>
            </a:r>
          </a:p>
        </p:txBody>
      </p:sp>
      <p:sp>
        <p:nvSpPr>
          <p:cNvPr id="73" name="TextBox 72"/>
          <p:cNvSpPr txBox="1"/>
          <p:nvPr/>
        </p:nvSpPr>
        <p:spPr>
          <a:xfrm>
            <a:off x="10405872" y="2560319"/>
            <a:ext cx="1280160" cy="201168"/>
          </a:xfrm>
          <a:prstGeom prst="rect">
            <a:avLst/>
          </a:prstGeom>
          <a:noFill/>
        </p:spPr>
        <p:txBody>
          <a:bodyPr wrap="square" lIns="0" rIns="0" tIns="0" bIns="0" anchor="ctr">
            <a:spAutoFit/>
          </a:bodyPr>
          <a:lstStyle/>
          <a:p>
            <a:pPr algn="ctr"/>
            <a:r>
              <a:rPr sz="900" b="0" i="0" u="sng">
                <a:solidFill>
                  <a:srgbClr val="141E27"/>
                </a:solidFill>
                <a:latin typeface="Menlo"/>
              </a:rPr>
              <a:t>18,425</a:t>
            </a:r>
          </a:p>
        </p:txBody>
      </p:sp>
      <p:sp>
        <p:nvSpPr>
          <p:cNvPr id="74" name="TextBox 73"/>
          <p:cNvSpPr txBox="1"/>
          <p:nvPr/>
        </p:nvSpPr>
        <p:spPr>
          <a:xfrm>
            <a:off x="438912" y="2807207"/>
            <a:ext cx="1115568" cy="201168"/>
          </a:xfrm>
          <a:prstGeom prst="rect">
            <a:avLst/>
          </a:prstGeom>
          <a:noFill/>
        </p:spPr>
        <p:txBody>
          <a:bodyPr wrap="square" lIns="0" rIns="0" tIns="0" bIns="0" anchor="ctr">
            <a:spAutoFit/>
          </a:bodyPr>
          <a:lstStyle/>
          <a:p>
            <a:pPr algn="l"/>
            <a:r>
              <a:rPr sz="1000" b="1" i="0" u="none">
                <a:solidFill>
                  <a:srgbClr val="141E27"/>
                </a:solidFill>
                <a:latin typeface="Helvetica Neue"/>
              </a:rPr>
              <a:t>E4  all three</a:t>
            </a:r>
          </a:p>
        </p:txBody>
      </p:sp>
      <p:sp>
        <p:nvSpPr>
          <p:cNvPr id="75" name="TextBox 74"/>
          <p:cNvSpPr txBox="1"/>
          <p:nvPr/>
        </p:nvSpPr>
        <p:spPr>
          <a:xfrm>
            <a:off x="1554480" y="2807207"/>
            <a:ext cx="1097280" cy="201168"/>
          </a:xfrm>
          <a:prstGeom prst="rect">
            <a:avLst/>
          </a:prstGeom>
          <a:noFill/>
        </p:spPr>
        <p:txBody>
          <a:bodyPr wrap="square" lIns="0" rIns="0" tIns="0" bIns="0" anchor="ctr">
            <a:spAutoFit/>
          </a:bodyPr>
          <a:lstStyle/>
          <a:p>
            <a:pPr algn="ctr"/>
            <a:r>
              <a:rPr sz="900" b="0" i="0" u="sng">
                <a:solidFill>
                  <a:srgbClr val="141E27"/>
                </a:solidFill>
                <a:latin typeface="Menlo"/>
              </a:rPr>
              <a:t>0.678</a:t>
            </a:r>
          </a:p>
        </p:txBody>
      </p:sp>
      <p:sp>
        <p:nvSpPr>
          <p:cNvPr id="76" name="TextBox 75"/>
          <p:cNvSpPr txBox="1"/>
          <p:nvPr/>
        </p:nvSpPr>
        <p:spPr>
          <a:xfrm>
            <a:off x="2651760" y="2807207"/>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0.092</a:t>
            </a:r>
          </a:p>
        </p:txBody>
      </p:sp>
      <p:sp>
        <p:nvSpPr>
          <p:cNvPr id="77" name="TextBox 76"/>
          <p:cNvSpPr txBox="1"/>
          <p:nvPr/>
        </p:nvSpPr>
        <p:spPr>
          <a:xfrm>
            <a:off x="3749039" y="2807207"/>
            <a:ext cx="1097280" cy="201168"/>
          </a:xfrm>
          <a:prstGeom prst="rect">
            <a:avLst/>
          </a:prstGeom>
          <a:noFill/>
        </p:spPr>
        <p:txBody>
          <a:bodyPr wrap="square" lIns="0" rIns="0" tIns="0" bIns="0" anchor="ctr">
            <a:spAutoFit/>
          </a:bodyPr>
          <a:lstStyle/>
          <a:p>
            <a:pPr algn="ctr"/>
            <a:r>
              <a:rPr sz="900" b="1" i="0" u="none">
                <a:solidFill>
                  <a:srgbClr val="141E27"/>
                </a:solidFill>
                <a:latin typeface="Menlo"/>
              </a:rPr>
              <a:t>0.163</a:t>
            </a:r>
          </a:p>
        </p:txBody>
      </p:sp>
      <p:sp>
        <p:nvSpPr>
          <p:cNvPr id="78" name="TextBox 77"/>
          <p:cNvSpPr txBox="1"/>
          <p:nvPr/>
        </p:nvSpPr>
        <p:spPr>
          <a:xfrm>
            <a:off x="4846320" y="2807207"/>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0.192</a:t>
            </a:r>
          </a:p>
        </p:txBody>
      </p:sp>
      <p:sp>
        <p:nvSpPr>
          <p:cNvPr id="79" name="TextBox 78"/>
          <p:cNvSpPr txBox="1"/>
          <p:nvPr/>
        </p:nvSpPr>
        <p:spPr>
          <a:xfrm>
            <a:off x="5943600" y="2807207"/>
            <a:ext cx="1097280" cy="201168"/>
          </a:xfrm>
          <a:prstGeom prst="rect">
            <a:avLst/>
          </a:prstGeom>
          <a:noFill/>
        </p:spPr>
        <p:txBody>
          <a:bodyPr wrap="square" lIns="0" rIns="0" tIns="0" bIns="0" anchor="ctr">
            <a:spAutoFit/>
          </a:bodyPr>
          <a:lstStyle/>
          <a:p>
            <a:pPr algn="ctr"/>
            <a:r>
              <a:rPr sz="900" b="0" i="0" u="none">
                <a:solidFill>
                  <a:srgbClr val="141E27"/>
                </a:solidFill>
                <a:latin typeface="Menlo"/>
              </a:rPr>
              <a:t>0.392</a:t>
            </a:r>
          </a:p>
        </p:txBody>
      </p:sp>
      <p:sp>
        <p:nvSpPr>
          <p:cNvPr id="80" name="TextBox 79"/>
          <p:cNvSpPr txBox="1"/>
          <p:nvPr/>
        </p:nvSpPr>
        <p:spPr>
          <a:xfrm>
            <a:off x="7040880" y="2807207"/>
            <a:ext cx="1170432" cy="201168"/>
          </a:xfrm>
          <a:prstGeom prst="rect">
            <a:avLst/>
          </a:prstGeom>
          <a:noFill/>
        </p:spPr>
        <p:txBody>
          <a:bodyPr wrap="square" lIns="0" rIns="0" tIns="0" bIns="0" anchor="ctr">
            <a:spAutoFit/>
          </a:bodyPr>
          <a:lstStyle/>
          <a:p>
            <a:pPr algn="ctr"/>
            <a:r>
              <a:rPr sz="900" b="0" i="0" u="sng">
                <a:solidFill>
                  <a:srgbClr val="141E27"/>
                </a:solidFill>
                <a:latin typeface="Menlo"/>
              </a:rPr>
              <a:t>0.725</a:t>
            </a:r>
          </a:p>
        </p:txBody>
      </p:sp>
      <p:sp>
        <p:nvSpPr>
          <p:cNvPr id="81" name="TextBox 80"/>
          <p:cNvSpPr txBox="1"/>
          <p:nvPr/>
        </p:nvSpPr>
        <p:spPr>
          <a:xfrm>
            <a:off x="8211312" y="2807207"/>
            <a:ext cx="1060704" cy="201168"/>
          </a:xfrm>
          <a:prstGeom prst="rect">
            <a:avLst/>
          </a:prstGeom>
          <a:noFill/>
        </p:spPr>
        <p:txBody>
          <a:bodyPr wrap="square" lIns="0" rIns="0" tIns="0" bIns="0" anchor="ctr">
            <a:spAutoFit/>
          </a:bodyPr>
          <a:lstStyle/>
          <a:p>
            <a:pPr algn="ctr"/>
            <a:r>
              <a:rPr sz="900" b="0" i="0" u="none">
                <a:solidFill>
                  <a:srgbClr val="141E27"/>
                </a:solidFill>
                <a:latin typeface="Menlo"/>
              </a:rPr>
              <a:t>26</a:t>
            </a:r>
          </a:p>
        </p:txBody>
      </p:sp>
      <p:sp>
        <p:nvSpPr>
          <p:cNvPr id="82" name="TextBox 81"/>
          <p:cNvSpPr txBox="1"/>
          <p:nvPr/>
        </p:nvSpPr>
        <p:spPr>
          <a:xfrm>
            <a:off x="9272016" y="2807207"/>
            <a:ext cx="1133856" cy="201168"/>
          </a:xfrm>
          <a:prstGeom prst="rect">
            <a:avLst/>
          </a:prstGeom>
          <a:noFill/>
        </p:spPr>
        <p:txBody>
          <a:bodyPr wrap="square" lIns="0" rIns="0" tIns="0" bIns="0" anchor="ctr">
            <a:spAutoFit/>
          </a:bodyPr>
          <a:lstStyle/>
          <a:p>
            <a:pPr algn="ctr"/>
            <a:r>
              <a:rPr sz="900" b="0" i="0" u="sng">
                <a:solidFill>
                  <a:srgbClr val="141E27"/>
                </a:solidFill>
                <a:latin typeface="Menlo"/>
              </a:rPr>
              <a:t>16/20</a:t>
            </a:r>
          </a:p>
        </p:txBody>
      </p:sp>
      <p:sp>
        <p:nvSpPr>
          <p:cNvPr id="83" name="TextBox 82"/>
          <p:cNvSpPr txBox="1"/>
          <p:nvPr/>
        </p:nvSpPr>
        <p:spPr>
          <a:xfrm>
            <a:off x="10405872" y="2807207"/>
            <a:ext cx="1280160" cy="201168"/>
          </a:xfrm>
          <a:prstGeom prst="rect">
            <a:avLst/>
          </a:prstGeom>
          <a:noFill/>
        </p:spPr>
        <p:txBody>
          <a:bodyPr wrap="square" lIns="0" rIns="0" tIns="0" bIns="0" anchor="ctr">
            <a:spAutoFit/>
          </a:bodyPr>
          <a:lstStyle/>
          <a:p>
            <a:pPr algn="ctr"/>
            <a:r>
              <a:rPr sz="900" b="0" i="0" u="none">
                <a:solidFill>
                  <a:srgbClr val="141E27"/>
                </a:solidFill>
                <a:latin typeface="Menlo"/>
              </a:rPr>
              <a:t>21,159</a:t>
            </a:r>
          </a:p>
        </p:txBody>
      </p:sp>
      <p:cxnSp>
        <p:nvCxnSpPr>
          <p:cNvPr id="84" name="Connector 83"/>
          <p:cNvCxnSpPr/>
          <p:nvPr/>
        </p:nvCxnSpPr>
        <p:spPr>
          <a:xfrm>
            <a:off x="438912" y="3044951"/>
            <a:ext cx="11247120"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438912" y="3136391"/>
            <a:ext cx="11338560" cy="164592"/>
          </a:xfrm>
          <a:prstGeom prst="rect">
            <a:avLst/>
          </a:prstGeom>
          <a:noFill/>
        </p:spPr>
        <p:txBody>
          <a:bodyPr wrap="square" lIns="0" rIns="0" tIns="0" bIns="0" anchor="ctr">
            <a:spAutoFit/>
          </a:bodyPr>
          <a:lstStyle/>
          <a:p>
            <a:pPr algn="l"/>
            <a:r>
              <a:rPr sz="850" b="0" i="1" u="none">
                <a:solidFill>
                  <a:srgbClr val="7E8D9B"/>
                </a:solidFill>
                <a:latin typeface="Helvetica Neue"/>
              </a:rPr>
              <a:t>Bold is the best value in a column, underline the second best. P1 + P4 + P5 is that benchmark's error rate. HaluMem P4 and P5 for E3 and E4 are the corrected figures.</a:t>
            </a:r>
          </a:p>
        </p:txBody>
      </p:sp>
      <p:sp>
        <p:nvSpPr>
          <p:cNvPr id="86" name="TextBox 85"/>
          <p:cNvSpPr txBox="1"/>
          <p:nvPr/>
        </p:nvSpPr>
        <p:spPr>
          <a:xfrm>
            <a:off x="438912" y="3447287"/>
            <a:ext cx="5394960" cy="182880"/>
          </a:xfrm>
          <a:prstGeom prst="rect">
            <a:avLst/>
          </a:prstGeom>
          <a:noFill/>
        </p:spPr>
        <p:txBody>
          <a:bodyPr wrap="square" lIns="0" rIns="0" tIns="0" bIns="0" anchor="ctr">
            <a:spAutoFit/>
          </a:bodyPr>
          <a:lstStyle/>
          <a:p>
            <a:pPr algn="l"/>
            <a:r>
              <a:rPr sz="1050" b="1" i="0" u="none">
                <a:solidFill>
                  <a:srgbClr val="141E27"/>
                </a:solidFill>
                <a:latin typeface="Helvetica Neue"/>
              </a:rPr>
              <a:t>Table 2.  The evidence packet, coexistence questions  (5 questions, 20 items)</a:t>
            </a:r>
          </a:p>
        </p:txBody>
      </p:sp>
      <p:cxnSp>
        <p:nvCxnSpPr>
          <p:cNvPr id="87" name="Connector 86"/>
          <p:cNvCxnSpPr/>
          <p:nvPr/>
        </p:nvCxnSpPr>
        <p:spPr>
          <a:xfrm>
            <a:off x="438912" y="3666743"/>
            <a:ext cx="5376671"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38912" y="3712463"/>
            <a:ext cx="1060704" cy="164592"/>
          </a:xfrm>
          <a:prstGeom prst="rect">
            <a:avLst/>
          </a:prstGeom>
          <a:noFill/>
        </p:spPr>
        <p:txBody>
          <a:bodyPr wrap="square" lIns="0" rIns="0" tIns="0" bIns="0" anchor="ctr">
            <a:spAutoFit/>
          </a:bodyPr>
          <a:lstStyle/>
          <a:p>
            <a:pPr algn="l"/>
            <a:r>
              <a:rPr sz="800" b="1" i="0" u="none">
                <a:solidFill>
                  <a:srgbClr val="7E8D9B"/>
                </a:solidFill>
                <a:latin typeface="Helvetica Neue"/>
              </a:rPr>
              <a:t/>
            </a:r>
          </a:p>
        </p:txBody>
      </p:sp>
      <p:sp>
        <p:nvSpPr>
          <p:cNvPr id="89" name="TextBox 88"/>
          <p:cNvSpPr txBox="1"/>
          <p:nvPr/>
        </p:nvSpPr>
        <p:spPr>
          <a:xfrm>
            <a:off x="438912" y="3877055"/>
            <a:ext cx="1060704" cy="164592"/>
          </a:xfrm>
          <a:prstGeom prst="rect">
            <a:avLst/>
          </a:prstGeom>
          <a:noFill/>
        </p:spPr>
        <p:txBody>
          <a:bodyPr wrap="square" lIns="0" rIns="0" tIns="0" bIns="0" anchor="ctr">
            <a:spAutoFit/>
          </a:bodyPr>
          <a:lstStyle/>
          <a:p>
            <a:pPr algn="l"/>
            <a:r>
              <a:rPr sz="900" b="1" i="0" u="none">
                <a:solidFill>
                  <a:srgbClr val="4C5C6B"/>
                </a:solidFill>
                <a:latin typeface="Helvetica Neue"/>
              </a:rPr>
              <a:t/>
            </a:r>
          </a:p>
        </p:txBody>
      </p:sp>
      <p:sp>
        <p:nvSpPr>
          <p:cNvPr id="90" name="TextBox 89"/>
          <p:cNvSpPr txBox="1"/>
          <p:nvPr/>
        </p:nvSpPr>
        <p:spPr>
          <a:xfrm>
            <a:off x="1499616" y="3712463"/>
            <a:ext cx="841248" cy="164592"/>
          </a:xfrm>
          <a:prstGeom prst="rect">
            <a:avLst/>
          </a:prstGeom>
          <a:noFill/>
        </p:spPr>
        <p:txBody>
          <a:bodyPr wrap="square" lIns="0" rIns="0" tIns="0" bIns="0" anchor="ctr">
            <a:spAutoFit/>
          </a:bodyPr>
          <a:lstStyle/>
          <a:p>
            <a:pPr algn="ctr"/>
            <a:r>
              <a:rPr sz="800" b="1" i="0" u="none">
                <a:solidFill>
                  <a:srgbClr val="7E8D9B"/>
                </a:solidFill>
                <a:latin typeface="Helvetica Neue"/>
              </a:rPr>
              <a:t>Summary</a:t>
            </a:r>
          </a:p>
        </p:txBody>
      </p:sp>
      <p:sp>
        <p:nvSpPr>
          <p:cNvPr id="91" name="TextBox 90"/>
          <p:cNvSpPr txBox="1"/>
          <p:nvPr/>
        </p:nvSpPr>
        <p:spPr>
          <a:xfrm>
            <a:off x="1499616" y="3877055"/>
            <a:ext cx="841248" cy="164592"/>
          </a:xfrm>
          <a:prstGeom prst="rect">
            <a:avLst/>
          </a:prstGeom>
          <a:noFill/>
        </p:spPr>
        <p:txBody>
          <a:bodyPr wrap="square" lIns="0" rIns="0" tIns="0" bIns="0" anchor="ctr">
            <a:spAutoFit/>
          </a:bodyPr>
          <a:lstStyle/>
          <a:p>
            <a:pPr algn="ctr"/>
            <a:r>
              <a:rPr sz="900" b="1" i="0" u="none">
                <a:solidFill>
                  <a:srgbClr val="4C5C6B"/>
                </a:solidFill>
                <a:latin typeface="Helvetica Neue"/>
              </a:rPr>
              <a:t>blocks</a:t>
            </a:r>
          </a:p>
        </p:txBody>
      </p:sp>
      <p:sp>
        <p:nvSpPr>
          <p:cNvPr id="92" name="TextBox 91"/>
          <p:cNvSpPr txBox="1"/>
          <p:nvPr/>
        </p:nvSpPr>
        <p:spPr>
          <a:xfrm>
            <a:off x="2340864" y="3712463"/>
            <a:ext cx="841248" cy="164592"/>
          </a:xfrm>
          <a:prstGeom prst="rect">
            <a:avLst/>
          </a:prstGeom>
          <a:noFill/>
        </p:spPr>
        <p:txBody>
          <a:bodyPr wrap="square" lIns="0" rIns="0" tIns="0" bIns="0" anchor="ctr">
            <a:spAutoFit/>
          </a:bodyPr>
          <a:lstStyle/>
          <a:p>
            <a:pPr algn="ctr"/>
            <a:r>
              <a:rPr sz="800" b="1" i="0" u="none">
                <a:solidFill>
                  <a:srgbClr val="7E8D9B"/>
                </a:solidFill>
                <a:latin typeface="Helvetica Neue"/>
              </a:rPr>
              <a:t>Atomic</a:t>
            </a:r>
          </a:p>
        </p:txBody>
      </p:sp>
      <p:sp>
        <p:nvSpPr>
          <p:cNvPr id="93" name="TextBox 92"/>
          <p:cNvSpPr txBox="1"/>
          <p:nvPr/>
        </p:nvSpPr>
        <p:spPr>
          <a:xfrm>
            <a:off x="2340864" y="3877055"/>
            <a:ext cx="841248" cy="164592"/>
          </a:xfrm>
          <a:prstGeom prst="rect">
            <a:avLst/>
          </a:prstGeom>
          <a:noFill/>
        </p:spPr>
        <p:txBody>
          <a:bodyPr wrap="square" lIns="0" rIns="0" tIns="0" bIns="0" anchor="ctr">
            <a:spAutoFit/>
          </a:bodyPr>
          <a:lstStyle/>
          <a:p>
            <a:pPr algn="ctr"/>
            <a:r>
              <a:rPr sz="900" b="1" i="0" u="none">
                <a:solidFill>
                  <a:srgbClr val="4C5C6B"/>
                </a:solidFill>
                <a:latin typeface="Helvetica Neue"/>
              </a:rPr>
              <a:t>entries</a:t>
            </a:r>
          </a:p>
        </p:txBody>
      </p:sp>
      <p:sp>
        <p:nvSpPr>
          <p:cNvPr id="94" name="TextBox 93"/>
          <p:cNvSpPr txBox="1"/>
          <p:nvPr/>
        </p:nvSpPr>
        <p:spPr>
          <a:xfrm>
            <a:off x="3182112" y="3712463"/>
            <a:ext cx="896112" cy="164592"/>
          </a:xfrm>
          <a:prstGeom prst="rect">
            <a:avLst/>
          </a:prstGeom>
          <a:noFill/>
        </p:spPr>
        <p:txBody>
          <a:bodyPr wrap="square" lIns="0" rIns="0" tIns="0" bIns="0" anchor="ctr">
            <a:spAutoFit/>
          </a:bodyPr>
          <a:lstStyle/>
          <a:p>
            <a:pPr algn="ctr"/>
            <a:r>
              <a:rPr sz="800" b="1" i="0" u="none">
                <a:solidFill>
                  <a:srgbClr val="7E8D9B"/>
                </a:solidFill>
                <a:latin typeface="Helvetica Neue"/>
              </a:rPr>
              <a:t>Atomic</a:t>
            </a:r>
          </a:p>
        </p:txBody>
      </p:sp>
      <p:sp>
        <p:nvSpPr>
          <p:cNvPr id="95" name="TextBox 94"/>
          <p:cNvSpPr txBox="1"/>
          <p:nvPr/>
        </p:nvSpPr>
        <p:spPr>
          <a:xfrm>
            <a:off x="3182112" y="3877055"/>
            <a:ext cx="896112" cy="164592"/>
          </a:xfrm>
          <a:prstGeom prst="rect">
            <a:avLst/>
          </a:prstGeom>
          <a:noFill/>
        </p:spPr>
        <p:txBody>
          <a:bodyPr wrap="square" lIns="0" rIns="0" tIns="0" bIns="0" anchor="ctr">
            <a:spAutoFit/>
          </a:bodyPr>
          <a:lstStyle/>
          <a:p>
            <a:pPr algn="ctr"/>
            <a:r>
              <a:rPr sz="900" b="1" i="0" u="none">
                <a:solidFill>
                  <a:srgbClr val="4C5C6B"/>
                </a:solidFill>
                <a:latin typeface="Helvetica Neue"/>
              </a:rPr>
              <a:t>cover ↑</a:t>
            </a:r>
          </a:p>
        </p:txBody>
      </p:sp>
      <p:sp>
        <p:nvSpPr>
          <p:cNvPr id="96" name="TextBox 95"/>
          <p:cNvSpPr txBox="1"/>
          <p:nvPr/>
        </p:nvSpPr>
        <p:spPr>
          <a:xfrm>
            <a:off x="4078224" y="3712463"/>
            <a:ext cx="841248" cy="164592"/>
          </a:xfrm>
          <a:prstGeom prst="rect">
            <a:avLst/>
          </a:prstGeom>
          <a:noFill/>
        </p:spPr>
        <p:txBody>
          <a:bodyPr wrap="square" lIns="0" rIns="0" tIns="0" bIns="0" anchor="ctr">
            <a:spAutoFit/>
          </a:bodyPr>
          <a:lstStyle/>
          <a:p>
            <a:pPr algn="ctr"/>
            <a:r>
              <a:rPr sz="800" b="1" i="0" u="none">
                <a:solidFill>
                  <a:srgbClr val="7E8D9B"/>
                </a:solidFill>
                <a:latin typeface="Helvetica Neue"/>
              </a:rPr>
              <a:t>Summary</a:t>
            </a:r>
          </a:p>
        </p:txBody>
      </p:sp>
      <p:sp>
        <p:nvSpPr>
          <p:cNvPr id="97" name="TextBox 96"/>
          <p:cNvSpPr txBox="1"/>
          <p:nvPr/>
        </p:nvSpPr>
        <p:spPr>
          <a:xfrm>
            <a:off x="4078224" y="3877055"/>
            <a:ext cx="841248" cy="164592"/>
          </a:xfrm>
          <a:prstGeom prst="rect">
            <a:avLst/>
          </a:prstGeom>
          <a:noFill/>
        </p:spPr>
        <p:txBody>
          <a:bodyPr wrap="square" lIns="0" rIns="0" tIns="0" bIns="0" anchor="ctr">
            <a:spAutoFit/>
          </a:bodyPr>
          <a:lstStyle/>
          <a:p>
            <a:pPr algn="ctr"/>
            <a:r>
              <a:rPr sz="900" b="1" i="0" u="none">
                <a:solidFill>
                  <a:srgbClr val="4C5C6B"/>
                </a:solidFill>
                <a:latin typeface="Helvetica Neue"/>
              </a:rPr>
              <a:t>only ↓</a:t>
            </a:r>
          </a:p>
        </p:txBody>
      </p:sp>
      <p:sp>
        <p:nvSpPr>
          <p:cNvPr id="98" name="TextBox 97"/>
          <p:cNvSpPr txBox="1"/>
          <p:nvPr/>
        </p:nvSpPr>
        <p:spPr>
          <a:xfrm>
            <a:off x="4919472" y="3712463"/>
            <a:ext cx="896112" cy="164592"/>
          </a:xfrm>
          <a:prstGeom prst="rect">
            <a:avLst/>
          </a:prstGeom>
          <a:noFill/>
        </p:spPr>
        <p:txBody>
          <a:bodyPr wrap="square" lIns="0" rIns="0" tIns="0" bIns="0" anchor="ctr">
            <a:spAutoFit/>
          </a:bodyPr>
          <a:lstStyle/>
          <a:p>
            <a:pPr algn="ctr"/>
            <a:r>
              <a:rPr sz="800" b="1" i="0" u="none">
                <a:solidFill>
                  <a:srgbClr val="7E8D9B"/>
                </a:solidFill>
                <a:latin typeface="Helvetica Neue"/>
              </a:rPr>
              <a:t>Reader</a:t>
            </a:r>
          </a:p>
        </p:txBody>
      </p:sp>
      <p:sp>
        <p:nvSpPr>
          <p:cNvPr id="99" name="TextBox 98"/>
          <p:cNvSpPr txBox="1"/>
          <p:nvPr/>
        </p:nvSpPr>
        <p:spPr>
          <a:xfrm>
            <a:off x="4919472" y="3877055"/>
            <a:ext cx="896112" cy="164592"/>
          </a:xfrm>
          <a:prstGeom prst="rect">
            <a:avLst/>
          </a:prstGeom>
          <a:noFill/>
        </p:spPr>
        <p:txBody>
          <a:bodyPr wrap="square" lIns="0" rIns="0" tIns="0" bIns="0" anchor="ctr">
            <a:spAutoFit/>
          </a:bodyPr>
          <a:lstStyle/>
          <a:p>
            <a:pPr algn="ctr"/>
            <a:r>
              <a:rPr sz="900" b="1" i="0" u="none">
                <a:solidFill>
                  <a:srgbClr val="4C5C6B"/>
                </a:solidFill>
                <a:latin typeface="Helvetica Neue"/>
              </a:rPr>
              <a:t>listed ↑</a:t>
            </a:r>
          </a:p>
        </p:txBody>
      </p:sp>
      <p:cxnSp>
        <p:nvCxnSpPr>
          <p:cNvPr id="100" name="Connector 99"/>
          <p:cNvCxnSpPr/>
          <p:nvPr/>
        </p:nvCxnSpPr>
        <p:spPr>
          <a:xfrm>
            <a:off x="438912" y="4069079"/>
            <a:ext cx="5376671" cy="0"/>
          </a:xfrm>
          <a:prstGeom prst="line">
            <a:avLst/>
          </a:prstGeom>
          <a:ln w="11430">
            <a:solidFill>
              <a:srgbClr val="141E27"/>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438912" y="4069079"/>
            <a:ext cx="1060704" cy="201168"/>
          </a:xfrm>
          <a:prstGeom prst="rect">
            <a:avLst/>
          </a:prstGeom>
          <a:noFill/>
        </p:spPr>
        <p:txBody>
          <a:bodyPr wrap="square" lIns="0" rIns="0" tIns="0" bIns="0" anchor="ctr">
            <a:spAutoFit/>
          </a:bodyPr>
          <a:lstStyle/>
          <a:p>
            <a:pPr algn="l"/>
            <a:r>
              <a:rPr sz="950" b="1" i="0" u="none">
                <a:solidFill>
                  <a:srgbClr val="141E27"/>
                </a:solidFill>
                <a:latin typeface="Helvetica Neue"/>
              </a:rPr>
              <a:t>E0</a:t>
            </a:r>
          </a:p>
        </p:txBody>
      </p:sp>
      <p:sp>
        <p:nvSpPr>
          <p:cNvPr id="102" name="TextBox 101"/>
          <p:cNvSpPr txBox="1"/>
          <p:nvPr/>
        </p:nvSpPr>
        <p:spPr>
          <a:xfrm>
            <a:off x="1499616" y="4069079"/>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10</a:t>
            </a:r>
          </a:p>
        </p:txBody>
      </p:sp>
      <p:sp>
        <p:nvSpPr>
          <p:cNvPr id="103" name="TextBox 102"/>
          <p:cNvSpPr txBox="1"/>
          <p:nvPr/>
        </p:nvSpPr>
        <p:spPr>
          <a:xfrm>
            <a:off x="2340864" y="4069079"/>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25</a:t>
            </a:r>
          </a:p>
        </p:txBody>
      </p:sp>
      <p:sp>
        <p:nvSpPr>
          <p:cNvPr id="104" name="TextBox 103"/>
          <p:cNvSpPr txBox="1"/>
          <p:nvPr/>
        </p:nvSpPr>
        <p:spPr>
          <a:xfrm>
            <a:off x="3182112" y="4069079"/>
            <a:ext cx="896112" cy="201168"/>
          </a:xfrm>
          <a:prstGeom prst="rect">
            <a:avLst/>
          </a:prstGeom>
          <a:noFill/>
        </p:spPr>
        <p:txBody>
          <a:bodyPr wrap="square" lIns="0" rIns="0" tIns="0" bIns="0" anchor="ctr">
            <a:spAutoFit/>
          </a:bodyPr>
          <a:lstStyle/>
          <a:p>
            <a:pPr algn="ctr"/>
            <a:r>
              <a:rPr sz="900" b="0" i="0" u="sng">
                <a:solidFill>
                  <a:srgbClr val="141E27"/>
                </a:solidFill>
                <a:latin typeface="Menlo"/>
              </a:rPr>
              <a:t>14/20</a:t>
            </a:r>
          </a:p>
        </p:txBody>
      </p:sp>
      <p:sp>
        <p:nvSpPr>
          <p:cNvPr id="105" name="TextBox 104"/>
          <p:cNvSpPr txBox="1"/>
          <p:nvPr/>
        </p:nvSpPr>
        <p:spPr>
          <a:xfrm>
            <a:off x="4078224" y="4069079"/>
            <a:ext cx="841248" cy="201168"/>
          </a:xfrm>
          <a:prstGeom prst="rect">
            <a:avLst/>
          </a:prstGeom>
          <a:noFill/>
        </p:spPr>
        <p:txBody>
          <a:bodyPr wrap="square" lIns="0" rIns="0" tIns="0" bIns="0" anchor="ctr">
            <a:spAutoFit/>
          </a:bodyPr>
          <a:lstStyle/>
          <a:p>
            <a:pPr algn="ctr"/>
            <a:r>
              <a:rPr sz="900" b="0" i="0" u="sng">
                <a:solidFill>
                  <a:srgbClr val="141E27"/>
                </a:solidFill>
                <a:latin typeface="Menlo"/>
              </a:rPr>
              <a:t>5</a:t>
            </a:r>
          </a:p>
        </p:txBody>
      </p:sp>
      <p:sp>
        <p:nvSpPr>
          <p:cNvPr id="106" name="TextBox 105"/>
          <p:cNvSpPr txBox="1"/>
          <p:nvPr/>
        </p:nvSpPr>
        <p:spPr>
          <a:xfrm>
            <a:off x="4919472" y="4069079"/>
            <a:ext cx="896112" cy="201168"/>
          </a:xfrm>
          <a:prstGeom prst="rect">
            <a:avLst/>
          </a:prstGeom>
          <a:noFill/>
        </p:spPr>
        <p:txBody>
          <a:bodyPr wrap="square" lIns="0" rIns="0" tIns="0" bIns="0" anchor="ctr">
            <a:spAutoFit/>
          </a:bodyPr>
          <a:lstStyle/>
          <a:p>
            <a:pPr algn="ctr"/>
            <a:r>
              <a:rPr sz="900" b="1" i="0" u="none">
                <a:solidFill>
                  <a:srgbClr val="141E27"/>
                </a:solidFill>
                <a:latin typeface="Menlo"/>
              </a:rPr>
              <a:t>17/20</a:t>
            </a:r>
          </a:p>
        </p:txBody>
      </p:sp>
      <p:sp>
        <p:nvSpPr>
          <p:cNvPr id="107" name="TextBox 106"/>
          <p:cNvSpPr txBox="1"/>
          <p:nvPr/>
        </p:nvSpPr>
        <p:spPr>
          <a:xfrm>
            <a:off x="438912" y="4306823"/>
            <a:ext cx="1060704" cy="201168"/>
          </a:xfrm>
          <a:prstGeom prst="rect">
            <a:avLst/>
          </a:prstGeom>
          <a:noFill/>
        </p:spPr>
        <p:txBody>
          <a:bodyPr wrap="square" lIns="0" rIns="0" tIns="0" bIns="0" anchor="ctr">
            <a:spAutoFit/>
          </a:bodyPr>
          <a:lstStyle/>
          <a:p>
            <a:pPr algn="l"/>
            <a:r>
              <a:rPr sz="950" b="1" i="0" u="none">
                <a:solidFill>
                  <a:srgbClr val="141E27"/>
                </a:solidFill>
                <a:latin typeface="Helvetica Neue"/>
              </a:rPr>
              <a:t>E1</a:t>
            </a:r>
          </a:p>
        </p:txBody>
      </p:sp>
      <p:sp>
        <p:nvSpPr>
          <p:cNvPr id="108" name="TextBox 107"/>
          <p:cNvSpPr txBox="1"/>
          <p:nvPr/>
        </p:nvSpPr>
        <p:spPr>
          <a:xfrm>
            <a:off x="1499616" y="4306823"/>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10</a:t>
            </a:r>
          </a:p>
        </p:txBody>
      </p:sp>
      <p:sp>
        <p:nvSpPr>
          <p:cNvPr id="109" name="TextBox 108"/>
          <p:cNvSpPr txBox="1"/>
          <p:nvPr/>
        </p:nvSpPr>
        <p:spPr>
          <a:xfrm>
            <a:off x="2340864" y="4306823"/>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25</a:t>
            </a:r>
          </a:p>
        </p:txBody>
      </p:sp>
      <p:sp>
        <p:nvSpPr>
          <p:cNvPr id="110" name="TextBox 109"/>
          <p:cNvSpPr txBox="1"/>
          <p:nvPr/>
        </p:nvSpPr>
        <p:spPr>
          <a:xfrm>
            <a:off x="3182112" y="4306823"/>
            <a:ext cx="896112" cy="201168"/>
          </a:xfrm>
          <a:prstGeom prst="rect">
            <a:avLst/>
          </a:prstGeom>
          <a:noFill/>
        </p:spPr>
        <p:txBody>
          <a:bodyPr wrap="square" lIns="0" rIns="0" tIns="0" bIns="0" anchor="ctr">
            <a:spAutoFit/>
          </a:bodyPr>
          <a:lstStyle/>
          <a:p>
            <a:pPr algn="ctr"/>
            <a:r>
              <a:rPr sz="900" b="0" i="0" u="sng">
                <a:solidFill>
                  <a:srgbClr val="141E27"/>
                </a:solidFill>
                <a:latin typeface="Menlo"/>
              </a:rPr>
              <a:t>14/20</a:t>
            </a:r>
          </a:p>
        </p:txBody>
      </p:sp>
      <p:sp>
        <p:nvSpPr>
          <p:cNvPr id="111" name="TextBox 110"/>
          <p:cNvSpPr txBox="1"/>
          <p:nvPr/>
        </p:nvSpPr>
        <p:spPr>
          <a:xfrm>
            <a:off x="4078224" y="4306823"/>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6</a:t>
            </a:r>
          </a:p>
        </p:txBody>
      </p:sp>
      <p:sp>
        <p:nvSpPr>
          <p:cNvPr id="112" name="TextBox 111"/>
          <p:cNvSpPr txBox="1"/>
          <p:nvPr/>
        </p:nvSpPr>
        <p:spPr>
          <a:xfrm>
            <a:off x="4919472" y="4306823"/>
            <a:ext cx="896112" cy="201168"/>
          </a:xfrm>
          <a:prstGeom prst="rect">
            <a:avLst/>
          </a:prstGeom>
          <a:noFill/>
        </p:spPr>
        <p:txBody>
          <a:bodyPr wrap="square" lIns="0" rIns="0" tIns="0" bIns="0" anchor="ctr">
            <a:spAutoFit/>
          </a:bodyPr>
          <a:lstStyle/>
          <a:p>
            <a:pPr algn="ctr"/>
            <a:r>
              <a:rPr sz="900" b="1" i="0" u="none">
                <a:solidFill>
                  <a:srgbClr val="141E27"/>
                </a:solidFill>
                <a:latin typeface="Menlo"/>
              </a:rPr>
              <a:t>17/20</a:t>
            </a:r>
          </a:p>
        </p:txBody>
      </p:sp>
      <p:sp>
        <p:nvSpPr>
          <p:cNvPr id="113" name="TextBox 112"/>
          <p:cNvSpPr txBox="1"/>
          <p:nvPr/>
        </p:nvSpPr>
        <p:spPr>
          <a:xfrm>
            <a:off x="438912" y="4544567"/>
            <a:ext cx="1060704" cy="201168"/>
          </a:xfrm>
          <a:prstGeom prst="rect">
            <a:avLst/>
          </a:prstGeom>
          <a:noFill/>
        </p:spPr>
        <p:txBody>
          <a:bodyPr wrap="square" lIns="0" rIns="0" tIns="0" bIns="0" anchor="ctr">
            <a:spAutoFit/>
          </a:bodyPr>
          <a:lstStyle/>
          <a:p>
            <a:pPr algn="l"/>
            <a:r>
              <a:rPr sz="950" b="1" i="0" u="none">
                <a:solidFill>
                  <a:srgbClr val="141E27"/>
                </a:solidFill>
                <a:latin typeface="Helvetica Neue"/>
              </a:rPr>
              <a:t>E2</a:t>
            </a:r>
          </a:p>
        </p:txBody>
      </p:sp>
      <p:sp>
        <p:nvSpPr>
          <p:cNvPr id="114" name="TextBox 113"/>
          <p:cNvSpPr txBox="1"/>
          <p:nvPr/>
        </p:nvSpPr>
        <p:spPr>
          <a:xfrm>
            <a:off x="1499616" y="4544567"/>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10</a:t>
            </a:r>
          </a:p>
        </p:txBody>
      </p:sp>
      <p:sp>
        <p:nvSpPr>
          <p:cNvPr id="115" name="TextBox 114"/>
          <p:cNvSpPr txBox="1"/>
          <p:nvPr/>
        </p:nvSpPr>
        <p:spPr>
          <a:xfrm>
            <a:off x="2340864" y="4544567"/>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25</a:t>
            </a:r>
          </a:p>
        </p:txBody>
      </p:sp>
      <p:sp>
        <p:nvSpPr>
          <p:cNvPr id="116" name="TextBox 115"/>
          <p:cNvSpPr txBox="1"/>
          <p:nvPr/>
        </p:nvSpPr>
        <p:spPr>
          <a:xfrm>
            <a:off x="3182112" y="4544567"/>
            <a:ext cx="896112" cy="201168"/>
          </a:xfrm>
          <a:prstGeom prst="rect">
            <a:avLst/>
          </a:prstGeom>
          <a:noFill/>
        </p:spPr>
        <p:txBody>
          <a:bodyPr wrap="square" lIns="0" rIns="0" tIns="0" bIns="0" anchor="ctr">
            <a:spAutoFit/>
          </a:bodyPr>
          <a:lstStyle/>
          <a:p>
            <a:pPr algn="ctr"/>
            <a:r>
              <a:rPr sz="900" b="0" i="0" u="none">
                <a:solidFill>
                  <a:srgbClr val="141E27"/>
                </a:solidFill>
                <a:latin typeface="Menlo"/>
              </a:rPr>
              <a:t>12/20</a:t>
            </a:r>
          </a:p>
        </p:txBody>
      </p:sp>
      <p:sp>
        <p:nvSpPr>
          <p:cNvPr id="117" name="TextBox 116"/>
          <p:cNvSpPr txBox="1"/>
          <p:nvPr/>
        </p:nvSpPr>
        <p:spPr>
          <a:xfrm>
            <a:off x="4078224" y="4544567"/>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8</a:t>
            </a:r>
          </a:p>
        </p:txBody>
      </p:sp>
      <p:sp>
        <p:nvSpPr>
          <p:cNvPr id="118" name="TextBox 117"/>
          <p:cNvSpPr txBox="1"/>
          <p:nvPr/>
        </p:nvSpPr>
        <p:spPr>
          <a:xfrm>
            <a:off x="4919472" y="4544567"/>
            <a:ext cx="896112" cy="201168"/>
          </a:xfrm>
          <a:prstGeom prst="rect">
            <a:avLst/>
          </a:prstGeom>
          <a:noFill/>
        </p:spPr>
        <p:txBody>
          <a:bodyPr wrap="square" lIns="0" rIns="0" tIns="0" bIns="0" anchor="ctr">
            <a:spAutoFit/>
          </a:bodyPr>
          <a:lstStyle/>
          <a:p>
            <a:pPr algn="ctr"/>
            <a:r>
              <a:rPr sz="900" b="0" i="0" u="none">
                <a:solidFill>
                  <a:srgbClr val="141E27"/>
                </a:solidFill>
                <a:latin typeface="Menlo"/>
              </a:rPr>
              <a:t>15/20</a:t>
            </a:r>
          </a:p>
        </p:txBody>
      </p:sp>
      <p:sp>
        <p:nvSpPr>
          <p:cNvPr id="119" name="TextBox 118"/>
          <p:cNvSpPr txBox="1"/>
          <p:nvPr/>
        </p:nvSpPr>
        <p:spPr>
          <a:xfrm>
            <a:off x="438912" y="4782311"/>
            <a:ext cx="1060704" cy="201168"/>
          </a:xfrm>
          <a:prstGeom prst="rect">
            <a:avLst/>
          </a:prstGeom>
          <a:noFill/>
        </p:spPr>
        <p:txBody>
          <a:bodyPr wrap="square" lIns="0" rIns="0" tIns="0" bIns="0" anchor="ctr">
            <a:spAutoFit/>
          </a:bodyPr>
          <a:lstStyle/>
          <a:p>
            <a:pPr algn="l"/>
            <a:r>
              <a:rPr sz="950" b="1" i="0" u="none">
                <a:solidFill>
                  <a:srgbClr val="141E27"/>
                </a:solidFill>
                <a:latin typeface="Helvetica Neue"/>
              </a:rPr>
              <a:t>E3</a:t>
            </a:r>
          </a:p>
        </p:txBody>
      </p:sp>
      <p:sp>
        <p:nvSpPr>
          <p:cNvPr id="120" name="TextBox 119"/>
          <p:cNvSpPr txBox="1"/>
          <p:nvPr/>
        </p:nvSpPr>
        <p:spPr>
          <a:xfrm>
            <a:off x="1499616" y="4782311"/>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0</a:t>
            </a:r>
          </a:p>
        </p:txBody>
      </p:sp>
      <p:sp>
        <p:nvSpPr>
          <p:cNvPr id="121" name="TextBox 120"/>
          <p:cNvSpPr txBox="1"/>
          <p:nvPr/>
        </p:nvSpPr>
        <p:spPr>
          <a:xfrm>
            <a:off x="2340864" y="4782311"/>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35</a:t>
            </a:r>
          </a:p>
        </p:txBody>
      </p:sp>
      <p:sp>
        <p:nvSpPr>
          <p:cNvPr id="122" name="TextBox 121"/>
          <p:cNvSpPr txBox="1"/>
          <p:nvPr/>
        </p:nvSpPr>
        <p:spPr>
          <a:xfrm>
            <a:off x="3182112" y="4782311"/>
            <a:ext cx="896112" cy="201168"/>
          </a:xfrm>
          <a:prstGeom prst="rect">
            <a:avLst/>
          </a:prstGeom>
          <a:noFill/>
        </p:spPr>
        <p:txBody>
          <a:bodyPr wrap="square" lIns="0" rIns="0" tIns="0" bIns="0" anchor="ctr">
            <a:spAutoFit/>
          </a:bodyPr>
          <a:lstStyle/>
          <a:p>
            <a:pPr algn="ctr"/>
            <a:r>
              <a:rPr sz="900" b="1" i="0" u="none">
                <a:solidFill>
                  <a:srgbClr val="141E27"/>
                </a:solidFill>
                <a:latin typeface="Menlo"/>
              </a:rPr>
              <a:t>20/20</a:t>
            </a:r>
          </a:p>
        </p:txBody>
      </p:sp>
      <p:sp>
        <p:nvSpPr>
          <p:cNvPr id="123" name="TextBox 122"/>
          <p:cNvSpPr txBox="1"/>
          <p:nvPr/>
        </p:nvSpPr>
        <p:spPr>
          <a:xfrm>
            <a:off x="4078224" y="4782311"/>
            <a:ext cx="841248" cy="201168"/>
          </a:xfrm>
          <a:prstGeom prst="rect">
            <a:avLst/>
          </a:prstGeom>
          <a:noFill/>
        </p:spPr>
        <p:txBody>
          <a:bodyPr wrap="square" lIns="0" rIns="0" tIns="0" bIns="0" anchor="ctr">
            <a:spAutoFit/>
          </a:bodyPr>
          <a:lstStyle/>
          <a:p>
            <a:pPr algn="ctr"/>
            <a:r>
              <a:rPr sz="900" b="1" i="0" u="none">
                <a:solidFill>
                  <a:srgbClr val="141E27"/>
                </a:solidFill>
                <a:latin typeface="Menlo"/>
              </a:rPr>
              <a:t>0</a:t>
            </a:r>
          </a:p>
        </p:txBody>
      </p:sp>
      <p:sp>
        <p:nvSpPr>
          <p:cNvPr id="124" name="TextBox 123"/>
          <p:cNvSpPr txBox="1"/>
          <p:nvPr/>
        </p:nvSpPr>
        <p:spPr>
          <a:xfrm>
            <a:off x="4919472" y="4782311"/>
            <a:ext cx="896112" cy="201168"/>
          </a:xfrm>
          <a:prstGeom prst="rect">
            <a:avLst/>
          </a:prstGeom>
          <a:noFill/>
        </p:spPr>
        <p:txBody>
          <a:bodyPr wrap="square" lIns="0" rIns="0" tIns="0" bIns="0" anchor="ctr">
            <a:spAutoFit/>
          </a:bodyPr>
          <a:lstStyle/>
          <a:p>
            <a:pPr algn="ctr"/>
            <a:r>
              <a:rPr sz="900" b="0" i="0" u="none">
                <a:solidFill>
                  <a:srgbClr val="141E27"/>
                </a:solidFill>
                <a:latin typeface="Menlo"/>
              </a:rPr>
              <a:t>15/20</a:t>
            </a:r>
          </a:p>
        </p:txBody>
      </p:sp>
      <p:sp>
        <p:nvSpPr>
          <p:cNvPr id="125" name="TextBox 124"/>
          <p:cNvSpPr txBox="1"/>
          <p:nvPr/>
        </p:nvSpPr>
        <p:spPr>
          <a:xfrm>
            <a:off x="438912" y="5020055"/>
            <a:ext cx="1060704" cy="201168"/>
          </a:xfrm>
          <a:prstGeom prst="rect">
            <a:avLst/>
          </a:prstGeom>
          <a:noFill/>
        </p:spPr>
        <p:txBody>
          <a:bodyPr wrap="square" lIns="0" rIns="0" tIns="0" bIns="0" anchor="ctr">
            <a:spAutoFit/>
          </a:bodyPr>
          <a:lstStyle/>
          <a:p>
            <a:pPr algn="l"/>
            <a:r>
              <a:rPr sz="950" b="1" i="0" u="none">
                <a:solidFill>
                  <a:srgbClr val="141E27"/>
                </a:solidFill>
                <a:latin typeface="Helvetica Neue"/>
              </a:rPr>
              <a:t>E4</a:t>
            </a:r>
          </a:p>
        </p:txBody>
      </p:sp>
      <p:sp>
        <p:nvSpPr>
          <p:cNvPr id="126" name="TextBox 125"/>
          <p:cNvSpPr txBox="1"/>
          <p:nvPr/>
        </p:nvSpPr>
        <p:spPr>
          <a:xfrm>
            <a:off x="1499616" y="5020055"/>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0</a:t>
            </a:r>
          </a:p>
        </p:txBody>
      </p:sp>
      <p:sp>
        <p:nvSpPr>
          <p:cNvPr id="127" name="TextBox 126"/>
          <p:cNvSpPr txBox="1"/>
          <p:nvPr/>
        </p:nvSpPr>
        <p:spPr>
          <a:xfrm>
            <a:off x="2340864" y="5020055"/>
            <a:ext cx="841248" cy="201168"/>
          </a:xfrm>
          <a:prstGeom prst="rect">
            <a:avLst/>
          </a:prstGeom>
          <a:noFill/>
        </p:spPr>
        <p:txBody>
          <a:bodyPr wrap="square" lIns="0" rIns="0" tIns="0" bIns="0" anchor="ctr">
            <a:spAutoFit/>
          </a:bodyPr>
          <a:lstStyle/>
          <a:p>
            <a:pPr algn="ctr"/>
            <a:r>
              <a:rPr sz="900" b="0" i="0" u="none">
                <a:solidFill>
                  <a:srgbClr val="141E27"/>
                </a:solidFill>
                <a:latin typeface="Menlo"/>
              </a:rPr>
              <a:t>35</a:t>
            </a:r>
          </a:p>
        </p:txBody>
      </p:sp>
      <p:sp>
        <p:nvSpPr>
          <p:cNvPr id="128" name="TextBox 127"/>
          <p:cNvSpPr txBox="1"/>
          <p:nvPr/>
        </p:nvSpPr>
        <p:spPr>
          <a:xfrm>
            <a:off x="3182112" y="5020055"/>
            <a:ext cx="896112" cy="201168"/>
          </a:xfrm>
          <a:prstGeom prst="rect">
            <a:avLst/>
          </a:prstGeom>
          <a:noFill/>
        </p:spPr>
        <p:txBody>
          <a:bodyPr wrap="square" lIns="0" rIns="0" tIns="0" bIns="0" anchor="ctr">
            <a:spAutoFit/>
          </a:bodyPr>
          <a:lstStyle/>
          <a:p>
            <a:pPr algn="ctr"/>
            <a:r>
              <a:rPr sz="900" b="1" i="0" u="none">
                <a:solidFill>
                  <a:srgbClr val="141E27"/>
                </a:solidFill>
                <a:latin typeface="Menlo"/>
              </a:rPr>
              <a:t>20/20</a:t>
            </a:r>
          </a:p>
        </p:txBody>
      </p:sp>
      <p:sp>
        <p:nvSpPr>
          <p:cNvPr id="129" name="TextBox 128"/>
          <p:cNvSpPr txBox="1"/>
          <p:nvPr/>
        </p:nvSpPr>
        <p:spPr>
          <a:xfrm>
            <a:off x="4078224" y="5020055"/>
            <a:ext cx="841248" cy="201168"/>
          </a:xfrm>
          <a:prstGeom prst="rect">
            <a:avLst/>
          </a:prstGeom>
          <a:noFill/>
        </p:spPr>
        <p:txBody>
          <a:bodyPr wrap="square" lIns="0" rIns="0" tIns="0" bIns="0" anchor="ctr">
            <a:spAutoFit/>
          </a:bodyPr>
          <a:lstStyle/>
          <a:p>
            <a:pPr algn="ctr"/>
            <a:r>
              <a:rPr sz="900" b="1" i="0" u="none">
                <a:solidFill>
                  <a:srgbClr val="141E27"/>
                </a:solidFill>
                <a:latin typeface="Menlo"/>
              </a:rPr>
              <a:t>0</a:t>
            </a:r>
          </a:p>
        </p:txBody>
      </p:sp>
      <p:sp>
        <p:nvSpPr>
          <p:cNvPr id="130" name="TextBox 129"/>
          <p:cNvSpPr txBox="1"/>
          <p:nvPr/>
        </p:nvSpPr>
        <p:spPr>
          <a:xfrm>
            <a:off x="4919472" y="5020055"/>
            <a:ext cx="896112" cy="201168"/>
          </a:xfrm>
          <a:prstGeom prst="rect">
            <a:avLst/>
          </a:prstGeom>
          <a:noFill/>
        </p:spPr>
        <p:txBody>
          <a:bodyPr wrap="square" lIns="0" rIns="0" tIns="0" bIns="0" anchor="ctr">
            <a:spAutoFit/>
          </a:bodyPr>
          <a:lstStyle/>
          <a:p>
            <a:pPr algn="ctr"/>
            <a:r>
              <a:rPr sz="900" b="0" i="0" u="sng">
                <a:solidFill>
                  <a:srgbClr val="141E27"/>
                </a:solidFill>
                <a:latin typeface="Menlo"/>
              </a:rPr>
              <a:t>16/20</a:t>
            </a:r>
          </a:p>
        </p:txBody>
      </p:sp>
      <p:cxnSp>
        <p:nvCxnSpPr>
          <p:cNvPr id="131" name="Connector 130"/>
          <p:cNvCxnSpPr/>
          <p:nvPr/>
        </p:nvCxnSpPr>
        <p:spPr>
          <a:xfrm>
            <a:off x="438912" y="5257799"/>
            <a:ext cx="5376671"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38912" y="5349239"/>
            <a:ext cx="5394960" cy="420624"/>
          </a:xfrm>
          <a:prstGeom prst="rect">
            <a:avLst/>
          </a:prstGeom>
          <a:noFill/>
        </p:spPr>
        <p:txBody>
          <a:bodyPr wrap="square" lIns="0" rIns="0" tIns="0" bIns="0" anchor="t">
            <a:spAutoFit/>
          </a:bodyPr>
          <a:lstStyle/>
          <a:p>
            <a:pPr algn="l">
              <a:lnSpc>
                <a:spcPct val="115000"/>
              </a:lnSpc>
            </a:pPr>
            <a:r>
              <a:rPr sz="850" b="0" i="1" u="none">
                <a:solidFill>
                  <a:srgbClr val="7E8D9B"/>
                </a:solidFill>
                <a:latin typeface="Helvetica Neue"/>
              </a:rPr>
              <a:t>One block is one retrieved entry. "Atomic cover" counts required items found in an atomic entry, "Summary only" those reachable solely inside a summary. M4 removes summaries from the packet, which is why E3 and E4 read zero.</a:t>
            </a:r>
          </a:p>
        </p:txBody>
      </p:sp>
      <p:sp>
        <p:nvSpPr>
          <p:cNvPr id="133" name="TextBox 132"/>
          <p:cNvSpPr txBox="1"/>
          <p:nvPr/>
        </p:nvSpPr>
        <p:spPr>
          <a:xfrm>
            <a:off x="6126480" y="3447287"/>
            <a:ext cx="5623560" cy="182880"/>
          </a:xfrm>
          <a:prstGeom prst="rect">
            <a:avLst/>
          </a:prstGeom>
          <a:noFill/>
        </p:spPr>
        <p:txBody>
          <a:bodyPr wrap="square" lIns="0" rIns="0" tIns="0" bIns="0" anchor="ctr">
            <a:spAutoFit/>
          </a:bodyPr>
          <a:lstStyle/>
          <a:p>
            <a:pPr algn="l"/>
            <a:r>
              <a:rPr sz="1050" b="1" i="0" u="none">
                <a:solidFill>
                  <a:srgbClr val="141E27"/>
                </a:solidFill>
                <a:latin typeface="Helvetica Neue"/>
              </a:rPr>
              <a:t>Key findings</a:t>
            </a:r>
          </a:p>
        </p:txBody>
      </p:sp>
      <p:sp>
        <p:nvSpPr>
          <p:cNvPr id="134" name="TextBox 133"/>
          <p:cNvSpPr txBox="1"/>
          <p:nvPr/>
        </p:nvSpPr>
        <p:spPr>
          <a:xfrm>
            <a:off x="6126480" y="3648455"/>
            <a:ext cx="384048" cy="182880"/>
          </a:xfrm>
          <a:prstGeom prst="rect">
            <a:avLst/>
          </a:prstGeom>
          <a:noFill/>
        </p:spPr>
        <p:txBody>
          <a:bodyPr wrap="square" lIns="0" rIns="0" tIns="0" bIns="0" anchor="ctr">
            <a:spAutoFit/>
          </a:bodyPr>
          <a:lstStyle/>
          <a:p>
            <a:pPr algn="l"/>
            <a:r>
              <a:rPr sz="1050" b="1" i="0" u="none">
                <a:solidFill>
                  <a:srgbClr val="16685A"/>
                </a:solidFill>
                <a:latin typeface="Helvetica Neue"/>
              </a:rPr>
              <a:t>E1</a:t>
            </a:r>
          </a:p>
        </p:txBody>
      </p:sp>
      <p:sp>
        <p:nvSpPr>
          <p:cNvPr id="135" name="TextBox 134"/>
          <p:cNvSpPr txBox="1"/>
          <p:nvPr/>
        </p:nvSpPr>
        <p:spPr>
          <a:xfrm>
            <a:off x="6528816" y="3648455"/>
            <a:ext cx="5221224" cy="182880"/>
          </a:xfrm>
          <a:prstGeom prst="rect">
            <a:avLst/>
          </a:prstGeom>
          <a:noFill/>
        </p:spPr>
        <p:txBody>
          <a:bodyPr wrap="square" lIns="0" rIns="0" tIns="0" bIns="0" anchor="ctr">
            <a:spAutoFit/>
          </a:bodyPr>
          <a:lstStyle/>
          <a:p>
            <a:pPr algn="l"/>
            <a:r>
              <a:rPr sz="1000" b="1" i="0" u="none">
                <a:solidFill>
                  <a:srgbClr val="141E27"/>
                </a:solidFill>
                <a:latin typeface="Helvetica Neue"/>
              </a:rPr>
              <a:t>M1 alone is the only module that costs nothing.</a:t>
            </a:r>
          </a:p>
        </p:txBody>
      </p:sp>
      <p:sp>
        <p:nvSpPr>
          <p:cNvPr id="136" name="TextBox 135"/>
          <p:cNvSpPr txBox="1"/>
          <p:nvPr/>
        </p:nvSpPr>
        <p:spPr>
          <a:xfrm>
            <a:off x="6528816" y="3822191"/>
            <a:ext cx="5221224" cy="512064"/>
          </a:xfrm>
          <a:prstGeom prst="rect">
            <a:avLst/>
          </a:prstGeom>
          <a:noFill/>
        </p:spPr>
        <p:txBody>
          <a:bodyPr wrap="square" lIns="0" rIns="0" tIns="0" bIns="0" anchor="t">
            <a:spAutoFit/>
          </a:bodyPr>
          <a:lstStyle/>
          <a:p>
            <a:pPr algn="l">
              <a:lnSpc>
                <a:spcPct val="110000"/>
              </a:lnSpc>
            </a:pPr>
            <a:r>
              <a:rPr sz="819" b="0" i="0" u="none">
                <a:solidFill>
                  <a:srgbClr val="4C5C6B"/>
                </a:solidFill>
                <a:latin typeface="Helvetica Neue"/>
              </a:rPr>
              <a:t>LoCoMo 0.643 to 0.673, reasoning failure 0.224 to 0.193, the best update landing of the five (0.739), MemFail held at 29 of 35. Storage does not grow, 765 entries against 777, and answer cost does not rise. Nothing regresses anywhere.</a:t>
            </a:r>
          </a:p>
        </p:txBody>
      </p:sp>
      <p:sp>
        <p:nvSpPr>
          <p:cNvPr id="137" name="TextBox 136"/>
          <p:cNvSpPr txBox="1"/>
          <p:nvPr/>
        </p:nvSpPr>
        <p:spPr>
          <a:xfrm>
            <a:off x="6126480" y="4361687"/>
            <a:ext cx="384048" cy="182880"/>
          </a:xfrm>
          <a:prstGeom prst="rect">
            <a:avLst/>
          </a:prstGeom>
          <a:noFill/>
        </p:spPr>
        <p:txBody>
          <a:bodyPr wrap="square" lIns="0" rIns="0" tIns="0" bIns="0" anchor="ctr">
            <a:spAutoFit/>
          </a:bodyPr>
          <a:lstStyle/>
          <a:p>
            <a:pPr algn="l"/>
            <a:r>
              <a:rPr sz="1050" b="1" i="0" u="none">
                <a:solidFill>
                  <a:srgbClr val="16685A"/>
                </a:solidFill>
                <a:latin typeface="Helvetica Neue"/>
              </a:rPr>
              <a:t>E2</a:t>
            </a:r>
          </a:p>
        </p:txBody>
      </p:sp>
      <p:sp>
        <p:nvSpPr>
          <p:cNvPr id="138" name="TextBox 137"/>
          <p:cNvSpPr txBox="1"/>
          <p:nvPr/>
        </p:nvSpPr>
        <p:spPr>
          <a:xfrm>
            <a:off x="6528816" y="4361687"/>
            <a:ext cx="5221224" cy="182880"/>
          </a:xfrm>
          <a:prstGeom prst="rect">
            <a:avLst/>
          </a:prstGeom>
          <a:noFill/>
        </p:spPr>
        <p:txBody>
          <a:bodyPr wrap="square" lIns="0" rIns="0" tIns="0" bIns="0" anchor="ctr">
            <a:spAutoFit/>
          </a:bodyPr>
          <a:lstStyle/>
          <a:p>
            <a:pPr algn="l"/>
            <a:r>
              <a:rPr sz="1000" b="1" i="0" u="none">
                <a:solidFill>
                  <a:srgbClr val="141E27"/>
                </a:solidFill>
                <a:latin typeface="Helvetica Neue"/>
              </a:rPr>
              <a:t>M3 buries the facts it summarises.</a:t>
            </a:r>
          </a:p>
        </p:txBody>
      </p:sp>
      <p:sp>
        <p:nvSpPr>
          <p:cNvPr id="139" name="TextBox 138"/>
          <p:cNvSpPr txBox="1"/>
          <p:nvPr/>
        </p:nvSpPr>
        <p:spPr>
          <a:xfrm>
            <a:off x="6528816" y="4535423"/>
            <a:ext cx="5221224" cy="512064"/>
          </a:xfrm>
          <a:prstGeom prst="rect">
            <a:avLst/>
          </a:prstGeom>
          <a:noFill/>
        </p:spPr>
        <p:txBody>
          <a:bodyPr wrap="square" lIns="0" rIns="0" tIns="0" bIns="0" anchor="t">
            <a:spAutoFit/>
          </a:bodyPr>
          <a:lstStyle/>
          <a:p>
            <a:pPr algn="l">
              <a:lnSpc>
                <a:spcPct val="110000"/>
              </a:lnSpc>
            </a:pPr>
            <a:r>
              <a:rPr sz="819" b="0" i="0" u="none">
                <a:solidFill>
                  <a:srgbClr val="4C5C6B"/>
                </a:solidFill>
                <a:latin typeface="Helvetica Neue"/>
              </a:rPr>
              <a:t>Update landing falls to 0.641, the worst of the five, and adjudicable points drop to 110 of 142 against E1's 120. Table 2 gives the mechanism: atomic cover falls 14 to 12 while items reachable only inside a summary rise 6 to 8. Absorbed into a summary, a fact stops being individually addressable and the reader stops naming it, 17 to 15.</a:t>
            </a:r>
          </a:p>
        </p:txBody>
      </p:sp>
      <p:sp>
        <p:nvSpPr>
          <p:cNvPr id="140" name="TextBox 139"/>
          <p:cNvSpPr txBox="1"/>
          <p:nvPr/>
        </p:nvSpPr>
        <p:spPr>
          <a:xfrm>
            <a:off x="6126480" y="5074919"/>
            <a:ext cx="384048" cy="182880"/>
          </a:xfrm>
          <a:prstGeom prst="rect">
            <a:avLst/>
          </a:prstGeom>
          <a:noFill/>
        </p:spPr>
        <p:txBody>
          <a:bodyPr wrap="square" lIns="0" rIns="0" tIns="0" bIns="0" anchor="ctr">
            <a:spAutoFit/>
          </a:bodyPr>
          <a:lstStyle/>
          <a:p>
            <a:pPr algn="l"/>
            <a:r>
              <a:rPr sz="1050" b="1" i="0" u="none">
                <a:solidFill>
                  <a:srgbClr val="16685A"/>
                </a:solidFill>
                <a:latin typeface="Helvetica Neue"/>
              </a:rPr>
              <a:t>E3</a:t>
            </a:r>
          </a:p>
        </p:txBody>
      </p:sp>
      <p:sp>
        <p:nvSpPr>
          <p:cNvPr id="141" name="TextBox 140"/>
          <p:cNvSpPr txBox="1"/>
          <p:nvPr/>
        </p:nvSpPr>
        <p:spPr>
          <a:xfrm>
            <a:off x="6528816" y="5074919"/>
            <a:ext cx="5221224" cy="182880"/>
          </a:xfrm>
          <a:prstGeom prst="rect">
            <a:avLst/>
          </a:prstGeom>
          <a:noFill/>
        </p:spPr>
        <p:txBody>
          <a:bodyPr wrap="square" lIns="0" rIns="0" tIns="0" bIns="0" anchor="ctr">
            <a:spAutoFit/>
          </a:bodyPr>
          <a:lstStyle/>
          <a:p>
            <a:pPr algn="l"/>
            <a:r>
              <a:rPr sz="1000" b="1" i="0" u="none">
                <a:solidFill>
                  <a:srgbClr val="141E27"/>
                </a:solidFill>
                <a:latin typeface="Helvetica Neue"/>
              </a:rPr>
              <a:t>M4 delivers perfect evidence that the reader does not use.</a:t>
            </a:r>
          </a:p>
        </p:txBody>
      </p:sp>
      <p:sp>
        <p:nvSpPr>
          <p:cNvPr id="142" name="TextBox 141"/>
          <p:cNvSpPr txBox="1"/>
          <p:nvPr/>
        </p:nvSpPr>
        <p:spPr>
          <a:xfrm>
            <a:off x="6528816" y="5248655"/>
            <a:ext cx="5221224" cy="512064"/>
          </a:xfrm>
          <a:prstGeom prst="rect">
            <a:avLst/>
          </a:prstGeom>
          <a:noFill/>
        </p:spPr>
        <p:txBody>
          <a:bodyPr wrap="square" lIns="0" rIns="0" tIns="0" bIns="0" anchor="t">
            <a:spAutoFit/>
          </a:bodyPr>
          <a:lstStyle/>
          <a:p>
            <a:pPr algn="l">
              <a:lnSpc>
                <a:spcPct val="110000"/>
              </a:lnSpc>
            </a:pPr>
            <a:r>
              <a:rPr sz="819" b="0" i="0" u="none">
                <a:solidFill>
                  <a:srgbClr val="4C5C6B"/>
                </a:solidFill>
                <a:latin typeface="Helvetica Neue"/>
              </a:rPr>
              <a:t>M4 strips summaries, so atomic cover reaches 20 of 20 and HaluMem retrieval failure falls to 0.152, the lowest of the five. MemFail still drops to 23 of 35, and not because of the memory: all 20 required items sit in atomic entries tagged CURRENT or RAW, none HISTORICAL. The answer shortens, 1,468 to 1,308 characters, and enumeration falls 17 to 15.</a:t>
            </a:r>
          </a:p>
        </p:txBody>
      </p:sp>
      <p:sp>
        <p:nvSpPr>
          <p:cNvPr id="143" name="TextBox 142"/>
          <p:cNvSpPr txBox="1"/>
          <p:nvPr/>
        </p:nvSpPr>
        <p:spPr>
          <a:xfrm>
            <a:off x="6126480" y="5788151"/>
            <a:ext cx="384048" cy="182880"/>
          </a:xfrm>
          <a:prstGeom prst="rect">
            <a:avLst/>
          </a:prstGeom>
          <a:noFill/>
        </p:spPr>
        <p:txBody>
          <a:bodyPr wrap="square" lIns="0" rIns="0" tIns="0" bIns="0" anchor="ctr">
            <a:spAutoFit/>
          </a:bodyPr>
          <a:lstStyle/>
          <a:p>
            <a:pPr algn="l"/>
            <a:r>
              <a:rPr sz="1050" b="1" i="0" u="none">
                <a:solidFill>
                  <a:srgbClr val="16685A"/>
                </a:solidFill>
                <a:latin typeface="Helvetica Neue"/>
              </a:rPr>
              <a:t>E4</a:t>
            </a:r>
          </a:p>
        </p:txBody>
      </p:sp>
      <p:sp>
        <p:nvSpPr>
          <p:cNvPr id="144" name="TextBox 143"/>
          <p:cNvSpPr txBox="1"/>
          <p:nvPr/>
        </p:nvSpPr>
        <p:spPr>
          <a:xfrm>
            <a:off x="6528816" y="5788151"/>
            <a:ext cx="5221224" cy="182880"/>
          </a:xfrm>
          <a:prstGeom prst="rect">
            <a:avLst/>
          </a:prstGeom>
          <a:noFill/>
        </p:spPr>
        <p:txBody>
          <a:bodyPr wrap="square" lIns="0" rIns="0" tIns="0" bIns="0" anchor="ctr">
            <a:spAutoFit/>
          </a:bodyPr>
          <a:lstStyle/>
          <a:p>
            <a:pPr algn="l"/>
            <a:r>
              <a:rPr sz="1000" b="1" i="0" u="none">
                <a:solidFill>
                  <a:srgbClr val="141E27"/>
                </a:solidFill>
                <a:latin typeface="Helvetica Neue"/>
              </a:rPr>
              <a:t>The two read modules cancel each other's spend.</a:t>
            </a:r>
          </a:p>
        </p:txBody>
      </p:sp>
      <p:sp>
        <p:nvSpPr>
          <p:cNvPr id="145" name="TextBox 144"/>
          <p:cNvSpPr txBox="1"/>
          <p:nvPr/>
        </p:nvSpPr>
        <p:spPr>
          <a:xfrm>
            <a:off x="6528816" y="5961888"/>
            <a:ext cx="5221224" cy="512064"/>
          </a:xfrm>
          <a:prstGeom prst="rect">
            <a:avLst/>
          </a:prstGeom>
          <a:noFill/>
        </p:spPr>
        <p:txBody>
          <a:bodyPr wrap="square" lIns="0" rIns="0" tIns="0" bIns="0" anchor="t">
            <a:spAutoFit/>
          </a:bodyPr>
          <a:lstStyle/>
          <a:p>
            <a:pPr algn="l">
              <a:lnSpc>
                <a:spcPct val="110000"/>
              </a:lnSpc>
            </a:pPr>
            <a:r>
              <a:rPr sz="819" b="0" i="0" u="none">
                <a:solidFill>
                  <a:srgbClr val="4C5C6B"/>
                </a:solidFill>
                <a:latin typeface="Helvetica Neue"/>
              </a:rPr>
              <a:t>The three do not stack. LoCoMo reasoning failure is the best of the five (0.163) yet accuracy 0.678 sits below E3's 0.683, as extraction failure rises to 0.092. Table 2 shows the waste: E2 carries 10 summary blocks, E4 none, because M4 strips them. E4 pays 21,159 write tokens against E0's 18,374 for artefacts the reader never sees.</a:t>
            </a:r>
          </a:p>
        </p:txBody>
      </p:sp>
      <p:sp>
        <p:nvSpPr>
          <p:cNvPr id="146" name="TextBox 145"/>
          <p:cNvSpPr txBox="1"/>
          <p:nvPr/>
        </p:nvSpPr>
        <p:spPr>
          <a:xfrm>
            <a:off x="438912" y="6547104"/>
            <a:ext cx="11338560" cy="164592"/>
          </a:xfrm>
          <a:prstGeom prst="rect">
            <a:avLst/>
          </a:prstGeom>
          <a:noFill/>
        </p:spPr>
        <p:txBody>
          <a:bodyPr wrap="square" lIns="0" rIns="0" tIns="0" bIns="0" anchor="ctr">
            <a:spAutoFit/>
          </a:bodyPr>
          <a:lstStyle/>
          <a:p>
            <a:pPr algn="l"/>
            <a:r>
              <a:rPr sz="850" b="0" i="1" u="none">
                <a:solidFill>
                  <a:srgbClr val="7E8D9B"/>
                </a:solidFill>
                <a:latin typeface="Helvetica Neue"/>
              </a:rPr>
              <a:t>Scope: gemma-4-E4B-it for extraction and answering, HaluMem user #1, MemFail subsets of five questions each, one run per arm. The arms compare to each other, not to the five-system tables.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