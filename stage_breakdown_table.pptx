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274320" y="1536192"/>
          <a:ext cx="10927080" cy="23957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68680"/>
                <a:gridCol w="502920"/>
                <a:gridCol w="502920"/>
                <a:gridCol w="502920"/>
                <a:gridCol w="502920"/>
                <a:gridCol w="502920"/>
                <a:gridCol w="502920"/>
                <a:gridCol w="502920"/>
                <a:gridCol w="502920"/>
                <a:gridCol w="502920"/>
                <a:gridCol w="502920"/>
                <a:gridCol w="502920"/>
                <a:gridCol w="502920"/>
                <a:gridCol w="502920"/>
                <a:gridCol w="502920"/>
                <a:gridCol w="502920"/>
                <a:gridCol w="502920"/>
                <a:gridCol w="502920"/>
                <a:gridCol w="502920"/>
                <a:gridCol w="502920"/>
                <a:gridCol w="502920"/>
              </a:tblGrid>
              <a:tr h="256032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41E27"/>
                          </a:solidFill>
                          <a:latin typeface="Helvetica Neue"/>
                        </a:rPr>
                        <a:t/>
                      </a:r>
                    </a:p>
                  </a:txBody>
                  <a:tcPr anchor="ctr" marL="18288" marR="18288" marT="13716" marB="13716">
                    <a:solidFill>
                      <a:srgbClr val="FFFFFF"/>
                    </a:solidFill>
                  </a:tcPr>
                </a:tc>
                <a:tc gridSpan="12"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6685A"/>
                          </a:solidFill>
                          <a:latin typeface="Helvetica Neue"/>
                        </a:rPr>
                        <a:t>Multi-hop composition</a:t>
                      </a:r>
                    </a:p>
                  </a:txBody>
                  <a:tcPr anchor="ctr" marL="18288" marR="18288" marT="13716" marB="13716">
                    <a:lnB w="12700" cap="flat" cmpd="sng" algn="ctr">
                      <a:solidFill>
                        <a:srgbClr val="16685A"/>
                      </a:solidFill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8"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6685A"/>
                          </a:solidFill>
                          <a:latin typeface="Helvetica Neue"/>
                        </a:rPr>
                        <a:t>Temporal reasoning</a:t>
                      </a:r>
                    </a:p>
                  </a:txBody>
                  <a:tcPr anchor="ctr" marL="18288" marR="18288" marT="13716" marB="13716">
                    <a:lnB w="12700" cap="flat" cmpd="sng" algn="ctr">
                      <a:solidFill>
                        <a:srgbClr val="16685A"/>
                      </a:solidFill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41E27"/>
                          </a:solidFill>
                          <a:latin typeface="Helvetica Neue"/>
                        </a:rPr>
                        <a:t/>
                      </a:r>
                    </a:p>
                  </a:txBody>
                  <a:tcPr anchor="ctr" marL="18288" marR="18288" marT="13716" marB="13716">
                    <a:solidFill>
                      <a:srgbClr val="FFFFFF"/>
                    </a:solidFill>
                  </a:tcPr>
                </a:tc>
                <a:tc gridSpan="4"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4C5C6B"/>
                          </a:solidFill>
                          <a:latin typeface="Helvetica Neue"/>
                        </a:rPr>
                        <a:t>LoCoMo</a:t>
                      </a:r>
                    </a:p>
                  </a:txBody>
                  <a:tcPr anchor="ctr" marL="18288" marR="18288" marT="13716" marB="13716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>
                    <a:lnR w="9525" cap="flat" cmpd="sng" algn="ctr">
                      <a:solidFill>
                        <a:srgbClr val="D3DCD8"/>
                      </a:solidFill>
                    </a:lnR>
                  </a:tcPr>
                </a:tc>
                <a:tc gridSpan="4"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4C5C6B"/>
                          </a:solidFill>
                          <a:latin typeface="Helvetica Neue"/>
                        </a:rPr>
                        <a:t>HaluMem</a:t>
                      </a:r>
                    </a:p>
                  </a:txBody>
                  <a:tcPr anchor="ctr" marL="18288" marR="18288" marT="13716" marB="13716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>
                    <a:lnR w="9525" cap="flat" cmpd="sng" algn="ctr">
                      <a:solidFill>
                        <a:srgbClr val="D3DCD8"/>
                      </a:solidFill>
                    </a:lnR>
                  </a:tcPr>
                </a:tc>
                <a:tc gridSpan="4"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4C5C6B"/>
                          </a:solidFill>
                          <a:latin typeface="Helvetica Neue"/>
                        </a:rPr>
                        <a:t>MemFail</a:t>
                      </a:r>
                    </a:p>
                  </a:txBody>
                  <a:tcPr anchor="ctr" marL="18288" marR="18288" marT="13716" marB="13716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>
                    <a:lnR w="9525" cap="flat" cmpd="sng" algn="ctr">
                      <a:solidFill>
                        <a:srgbClr val="D3DCD8"/>
                      </a:solidFill>
                    </a:lnR>
                  </a:tcPr>
                </a:tc>
                <a:tc gridSpan="4"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4C5C6B"/>
                          </a:solidFill>
                          <a:latin typeface="Helvetica Neue"/>
                        </a:rPr>
                        <a:t>LongMemEval</a:t>
                      </a:r>
                    </a:p>
                  </a:txBody>
                  <a:tcPr anchor="ctr" marL="18288" marR="18288" marT="13716" marB="13716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>
                    <a:lnR w="9525" cap="flat" cmpd="sng" algn="ctr">
                      <a:solidFill>
                        <a:srgbClr val="D3DCD8"/>
                      </a:solidFill>
                    </a:lnR>
                  </a:tcPr>
                </a:tc>
                <a:tc gridSpan="4"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4C5C6B"/>
                          </a:solidFill>
                          <a:latin typeface="Helvetica Neue"/>
                        </a:rPr>
                        <a:t>LoCoMo</a:t>
                      </a:r>
                    </a:p>
                  </a:txBody>
                  <a:tcPr anchor="ctr" marL="18288" marR="18288" marT="13716" marB="13716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41E27"/>
                          </a:solidFill>
                          <a:latin typeface="Helvetica Neue"/>
                        </a:rPr>
                        <a:t/>
                      </a:r>
                    </a:p>
                  </a:txBody>
                  <a:tcPr anchor="ctr" marL="18288" marR="18288" marT="13716" marB="13716">
                    <a:solidFill>
                      <a:srgbClr val="FFFFFF"/>
                    </a:solidFill>
                  </a:tcPr>
                </a:tc>
                <a:tc gridSpan="4"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7E8D9B"/>
                          </a:solidFill>
                          <a:latin typeface="Menlo"/>
                        </a:rPr>
                        <a:t>cat1 multi_hop</a:t>
                      </a:r>
                    </a:p>
                    <a:p>
                      <a:pPr algn="ctr"/>
                      <a:r>
                        <a:rPr sz="750" b="0">
                          <a:solidFill>
                            <a:srgbClr val="7E8D9B"/>
                          </a:solidFill>
                          <a:latin typeface="Menlo"/>
                        </a:rPr>
                        <a:t>n = 32</a:t>
                      </a:r>
                    </a:p>
                  </a:txBody>
                  <a:tcPr anchor="ctr" marL="18288" marR="18288" marT="13716" marB="13716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>
                    <a:lnR w="9525" cap="flat" cmpd="sng" algn="ctr">
                      <a:solidFill>
                        <a:srgbClr val="D3DCD8"/>
                      </a:solidFill>
                    </a:lnR>
                  </a:tcPr>
                </a:tc>
                <a:tc gridSpan="4"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7E8D9B"/>
                          </a:solidFill>
                          <a:latin typeface="Menlo"/>
                        </a:rPr>
                        <a:t>Multi-hop Inference</a:t>
                      </a:r>
                    </a:p>
                    <a:p>
                      <a:pPr algn="ctr"/>
                      <a:r>
                        <a:rPr sz="750" b="0">
                          <a:solidFill>
                            <a:srgbClr val="7E8D9B"/>
                          </a:solidFill>
                          <a:latin typeface="Menlo"/>
                        </a:rPr>
                        <a:t>n = 25</a:t>
                      </a:r>
                    </a:p>
                  </a:txBody>
                  <a:tcPr anchor="ctr" marL="18288" marR="18288" marT="13716" marB="13716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>
                    <a:lnR w="9525" cap="flat" cmpd="sng" algn="ctr">
                      <a:solidFill>
                        <a:srgbClr val="D3DCD8"/>
                      </a:solidFill>
                    </a:lnR>
                  </a:tcPr>
                </a:tc>
                <a:tc gridSpan="4"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7E8D9B"/>
                          </a:solidFill>
                          <a:latin typeface="Menlo"/>
                        </a:rPr>
                        <a:t>long_hop</a:t>
                      </a:r>
                    </a:p>
                    <a:p>
                      <a:pPr algn="ctr"/>
                      <a:r>
                        <a:rPr sz="750" b="0">
                          <a:solidFill>
                            <a:srgbClr val="7E8D9B"/>
                          </a:solidFill>
                          <a:latin typeface="Menlo"/>
                        </a:rPr>
                        <a:t>n = 5</a:t>
                      </a:r>
                    </a:p>
                  </a:txBody>
                  <a:tcPr anchor="ctr" marL="18288" marR="18288" marT="13716" marB="13716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>
                    <a:lnR w="9525" cap="flat" cmpd="sng" algn="ctr">
                      <a:solidFill>
                        <a:srgbClr val="D3DCD8"/>
                      </a:solidFill>
                    </a:lnR>
                  </a:tcPr>
                </a:tc>
                <a:tc gridSpan="4"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7E8D9B"/>
                          </a:solidFill>
                          <a:latin typeface="Menlo"/>
                        </a:rPr>
                        <a:t>temporal-reasoning</a:t>
                      </a:r>
                    </a:p>
                    <a:p>
                      <a:pPr algn="ctr"/>
                      <a:r>
                        <a:rPr sz="750" b="0">
                          <a:solidFill>
                            <a:srgbClr val="7E8D9B"/>
                          </a:solidFill>
                          <a:latin typeface="Menlo"/>
                        </a:rPr>
                        <a:t>n = 3</a:t>
                      </a:r>
                    </a:p>
                  </a:txBody>
                  <a:tcPr anchor="ctr" marL="18288" marR="18288" marT="13716" marB="13716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>
                    <a:lnR w="9525" cap="flat" cmpd="sng" algn="ctr">
                      <a:solidFill>
                        <a:srgbClr val="D3DCD8"/>
                      </a:solidFill>
                    </a:lnR>
                  </a:tcPr>
                </a:tc>
                <a:tc gridSpan="4"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7E8D9B"/>
                          </a:solidFill>
                          <a:latin typeface="Menlo"/>
                        </a:rPr>
                        <a:t>cat2 temporal</a:t>
                      </a:r>
                    </a:p>
                    <a:p>
                      <a:pPr algn="ctr"/>
                      <a:r>
                        <a:rPr sz="750" b="0">
                          <a:solidFill>
                            <a:srgbClr val="7E8D9B"/>
                          </a:solidFill>
                          <a:latin typeface="Menlo"/>
                        </a:rPr>
                        <a:t>n = 37</a:t>
                      </a:r>
                    </a:p>
                  </a:txBody>
                  <a:tcPr anchor="ctr" marL="18288" marR="18288" marT="13716" marB="13716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4C5C6B"/>
                          </a:solidFill>
                          <a:latin typeface="Helvetica Neue"/>
                        </a:rPr>
                        <a:t>Backend</a:t>
                      </a:r>
                    </a:p>
                  </a:txBody>
                  <a:tcPr anchor="ctr" marL="18288" marR="18288" marT="13716" marB="13716">
                    <a:lnB w="19050" cap="flat" cmpd="sng" algn="ctr">
                      <a:solidFill>
                        <a:srgbClr val="141E2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4C5C6B"/>
                          </a:solidFill>
                          <a:latin typeface="Menlo"/>
                        </a:rPr>
                        <a:t>P1 ↓</a:t>
                      </a:r>
                    </a:p>
                  </a:txBody>
                  <a:tcPr anchor="ctr" marL="18288" marR="18288" marT="13716" marB="13716">
                    <a:lnB w="19050" cap="flat" cmpd="sng" algn="ctr">
                      <a:solidFill>
                        <a:srgbClr val="141E2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4C5C6B"/>
                          </a:solidFill>
                          <a:latin typeface="Menlo"/>
                        </a:rPr>
                        <a:t>P4 ↓</a:t>
                      </a:r>
                    </a:p>
                  </a:txBody>
                  <a:tcPr anchor="ctr" marL="18288" marR="18288" marT="13716" marB="13716">
                    <a:lnB w="19050" cap="flat" cmpd="sng" algn="ctr">
                      <a:solidFill>
                        <a:srgbClr val="141E2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4C5C6B"/>
                          </a:solidFill>
                          <a:latin typeface="Menlo"/>
                        </a:rPr>
                        <a:t>P5 ↓</a:t>
                      </a:r>
                    </a:p>
                  </a:txBody>
                  <a:tcPr anchor="ctr" marL="18288" marR="18288" marT="13716" marB="13716">
                    <a:lnB w="19050" cap="flat" cmpd="sng" algn="ctr">
                      <a:solidFill>
                        <a:srgbClr val="141E2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141E27"/>
                          </a:solidFill>
                          <a:latin typeface="Menlo"/>
                        </a:rPr>
                        <a:t>QA ↑</a:t>
                      </a:r>
                    </a:p>
                  </a:txBody>
                  <a:tcPr anchor="ctr" marL="18288" marR="18288" marT="13716" marB="13716">
                    <a:lnR w="9525" cap="flat" cmpd="sng" algn="ctr">
                      <a:solidFill>
                        <a:srgbClr val="D3DCD8"/>
                      </a:solidFill>
                    </a:lnR>
                    <a:lnB w="19050" cap="flat" cmpd="sng" algn="ctr">
                      <a:solidFill>
                        <a:srgbClr val="141E2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4C5C6B"/>
                          </a:solidFill>
                          <a:latin typeface="Menlo"/>
                        </a:rPr>
                        <a:t>P1 ↓</a:t>
                      </a:r>
                    </a:p>
                  </a:txBody>
                  <a:tcPr anchor="ctr" marL="18288" marR="18288" marT="13716" marB="13716">
                    <a:lnB w="19050" cap="flat" cmpd="sng" algn="ctr">
                      <a:solidFill>
                        <a:srgbClr val="141E2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4C5C6B"/>
                          </a:solidFill>
                          <a:latin typeface="Menlo"/>
                        </a:rPr>
                        <a:t>P4 ↓</a:t>
                      </a:r>
                    </a:p>
                  </a:txBody>
                  <a:tcPr anchor="ctr" marL="18288" marR="18288" marT="13716" marB="13716">
                    <a:lnB w="19050" cap="flat" cmpd="sng" algn="ctr">
                      <a:solidFill>
                        <a:srgbClr val="141E2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4C5C6B"/>
                          </a:solidFill>
                          <a:latin typeface="Menlo"/>
                        </a:rPr>
                        <a:t>P5 ↓</a:t>
                      </a:r>
                    </a:p>
                  </a:txBody>
                  <a:tcPr anchor="ctr" marL="18288" marR="18288" marT="13716" marB="13716">
                    <a:lnB w="19050" cap="flat" cmpd="sng" algn="ctr">
                      <a:solidFill>
                        <a:srgbClr val="141E2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141E27"/>
                          </a:solidFill>
                          <a:latin typeface="Menlo"/>
                        </a:rPr>
                        <a:t>QA ↑</a:t>
                      </a:r>
                    </a:p>
                  </a:txBody>
                  <a:tcPr anchor="ctr" marL="18288" marR="18288" marT="13716" marB="13716">
                    <a:lnR w="9525" cap="flat" cmpd="sng" algn="ctr">
                      <a:solidFill>
                        <a:srgbClr val="D3DCD8"/>
                      </a:solidFill>
                    </a:lnR>
                    <a:lnB w="19050" cap="flat" cmpd="sng" algn="ctr">
                      <a:solidFill>
                        <a:srgbClr val="141E2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4C5C6B"/>
                          </a:solidFill>
                          <a:latin typeface="Menlo"/>
                        </a:rPr>
                        <a:t>P1 ↓</a:t>
                      </a:r>
                    </a:p>
                  </a:txBody>
                  <a:tcPr anchor="ctr" marL="18288" marR="18288" marT="13716" marB="13716">
                    <a:lnB w="19050" cap="flat" cmpd="sng" algn="ctr">
                      <a:solidFill>
                        <a:srgbClr val="141E2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4C5C6B"/>
                          </a:solidFill>
                          <a:latin typeface="Menlo"/>
                        </a:rPr>
                        <a:t>P4 ↓</a:t>
                      </a:r>
                    </a:p>
                  </a:txBody>
                  <a:tcPr anchor="ctr" marL="18288" marR="18288" marT="13716" marB="13716">
                    <a:lnB w="19050" cap="flat" cmpd="sng" algn="ctr">
                      <a:solidFill>
                        <a:srgbClr val="141E2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4C5C6B"/>
                          </a:solidFill>
                          <a:latin typeface="Menlo"/>
                        </a:rPr>
                        <a:t>P5 ↓</a:t>
                      </a:r>
                    </a:p>
                  </a:txBody>
                  <a:tcPr anchor="ctr" marL="18288" marR="18288" marT="13716" marB="13716">
                    <a:lnB w="19050" cap="flat" cmpd="sng" algn="ctr">
                      <a:solidFill>
                        <a:srgbClr val="141E2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141E27"/>
                          </a:solidFill>
                          <a:latin typeface="Menlo"/>
                        </a:rPr>
                        <a:t>QA ↑</a:t>
                      </a:r>
                    </a:p>
                  </a:txBody>
                  <a:tcPr anchor="ctr" marL="18288" marR="18288" marT="13716" marB="13716">
                    <a:lnR w="9525" cap="flat" cmpd="sng" algn="ctr">
                      <a:solidFill>
                        <a:srgbClr val="D3DCD8"/>
                      </a:solidFill>
                    </a:lnR>
                    <a:lnB w="19050" cap="flat" cmpd="sng" algn="ctr">
                      <a:solidFill>
                        <a:srgbClr val="141E2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4C5C6B"/>
                          </a:solidFill>
                          <a:latin typeface="Menlo"/>
                        </a:rPr>
                        <a:t>P1 ↓</a:t>
                      </a:r>
                    </a:p>
                  </a:txBody>
                  <a:tcPr anchor="ctr" marL="18288" marR="18288" marT="13716" marB="13716">
                    <a:lnB w="19050" cap="flat" cmpd="sng" algn="ctr">
                      <a:solidFill>
                        <a:srgbClr val="141E2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4C5C6B"/>
                          </a:solidFill>
                          <a:latin typeface="Menlo"/>
                        </a:rPr>
                        <a:t>P4 ↓</a:t>
                      </a:r>
                    </a:p>
                  </a:txBody>
                  <a:tcPr anchor="ctr" marL="18288" marR="18288" marT="13716" marB="13716">
                    <a:lnB w="19050" cap="flat" cmpd="sng" algn="ctr">
                      <a:solidFill>
                        <a:srgbClr val="141E2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4C5C6B"/>
                          </a:solidFill>
                          <a:latin typeface="Menlo"/>
                        </a:rPr>
                        <a:t>P5 ↓</a:t>
                      </a:r>
                    </a:p>
                  </a:txBody>
                  <a:tcPr anchor="ctr" marL="18288" marR="18288" marT="13716" marB="13716">
                    <a:lnB w="19050" cap="flat" cmpd="sng" algn="ctr">
                      <a:solidFill>
                        <a:srgbClr val="141E2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141E27"/>
                          </a:solidFill>
                          <a:latin typeface="Menlo"/>
                        </a:rPr>
                        <a:t>QA ↑</a:t>
                      </a:r>
                    </a:p>
                  </a:txBody>
                  <a:tcPr anchor="ctr" marL="18288" marR="18288" marT="13716" marB="13716">
                    <a:lnR w="9525" cap="flat" cmpd="sng" algn="ctr">
                      <a:solidFill>
                        <a:srgbClr val="D3DCD8"/>
                      </a:solidFill>
                    </a:lnR>
                    <a:lnB w="19050" cap="flat" cmpd="sng" algn="ctr">
                      <a:solidFill>
                        <a:srgbClr val="141E2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4C5C6B"/>
                          </a:solidFill>
                          <a:latin typeface="Menlo"/>
                        </a:rPr>
                        <a:t>P1 ↓</a:t>
                      </a:r>
                    </a:p>
                  </a:txBody>
                  <a:tcPr anchor="ctr" marL="18288" marR="18288" marT="13716" marB="13716">
                    <a:lnB w="19050" cap="flat" cmpd="sng" algn="ctr">
                      <a:solidFill>
                        <a:srgbClr val="141E2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4C5C6B"/>
                          </a:solidFill>
                          <a:latin typeface="Menlo"/>
                        </a:rPr>
                        <a:t>P4 ↓</a:t>
                      </a:r>
                    </a:p>
                  </a:txBody>
                  <a:tcPr anchor="ctr" marL="18288" marR="18288" marT="13716" marB="13716">
                    <a:lnB w="19050" cap="flat" cmpd="sng" algn="ctr">
                      <a:solidFill>
                        <a:srgbClr val="141E2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4C5C6B"/>
                          </a:solidFill>
                          <a:latin typeface="Menlo"/>
                        </a:rPr>
                        <a:t>P5 ↓</a:t>
                      </a:r>
                    </a:p>
                  </a:txBody>
                  <a:tcPr anchor="ctr" marL="18288" marR="18288" marT="13716" marB="13716">
                    <a:lnB w="19050" cap="flat" cmpd="sng" algn="ctr">
                      <a:solidFill>
                        <a:srgbClr val="141E2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141E27"/>
                          </a:solidFill>
                          <a:latin typeface="Menlo"/>
                        </a:rPr>
                        <a:t>QA ↑</a:t>
                      </a:r>
                    </a:p>
                  </a:txBody>
                  <a:tcPr anchor="ctr" marL="18288" marR="18288" marT="13716" marB="13716">
                    <a:lnB w="19050" cap="flat" cmpd="sng" algn="ctr">
                      <a:solidFill>
                        <a:srgbClr val="141E27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41E27"/>
                          </a:solidFill>
                          <a:latin typeface="Helvetica Neue"/>
                        </a:rPr>
                        <a:t>Mem0 v1</a:t>
                      </a:r>
                    </a:p>
                  </a:txBody>
                  <a:tcPr anchor="ctr" marL="18288" marR="18288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4C5C6B"/>
                          </a:solidFill>
                          <a:latin typeface="Menlo"/>
                        </a:rPr>
                        <a:t>0.281</a:t>
                      </a:r>
                    </a:p>
                  </a:txBody>
                  <a:tcPr anchor="ctr" marL="18288" marR="18288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4C5C6B"/>
                          </a:solidFill>
                          <a:latin typeface="Menlo"/>
                        </a:rPr>
                        <a:t>0.156</a:t>
                      </a:r>
                    </a:p>
                  </a:txBody>
                  <a:tcPr anchor="ctr" marL="18288" marR="18288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4C5C6B"/>
                          </a:solidFill>
                          <a:latin typeface="Menlo"/>
                        </a:rPr>
                        <a:t>0.156</a:t>
                      </a:r>
                    </a:p>
                  </a:txBody>
                  <a:tcPr anchor="ctr" marL="18288" marR="18288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41E27"/>
                          </a:solidFill>
                          <a:latin typeface="Menlo"/>
                        </a:rPr>
                        <a:t>0.406</a:t>
                      </a:r>
                    </a:p>
                  </a:txBody>
                  <a:tcPr anchor="ctr" marL="18288" marR="18288" marT="13716" marB="13716">
                    <a:lnR w="9525" cap="flat" cmpd="sng" algn="ctr">
                      <a:solidFill>
                        <a:srgbClr val="D3DCD8"/>
                      </a:solidFill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4C5C6B"/>
                          </a:solidFill>
                          <a:latin typeface="Menlo"/>
                        </a:rPr>
                        <a:t>0.120</a:t>
                      </a:r>
                    </a:p>
                  </a:txBody>
                  <a:tcPr anchor="ctr" marL="18288" marR="18288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4C5C6B"/>
                          </a:solidFill>
                          <a:latin typeface="Menlo"/>
                        </a:rPr>
                        <a:t>0.160</a:t>
                      </a:r>
                    </a:p>
                  </a:txBody>
                  <a:tcPr anchor="ctr" marL="18288" marR="18288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4C5C6B"/>
                          </a:solidFill>
                          <a:latin typeface="Menlo"/>
                        </a:rPr>
                        <a:t>0.600</a:t>
                      </a:r>
                    </a:p>
                  </a:txBody>
                  <a:tcPr anchor="ctr" marL="18288" marR="18288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41E27"/>
                          </a:solidFill>
                          <a:latin typeface="Menlo"/>
                        </a:rPr>
                        <a:t>0.120</a:t>
                      </a:r>
                    </a:p>
                  </a:txBody>
                  <a:tcPr anchor="ctr" marL="18288" marR="18288" marT="13716" marB="13716">
                    <a:lnR w="9525" cap="flat" cmpd="sng" algn="ctr">
                      <a:solidFill>
                        <a:srgbClr val="D3DCD8"/>
                      </a:solidFill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4C5C6B"/>
                          </a:solidFill>
                          <a:latin typeface="Menlo"/>
                        </a:rPr>
                        <a:t>n/a</a:t>
                      </a:r>
                    </a:p>
                  </a:txBody>
                  <a:tcPr anchor="ctr" marL="18288" marR="18288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4C5C6B"/>
                          </a:solidFill>
                          <a:latin typeface="Menlo"/>
                        </a:rPr>
                        <a:t>n/a</a:t>
                      </a:r>
                    </a:p>
                  </a:txBody>
                  <a:tcPr anchor="ctr" marL="18288" marR="18288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4C5C6B"/>
                          </a:solidFill>
                          <a:latin typeface="Menlo"/>
                        </a:rPr>
                        <a:t>n/a</a:t>
                      </a:r>
                    </a:p>
                  </a:txBody>
                  <a:tcPr anchor="ctr" marL="18288" marR="18288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141E27"/>
                          </a:solidFill>
                          <a:latin typeface="Menlo"/>
                        </a:rPr>
                        <a:t>1.000</a:t>
                      </a:r>
                    </a:p>
                  </a:txBody>
                  <a:tcPr anchor="ctr" marL="18288" marR="18288" marT="13716" marB="13716">
                    <a:lnR w="9525" cap="flat" cmpd="sng" algn="ctr">
                      <a:solidFill>
                        <a:srgbClr val="D3DCD8"/>
                      </a:solidFill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4C5C6B"/>
                          </a:solidFill>
                          <a:latin typeface="Menlo"/>
                        </a:rPr>
                        <a:t>0.667</a:t>
                      </a:r>
                    </a:p>
                  </a:txBody>
                  <a:tcPr anchor="ctr" marL="18288" marR="18288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4C5C6B"/>
                          </a:solidFill>
                          <a:latin typeface="Menlo"/>
                        </a:rPr>
                        <a:t>0.000</a:t>
                      </a:r>
                    </a:p>
                  </a:txBody>
                  <a:tcPr anchor="ctr" marL="18288" marR="18288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4C5C6B"/>
                          </a:solidFill>
                          <a:latin typeface="Menlo"/>
                        </a:rPr>
                        <a:t>0.333</a:t>
                      </a:r>
                    </a:p>
                  </a:txBody>
                  <a:tcPr anchor="ctr" marL="18288" marR="18288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41E27"/>
                          </a:solidFill>
                          <a:latin typeface="Menlo"/>
                        </a:rPr>
                        <a:t>0.000</a:t>
                      </a:r>
                    </a:p>
                  </a:txBody>
                  <a:tcPr anchor="ctr" marL="18288" marR="18288" marT="13716" marB="13716">
                    <a:lnR w="9525" cap="flat" cmpd="sng" algn="ctr">
                      <a:solidFill>
                        <a:srgbClr val="D3DCD8"/>
                      </a:solidFill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4C5C6B"/>
                          </a:solidFill>
                          <a:latin typeface="Menlo"/>
                        </a:rPr>
                        <a:t>0.946</a:t>
                      </a:r>
                    </a:p>
                  </a:txBody>
                  <a:tcPr anchor="ctr" marL="18288" marR="18288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4C5C6B"/>
                          </a:solidFill>
                          <a:latin typeface="Menlo"/>
                        </a:rPr>
                        <a:t>0.054</a:t>
                      </a:r>
                    </a:p>
                  </a:txBody>
                  <a:tcPr anchor="ctr" marL="18288" marR="18288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4C5C6B"/>
                          </a:solidFill>
                          <a:latin typeface="Menlo"/>
                        </a:rPr>
                        <a:t>0.000</a:t>
                      </a:r>
                    </a:p>
                  </a:txBody>
                  <a:tcPr anchor="ctr" marL="18288" marR="18288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41E27"/>
                          </a:solidFill>
                          <a:latin typeface="Menlo"/>
                        </a:rPr>
                        <a:t>0.000</a:t>
                      </a:r>
                    </a:p>
                  </a:txBody>
                  <a:tcPr anchor="ctr" marL="18288" marR="18288" marT="13716" marB="13716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41E27"/>
                          </a:solidFill>
                          <a:latin typeface="Helvetica Neue"/>
                        </a:rPr>
                        <a:t>Mem0 v2</a:t>
                      </a:r>
                    </a:p>
                  </a:txBody>
                  <a:tcPr anchor="ctr" marL="18288" marR="18288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4C5C6B"/>
                          </a:solidFill>
                          <a:latin typeface="Menlo"/>
                        </a:rPr>
                        <a:t>0.156</a:t>
                      </a:r>
                    </a:p>
                  </a:txBody>
                  <a:tcPr anchor="ctr" marL="18288" marR="18288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4C5C6B"/>
                          </a:solidFill>
                          <a:latin typeface="Menlo"/>
                        </a:rPr>
                        <a:t>0.125</a:t>
                      </a:r>
                    </a:p>
                  </a:txBody>
                  <a:tcPr anchor="ctr" marL="18288" marR="18288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4C5C6B"/>
                          </a:solidFill>
                          <a:latin typeface="Menlo"/>
                        </a:rPr>
                        <a:t>0.219</a:t>
                      </a:r>
                    </a:p>
                  </a:txBody>
                  <a:tcPr anchor="ctr" marL="18288" marR="18288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41E27"/>
                          </a:solidFill>
                          <a:latin typeface="Menlo"/>
                        </a:rPr>
                        <a:t>0.500</a:t>
                      </a:r>
                    </a:p>
                  </a:txBody>
                  <a:tcPr anchor="ctr" marL="18288" marR="18288" marT="13716" marB="13716">
                    <a:lnR w="9525" cap="flat" cmpd="sng" algn="ctr">
                      <a:solidFill>
                        <a:srgbClr val="D3DCD8"/>
                      </a:solidFill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4C5C6B"/>
                          </a:solidFill>
                          <a:latin typeface="Menlo"/>
                        </a:rPr>
                        <a:t>0.000</a:t>
                      </a:r>
                    </a:p>
                  </a:txBody>
                  <a:tcPr anchor="ctr" marL="18288" marR="18288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4C5C6B"/>
                          </a:solidFill>
                          <a:latin typeface="Menlo"/>
                        </a:rPr>
                        <a:t>0.160</a:t>
                      </a:r>
                    </a:p>
                  </a:txBody>
                  <a:tcPr anchor="ctr" marL="18288" marR="18288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4C5C6B"/>
                          </a:solidFill>
                          <a:latin typeface="Menlo"/>
                        </a:rPr>
                        <a:t>0.720</a:t>
                      </a:r>
                    </a:p>
                  </a:txBody>
                  <a:tcPr anchor="ctr" marL="18288" marR="18288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41E27"/>
                          </a:solidFill>
                          <a:latin typeface="Menlo"/>
                        </a:rPr>
                        <a:t>0.120</a:t>
                      </a:r>
                    </a:p>
                  </a:txBody>
                  <a:tcPr anchor="ctr" marL="18288" marR="18288" marT="13716" marB="13716">
                    <a:lnR w="9525" cap="flat" cmpd="sng" algn="ctr">
                      <a:solidFill>
                        <a:srgbClr val="D3DCD8"/>
                      </a:solidFill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4C5C6B"/>
                          </a:solidFill>
                          <a:latin typeface="Menlo"/>
                        </a:rPr>
                        <a:t>n/a</a:t>
                      </a:r>
                    </a:p>
                  </a:txBody>
                  <a:tcPr anchor="ctr" marL="18288" marR="18288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4C5C6B"/>
                          </a:solidFill>
                          <a:latin typeface="Menlo"/>
                        </a:rPr>
                        <a:t>n/a</a:t>
                      </a:r>
                    </a:p>
                  </a:txBody>
                  <a:tcPr anchor="ctr" marL="18288" marR="18288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4C5C6B"/>
                          </a:solidFill>
                          <a:latin typeface="Menlo"/>
                        </a:rPr>
                        <a:t>n/a</a:t>
                      </a:r>
                    </a:p>
                  </a:txBody>
                  <a:tcPr anchor="ctr" marL="18288" marR="18288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141E27"/>
                          </a:solidFill>
                          <a:latin typeface="Menlo"/>
                        </a:rPr>
                        <a:t>1.000</a:t>
                      </a:r>
                    </a:p>
                  </a:txBody>
                  <a:tcPr anchor="ctr" marL="18288" marR="18288" marT="13716" marB="13716">
                    <a:lnR w="9525" cap="flat" cmpd="sng" algn="ctr">
                      <a:solidFill>
                        <a:srgbClr val="D3DCD8"/>
                      </a:solidFill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4C5C6B"/>
                          </a:solidFill>
                          <a:latin typeface="Menlo"/>
                        </a:rPr>
                        <a:t>0.667</a:t>
                      </a:r>
                    </a:p>
                  </a:txBody>
                  <a:tcPr anchor="ctr" marL="18288" marR="18288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4C5C6B"/>
                          </a:solidFill>
                          <a:latin typeface="Menlo"/>
                        </a:rPr>
                        <a:t>0.000</a:t>
                      </a:r>
                    </a:p>
                  </a:txBody>
                  <a:tcPr anchor="ctr" marL="18288" marR="18288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4C5C6B"/>
                          </a:solidFill>
                          <a:latin typeface="Menlo"/>
                        </a:rPr>
                        <a:t>0.000</a:t>
                      </a:r>
                    </a:p>
                  </a:txBody>
                  <a:tcPr anchor="ctr" marL="18288" marR="18288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41E27"/>
                          </a:solidFill>
                          <a:latin typeface="Menlo"/>
                        </a:rPr>
                        <a:t>0.333</a:t>
                      </a:r>
                    </a:p>
                  </a:txBody>
                  <a:tcPr anchor="ctr" marL="18288" marR="18288" marT="13716" marB="13716">
                    <a:lnR w="9525" cap="flat" cmpd="sng" algn="ctr">
                      <a:solidFill>
                        <a:srgbClr val="D3DCD8"/>
                      </a:solidFill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4C5C6B"/>
                          </a:solidFill>
                          <a:latin typeface="Menlo"/>
                        </a:rPr>
                        <a:t>0.919</a:t>
                      </a:r>
                    </a:p>
                  </a:txBody>
                  <a:tcPr anchor="ctr" marL="18288" marR="18288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4C5C6B"/>
                          </a:solidFill>
                          <a:latin typeface="Menlo"/>
                        </a:rPr>
                        <a:t>0.027</a:t>
                      </a:r>
                    </a:p>
                  </a:txBody>
                  <a:tcPr anchor="ctr" marL="18288" marR="18288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4C5C6B"/>
                          </a:solidFill>
                          <a:latin typeface="Menlo"/>
                        </a:rPr>
                        <a:t>0.000</a:t>
                      </a:r>
                    </a:p>
                  </a:txBody>
                  <a:tcPr anchor="ctr" marL="18288" marR="18288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41E27"/>
                          </a:solidFill>
                          <a:latin typeface="Menlo"/>
                        </a:rPr>
                        <a:t>0.054</a:t>
                      </a:r>
                    </a:p>
                  </a:txBody>
                  <a:tcPr anchor="ctr" marL="18288" marR="18288" marT="13716" marB="13716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41E27"/>
                          </a:solidFill>
                          <a:latin typeface="Helvetica Neue"/>
                        </a:rPr>
                        <a:t>StructMem</a:t>
                      </a:r>
                    </a:p>
                  </a:txBody>
                  <a:tcPr anchor="ctr" marL="18288" marR="18288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4C5C6B"/>
                          </a:solidFill>
                          <a:latin typeface="Menlo"/>
                        </a:rPr>
                        <a:t>0.062</a:t>
                      </a:r>
                    </a:p>
                  </a:txBody>
                  <a:tcPr anchor="ctr" marL="18288" marR="18288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4C5C6B"/>
                          </a:solidFill>
                          <a:latin typeface="Menlo"/>
                        </a:rPr>
                        <a:t>0.062</a:t>
                      </a:r>
                    </a:p>
                  </a:txBody>
                  <a:tcPr anchor="ctr" marL="18288" marR="18288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4C5C6B"/>
                          </a:solidFill>
                          <a:latin typeface="Menlo"/>
                        </a:rPr>
                        <a:t>0.344</a:t>
                      </a:r>
                    </a:p>
                  </a:txBody>
                  <a:tcPr anchor="ctr" marL="18288" marR="18288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41E27"/>
                          </a:solidFill>
                          <a:latin typeface="Menlo"/>
                        </a:rPr>
                        <a:t>0.531</a:t>
                      </a:r>
                    </a:p>
                  </a:txBody>
                  <a:tcPr anchor="ctr" marL="18288" marR="18288" marT="13716" marB="13716">
                    <a:lnR w="9525" cap="flat" cmpd="sng" algn="ctr">
                      <a:solidFill>
                        <a:srgbClr val="D3DCD8"/>
                      </a:solidFill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4C5C6B"/>
                          </a:solidFill>
                          <a:latin typeface="Menlo"/>
                        </a:rPr>
                        <a:t>0.043</a:t>
                      </a:r>
                    </a:p>
                  </a:txBody>
                  <a:tcPr anchor="ctr" marL="18288" marR="18288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4C5C6B"/>
                          </a:solidFill>
                          <a:latin typeface="Menlo"/>
                        </a:rPr>
                        <a:t>0.130</a:t>
                      </a:r>
                    </a:p>
                  </a:txBody>
                  <a:tcPr anchor="ctr" marL="18288" marR="18288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4C5C6B"/>
                          </a:solidFill>
                          <a:latin typeface="Menlo"/>
                        </a:rPr>
                        <a:t>0.783</a:t>
                      </a:r>
                    </a:p>
                  </a:txBody>
                  <a:tcPr anchor="ctr" marL="18288" marR="18288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41E27"/>
                          </a:solidFill>
                          <a:latin typeface="Menlo"/>
                        </a:rPr>
                        <a:t>0.043</a:t>
                      </a:r>
                    </a:p>
                  </a:txBody>
                  <a:tcPr anchor="ctr" marL="18288" marR="18288" marT="13716" marB="13716">
                    <a:lnR w="9525" cap="flat" cmpd="sng" algn="ctr">
                      <a:solidFill>
                        <a:srgbClr val="D3DCD8"/>
                      </a:solidFill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4C5C6B"/>
                          </a:solidFill>
                          <a:latin typeface="Menlo"/>
                        </a:rPr>
                        <a:t>n/a</a:t>
                      </a:r>
                    </a:p>
                  </a:txBody>
                  <a:tcPr anchor="ctr" marL="18288" marR="18288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4C5C6B"/>
                          </a:solidFill>
                          <a:latin typeface="Menlo"/>
                        </a:rPr>
                        <a:t>n/a</a:t>
                      </a:r>
                    </a:p>
                  </a:txBody>
                  <a:tcPr anchor="ctr" marL="18288" marR="18288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4C5C6B"/>
                          </a:solidFill>
                          <a:latin typeface="Menlo"/>
                        </a:rPr>
                        <a:t>n/a</a:t>
                      </a:r>
                    </a:p>
                  </a:txBody>
                  <a:tcPr anchor="ctr" marL="18288" marR="18288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141E27"/>
                          </a:solidFill>
                          <a:latin typeface="Menlo"/>
                        </a:rPr>
                        <a:t>1.000</a:t>
                      </a:r>
                    </a:p>
                  </a:txBody>
                  <a:tcPr anchor="ctr" marL="18288" marR="18288" marT="13716" marB="13716">
                    <a:lnR w="9525" cap="flat" cmpd="sng" algn="ctr">
                      <a:solidFill>
                        <a:srgbClr val="D3DCD8"/>
                      </a:solidFill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4C5C6B"/>
                          </a:solidFill>
                          <a:latin typeface="Menlo"/>
                        </a:rPr>
                        <a:t>0.333</a:t>
                      </a:r>
                    </a:p>
                  </a:txBody>
                  <a:tcPr anchor="ctr" marL="18288" marR="18288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4C5C6B"/>
                          </a:solidFill>
                          <a:latin typeface="Menlo"/>
                        </a:rPr>
                        <a:t>0.000</a:t>
                      </a:r>
                    </a:p>
                  </a:txBody>
                  <a:tcPr anchor="ctr" marL="18288" marR="18288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4C5C6B"/>
                          </a:solidFill>
                          <a:latin typeface="Menlo"/>
                        </a:rPr>
                        <a:t>0.000</a:t>
                      </a:r>
                    </a:p>
                  </a:txBody>
                  <a:tcPr anchor="ctr" marL="18288" marR="18288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141E27"/>
                          </a:solidFill>
                          <a:latin typeface="Menlo"/>
                        </a:rPr>
                        <a:t>0.667</a:t>
                      </a:r>
                    </a:p>
                  </a:txBody>
                  <a:tcPr anchor="ctr" marL="18288" marR="18288" marT="13716" marB="13716">
                    <a:lnR w="9525" cap="flat" cmpd="sng" algn="ctr">
                      <a:solidFill>
                        <a:srgbClr val="D3DCD8"/>
                      </a:solidFill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4C5C6B"/>
                          </a:solidFill>
                          <a:latin typeface="Menlo"/>
                        </a:rPr>
                        <a:t>0.054</a:t>
                      </a:r>
                    </a:p>
                  </a:txBody>
                  <a:tcPr anchor="ctr" marL="18288" marR="18288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4C5C6B"/>
                          </a:solidFill>
                          <a:latin typeface="Menlo"/>
                        </a:rPr>
                        <a:t>0.000</a:t>
                      </a:r>
                    </a:p>
                  </a:txBody>
                  <a:tcPr anchor="ctr" marL="18288" marR="18288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4C5C6B"/>
                          </a:solidFill>
                          <a:latin typeface="Menlo"/>
                        </a:rPr>
                        <a:t>0.108</a:t>
                      </a:r>
                    </a:p>
                  </a:txBody>
                  <a:tcPr anchor="ctr" marL="18288" marR="18288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141E27"/>
                          </a:solidFill>
                          <a:latin typeface="Menlo"/>
                        </a:rPr>
                        <a:t>0.838</a:t>
                      </a:r>
                    </a:p>
                  </a:txBody>
                  <a:tcPr anchor="ctr" marL="18288" marR="18288" marT="13716" marB="13716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41E27"/>
                          </a:solidFill>
                          <a:latin typeface="Helvetica Neue"/>
                        </a:rPr>
                        <a:t>A-MEM</a:t>
                      </a:r>
                    </a:p>
                  </a:txBody>
                  <a:tcPr anchor="ctr" marL="18288" marR="18288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4C5C6B"/>
                          </a:solidFill>
                          <a:latin typeface="Menlo"/>
                        </a:rPr>
                        <a:t>0.156</a:t>
                      </a:r>
                    </a:p>
                  </a:txBody>
                  <a:tcPr anchor="ctr" marL="18288" marR="18288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4C5C6B"/>
                          </a:solidFill>
                          <a:latin typeface="Menlo"/>
                        </a:rPr>
                        <a:t>0.344</a:t>
                      </a:r>
                    </a:p>
                  </a:txBody>
                  <a:tcPr anchor="ctr" marL="18288" marR="18288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4C5C6B"/>
                          </a:solidFill>
                          <a:latin typeface="Menlo"/>
                        </a:rPr>
                        <a:t>0.219</a:t>
                      </a:r>
                    </a:p>
                  </a:txBody>
                  <a:tcPr anchor="ctr" marL="18288" marR="18288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41E27"/>
                          </a:solidFill>
                          <a:latin typeface="Menlo"/>
                        </a:rPr>
                        <a:t>0.281</a:t>
                      </a:r>
                    </a:p>
                  </a:txBody>
                  <a:tcPr anchor="ctr" marL="18288" marR="18288" marT="13716" marB="13716">
                    <a:lnR w="9525" cap="flat" cmpd="sng" algn="ctr">
                      <a:solidFill>
                        <a:srgbClr val="D3DCD8"/>
                      </a:solidFill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4C5C6B"/>
                          </a:solidFill>
                          <a:latin typeface="Menlo"/>
                        </a:rPr>
                        <a:t>0.000</a:t>
                      </a:r>
                    </a:p>
                  </a:txBody>
                  <a:tcPr anchor="ctr" marL="18288" marR="18288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4C5C6B"/>
                          </a:solidFill>
                          <a:latin typeface="Menlo"/>
                        </a:rPr>
                        <a:t>0.160</a:t>
                      </a:r>
                    </a:p>
                  </a:txBody>
                  <a:tcPr anchor="ctr" marL="18288" marR="18288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4C5C6B"/>
                          </a:solidFill>
                          <a:latin typeface="Menlo"/>
                        </a:rPr>
                        <a:t>0.720</a:t>
                      </a:r>
                    </a:p>
                  </a:txBody>
                  <a:tcPr anchor="ctr" marL="18288" marR="18288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41E27"/>
                          </a:solidFill>
                          <a:latin typeface="Menlo"/>
                        </a:rPr>
                        <a:t>0.120</a:t>
                      </a:r>
                    </a:p>
                  </a:txBody>
                  <a:tcPr anchor="ctr" marL="18288" marR="18288" marT="13716" marB="13716">
                    <a:lnR w="9525" cap="flat" cmpd="sng" algn="ctr">
                      <a:solidFill>
                        <a:srgbClr val="D3DCD8"/>
                      </a:solidFill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4C5C6B"/>
                          </a:solidFill>
                          <a:latin typeface="Menlo"/>
                        </a:rPr>
                        <a:t>n/a</a:t>
                      </a:r>
                    </a:p>
                  </a:txBody>
                  <a:tcPr anchor="ctr" marL="18288" marR="18288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4C5C6B"/>
                          </a:solidFill>
                          <a:latin typeface="Menlo"/>
                        </a:rPr>
                        <a:t>n/a</a:t>
                      </a:r>
                    </a:p>
                  </a:txBody>
                  <a:tcPr anchor="ctr" marL="18288" marR="18288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4C5C6B"/>
                          </a:solidFill>
                          <a:latin typeface="Menlo"/>
                        </a:rPr>
                        <a:t>n/a</a:t>
                      </a:r>
                    </a:p>
                  </a:txBody>
                  <a:tcPr anchor="ctr" marL="18288" marR="18288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41E27"/>
                          </a:solidFill>
                          <a:latin typeface="Menlo"/>
                        </a:rPr>
                        <a:t>0.600</a:t>
                      </a:r>
                    </a:p>
                  </a:txBody>
                  <a:tcPr anchor="ctr" marL="18288" marR="18288" marT="13716" marB="13716">
                    <a:lnR w="9525" cap="flat" cmpd="sng" algn="ctr">
                      <a:solidFill>
                        <a:srgbClr val="D3DCD8"/>
                      </a:solidFill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4C5C6B"/>
                          </a:solidFill>
                          <a:latin typeface="Menlo"/>
                        </a:rPr>
                        <a:t>0.667</a:t>
                      </a:r>
                    </a:p>
                  </a:txBody>
                  <a:tcPr anchor="ctr" marL="18288" marR="18288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4C5C6B"/>
                          </a:solidFill>
                          <a:latin typeface="Menlo"/>
                        </a:rPr>
                        <a:t>0.000</a:t>
                      </a:r>
                    </a:p>
                  </a:txBody>
                  <a:tcPr anchor="ctr" marL="18288" marR="18288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4C5C6B"/>
                          </a:solidFill>
                          <a:latin typeface="Menlo"/>
                        </a:rPr>
                        <a:t>0.333</a:t>
                      </a:r>
                    </a:p>
                  </a:txBody>
                  <a:tcPr anchor="ctr" marL="18288" marR="18288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41E27"/>
                          </a:solidFill>
                          <a:latin typeface="Menlo"/>
                        </a:rPr>
                        <a:t>0.000</a:t>
                      </a:r>
                    </a:p>
                  </a:txBody>
                  <a:tcPr anchor="ctr" marL="18288" marR="18288" marT="13716" marB="13716">
                    <a:lnR w="9525" cap="flat" cmpd="sng" algn="ctr">
                      <a:solidFill>
                        <a:srgbClr val="D3DCD8"/>
                      </a:solidFill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4C5C6B"/>
                          </a:solidFill>
                          <a:latin typeface="Menlo"/>
                        </a:rPr>
                        <a:t>0.865</a:t>
                      </a:r>
                    </a:p>
                  </a:txBody>
                  <a:tcPr anchor="ctr" marL="18288" marR="18288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4C5C6B"/>
                          </a:solidFill>
                          <a:latin typeface="Menlo"/>
                        </a:rPr>
                        <a:t>0.027</a:t>
                      </a:r>
                    </a:p>
                  </a:txBody>
                  <a:tcPr anchor="ctr" marL="18288" marR="18288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4C5C6B"/>
                          </a:solidFill>
                          <a:latin typeface="Menlo"/>
                        </a:rPr>
                        <a:t>0.081</a:t>
                      </a:r>
                    </a:p>
                  </a:txBody>
                  <a:tcPr anchor="ctr" marL="18288" marR="18288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41E27"/>
                          </a:solidFill>
                          <a:latin typeface="Menlo"/>
                        </a:rPr>
                        <a:t>0.027</a:t>
                      </a:r>
                    </a:p>
                  </a:txBody>
                  <a:tcPr anchor="ctr" marL="18288" marR="18288" marT="13716" marB="13716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41E27"/>
                          </a:solidFill>
                          <a:latin typeface="Helvetica Neue"/>
                        </a:rPr>
                        <a:t>Letta</a:t>
                      </a:r>
                    </a:p>
                  </a:txBody>
                  <a:tcPr anchor="ctr" marL="18288" marR="18288" marT="13716" marB="13716">
                    <a:lnB w="19050" cap="flat" cmpd="sng" algn="ctr">
                      <a:solidFill>
                        <a:srgbClr val="141E27"/>
                      </a:solidFill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4C5C6B"/>
                          </a:solidFill>
                          <a:latin typeface="Menlo"/>
                        </a:rPr>
                        <a:t>0.094</a:t>
                      </a:r>
                    </a:p>
                  </a:txBody>
                  <a:tcPr anchor="ctr" marL="18288" marR="18288" marT="13716" marB="13716">
                    <a:lnB w="19050" cap="flat" cmpd="sng" algn="ctr">
                      <a:solidFill>
                        <a:srgbClr val="141E27"/>
                      </a:solidFill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4C5C6B"/>
                          </a:solidFill>
                          <a:latin typeface="Menlo"/>
                        </a:rPr>
                        <a:t>0.000</a:t>
                      </a:r>
                    </a:p>
                  </a:txBody>
                  <a:tcPr anchor="ctr" marL="18288" marR="18288" marT="13716" marB="13716">
                    <a:lnB w="19050" cap="flat" cmpd="sng" algn="ctr">
                      <a:solidFill>
                        <a:srgbClr val="141E27"/>
                      </a:solidFill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4C5C6B"/>
                          </a:solidFill>
                          <a:latin typeface="Menlo"/>
                        </a:rPr>
                        <a:t>0.281</a:t>
                      </a:r>
                    </a:p>
                  </a:txBody>
                  <a:tcPr anchor="ctr" marL="18288" marR="18288" marT="13716" marB="13716">
                    <a:lnB w="19050" cap="flat" cmpd="sng" algn="ctr">
                      <a:solidFill>
                        <a:srgbClr val="141E27"/>
                      </a:solidFill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141E27"/>
                          </a:solidFill>
                          <a:latin typeface="Menlo"/>
                        </a:rPr>
                        <a:t>0.625</a:t>
                      </a:r>
                    </a:p>
                  </a:txBody>
                  <a:tcPr anchor="ctr" marL="18288" marR="18288" marT="13716" marB="13716">
                    <a:lnR w="9525" cap="flat" cmpd="sng" algn="ctr">
                      <a:solidFill>
                        <a:srgbClr val="D3DCD8"/>
                      </a:solidFill>
                    </a:lnR>
                    <a:lnB w="19050" cap="flat" cmpd="sng" algn="ctr">
                      <a:solidFill>
                        <a:srgbClr val="141E27"/>
                      </a:solidFill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4C5C6B"/>
                          </a:solidFill>
                          <a:latin typeface="Menlo"/>
                        </a:rPr>
                        <a:t>0.120</a:t>
                      </a:r>
                    </a:p>
                  </a:txBody>
                  <a:tcPr anchor="ctr" marL="18288" marR="18288" marT="13716" marB="13716">
                    <a:lnB w="19050" cap="flat" cmpd="sng" algn="ctr">
                      <a:solidFill>
                        <a:srgbClr val="141E27"/>
                      </a:solidFill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4C5C6B"/>
                          </a:solidFill>
                          <a:latin typeface="Menlo"/>
                        </a:rPr>
                        <a:t>0.240</a:t>
                      </a:r>
                    </a:p>
                  </a:txBody>
                  <a:tcPr anchor="ctr" marL="18288" marR="18288" marT="13716" marB="13716">
                    <a:lnB w="19050" cap="flat" cmpd="sng" algn="ctr">
                      <a:solidFill>
                        <a:srgbClr val="141E27"/>
                      </a:solidFill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4C5C6B"/>
                          </a:solidFill>
                          <a:latin typeface="Menlo"/>
                        </a:rPr>
                        <a:t>0.480</a:t>
                      </a:r>
                    </a:p>
                  </a:txBody>
                  <a:tcPr anchor="ctr" marL="18288" marR="18288" marT="13716" marB="13716">
                    <a:lnB w="19050" cap="flat" cmpd="sng" algn="ctr">
                      <a:solidFill>
                        <a:srgbClr val="141E27"/>
                      </a:solidFill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141E27"/>
                          </a:solidFill>
                          <a:latin typeface="Menlo"/>
                        </a:rPr>
                        <a:t>0.160</a:t>
                      </a:r>
                    </a:p>
                  </a:txBody>
                  <a:tcPr anchor="ctr" marL="18288" marR="18288" marT="13716" marB="13716">
                    <a:lnR w="9525" cap="flat" cmpd="sng" algn="ctr">
                      <a:solidFill>
                        <a:srgbClr val="D3DCD8"/>
                      </a:solidFill>
                    </a:lnR>
                    <a:lnB w="19050" cap="flat" cmpd="sng" algn="ctr">
                      <a:solidFill>
                        <a:srgbClr val="141E27"/>
                      </a:solidFill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4C5C6B"/>
                          </a:solidFill>
                          <a:latin typeface="Menlo"/>
                        </a:rPr>
                        <a:t>n/a</a:t>
                      </a:r>
                    </a:p>
                  </a:txBody>
                  <a:tcPr anchor="ctr" marL="18288" marR="18288" marT="13716" marB="13716">
                    <a:lnB w="19050" cap="flat" cmpd="sng" algn="ctr">
                      <a:solidFill>
                        <a:srgbClr val="141E27"/>
                      </a:solidFill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4C5C6B"/>
                          </a:solidFill>
                          <a:latin typeface="Menlo"/>
                        </a:rPr>
                        <a:t>n/a</a:t>
                      </a:r>
                    </a:p>
                  </a:txBody>
                  <a:tcPr anchor="ctr" marL="18288" marR="18288" marT="13716" marB="13716">
                    <a:lnB w="19050" cap="flat" cmpd="sng" algn="ctr">
                      <a:solidFill>
                        <a:srgbClr val="141E27"/>
                      </a:solidFill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4C5C6B"/>
                          </a:solidFill>
                          <a:latin typeface="Menlo"/>
                        </a:rPr>
                        <a:t>n/a</a:t>
                      </a:r>
                    </a:p>
                  </a:txBody>
                  <a:tcPr anchor="ctr" marL="18288" marR="18288" marT="13716" marB="13716">
                    <a:lnB w="19050" cap="flat" cmpd="sng" algn="ctr">
                      <a:solidFill>
                        <a:srgbClr val="141E27"/>
                      </a:solidFill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41E27"/>
                          </a:solidFill>
                          <a:latin typeface="Menlo"/>
                        </a:rPr>
                        <a:t>0.800</a:t>
                      </a:r>
                    </a:p>
                  </a:txBody>
                  <a:tcPr anchor="ctr" marL="18288" marR="18288" marT="13716" marB="13716">
                    <a:lnR w="9525" cap="flat" cmpd="sng" algn="ctr">
                      <a:solidFill>
                        <a:srgbClr val="D3DCD8"/>
                      </a:solidFill>
                    </a:lnR>
                    <a:lnB w="19050" cap="flat" cmpd="sng" algn="ctr">
                      <a:solidFill>
                        <a:srgbClr val="141E27"/>
                      </a:solidFill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4C5C6B"/>
                          </a:solidFill>
                          <a:latin typeface="Menlo"/>
                        </a:rPr>
                        <a:t>0.667</a:t>
                      </a:r>
                    </a:p>
                  </a:txBody>
                  <a:tcPr anchor="ctr" marL="18288" marR="18288" marT="13716" marB="13716">
                    <a:lnB w="19050" cap="flat" cmpd="sng" algn="ctr">
                      <a:solidFill>
                        <a:srgbClr val="141E27"/>
                      </a:solidFill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4C5C6B"/>
                          </a:solidFill>
                          <a:latin typeface="Menlo"/>
                        </a:rPr>
                        <a:t>0.000</a:t>
                      </a:r>
                    </a:p>
                  </a:txBody>
                  <a:tcPr anchor="ctr" marL="18288" marR="18288" marT="13716" marB="13716">
                    <a:lnB w="19050" cap="flat" cmpd="sng" algn="ctr">
                      <a:solidFill>
                        <a:srgbClr val="141E27"/>
                      </a:solidFill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4C5C6B"/>
                          </a:solidFill>
                          <a:latin typeface="Menlo"/>
                        </a:rPr>
                        <a:t>0.000</a:t>
                      </a:r>
                    </a:p>
                  </a:txBody>
                  <a:tcPr anchor="ctr" marL="18288" marR="18288" marT="13716" marB="13716">
                    <a:lnB w="19050" cap="flat" cmpd="sng" algn="ctr">
                      <a:solidFill>
                        <a:srgbClr val="141E27"/>
                      </a:solidFill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41E27"/>
                          </a:solidFill>
                          <a:latin typeface="Menlo"/>
                        </a:rPr>
                        <a:t>0.333</a:t>
                      </a:r>
                    </a:p>
                  </a:txBody>
                  <a:tcPr anchor="ctr" marL="18288" marR="18288" marT="13716" marB="13716">
                    <a:lnR w="9525" cap="flat" cmpd="sng" algn="ctr">
                      <a:solidFill>
                        <a:srgbClr val="D3DCD8"/>
                      </a:solidFill>
                    </a:lnR>
                    <a:lnB w="19050" cap="flat" cmpd="sng" algn="ctr">
                      <a:solidFill>
                        <a:srgbClr val="141E27"/>
                      </a:solidFill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AC4712"/>
                          </a:solidFill>
                          <a:latin typeface="Menlo"/>
                        </a:rPr>
                        <a:t>0.784</a:t>
                      </a:r>
                    </a:p>
                  </a:txBody>
                  <a:tcPr anchor="ctr" marL="18288" marR="18288" marT="13716" marB="13716">
                    <a:lnB w="19050" cap="flat" cmpd="sng" algn="ctr">
                      <a:solidFill>
                        <a:srgbClr val="141E27"/>
                      </a:solidFill>
                    </a:lnB>
                    <a:solidFill>
                      <a:srgbClr val="FAEE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4C5C6B"/>
                          </a:solidFill>
                          <a:latin typeface="Menlo"/>
                        </a:rPr>
                        <a:t>0.000</a:t>
                      </a:r>
                    </a:p>
                  </a:txBody>
                  <a:tcPr anchor="ctr" marL="18288" marR="18288" marT="13716" marB="13716">
                    <a:lnB w="19050" cap="flat" cmpd="sng" algn="ctr">
                      <a:solidFill>
                        <a:srgbClr val="141E27"/>
                      </a:solidFill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4C5C6B"/>
                          </a:solidFill>
                          <a:latin typeface="Menlo"/>
                        </a:rPr>
                        <a:t>0.216</a:t>
                      </a:r>
                    </a:p>
                  </a:txBody>
                  <a:tcPr anchor="ctr" marL="18288" marR="18288" marT="13716" marB="13716">
                    <a:lnB w="19050" cap="flat" cmpd="sng" algn="ctr">
                      <a:solidFill>
                        <a:srgbClr val="141E27"/>
                      </a:solidFill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AC4712"/>
                          </a:solidFill>
                          <a:latin typeface="Menlo"/>
                        </a:rPr>
                        <a:t>0.000</a:t>
                      </a:r>
                    </a:p>
                  </a:txBody>
                  <a:tcPr anchor="ctr" marL="18288" marR="18288" marT="13716" marB="13716">
                    <a:lnB w="19050" cap="flat" cmpd="sng" algn="ctr">
                      <a:solidFill>
                        <a:srgbClr val="141E27"/>
                      </a:solidFill>
                    </a:lnB>
                    <a:solidFill>
                      <a:srgbClr val="FAEEE6"/>
                    </a:solidFill>
                  </a:tcPr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274320" y="1133856"/>
            <a:ext cx="1092708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25000"/>
              </a:lnSpc>
            </a:pPr>
            <a:r>
              <a:rPr sz="1300" b="1" i="0">
                <a:solidFill>
                  <a:srgbClr val="141E27"/>
                </a:solidFill>
                <a:latin typeface="Helvetica Neue"/>
              </a:rPr>
              <a:t>Table 1.  Stage breakdown by subset  (batch 6, all backends on gemma-4-31B-it)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4663440"/>
            <a:ext cx="1092708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25000"/>
              </a:lnSpc>
            </a:pPr>
            <a:r>
              <a:rPr sz="950" b="0" i="1">
                <a:solidFill>
                  <a:srgbClr val="7E8D9B"/>
                </a:solidFill>
                <a:latin typeface="Helvetica Neue"/>
              </a:rPr>
              <a:t>P1 + P4 + P5 is that subset's error rate, so each block reads as the decomposition followed by the outcome it explains. Bold is the best value in a column. MemFail reports its own error categories rather than probe stages, so those three cells read n/a. Temporal is shown per subset rather than pooled: LoCoMo holds 37 of that group's 40 questions.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