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097280" y="1700784"/>
          <a:ext cx="9966960" cy="23408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1051560"/>
                <a:gridCol w="1051560"/>
                <a:gridCol w="1051560"/>
                <a:gridCol w="1051560"/>
                <a:gridCol w="1051560"/>
                <a:gridCol w="1051560"/>
                <a:gridCol w="1051560"/>
                <a:gridCol w="1051560"/>
              </a:tblGrid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41E27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 gridSpan="4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6685A"/>
                          </a:solidFill>
                          <a:latin typeface="Helvetica Neue"/>
                        </a:rPr>
                        <a:t>Multi-hop composition</a:t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7E8D9B"/>
                          </a:solidFill>
                          <a:latin typeface="Helvetica Neue"/>
                        </a:rPr>
                        <a:t>LoCoMo multi-hop + HaluMem multi-hop   ·   n = 57</a:t>
                      </a:r>
                    </a:p>
                  </a:txBody>
                  <a:tcPr anchor="ctr" marL="18288" marR="18288" marT="13716" marB="13716">
                    <a:lnB w="12700" cap="flat" cmpd="sng" algn="ctr">
                      <a:solidFill>
                        <a:srgbClr val="16685A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6685A"/>
                          </a:solidFill>
                          <a:latin typeface="Helvetica Neue"/>
                        </a:rPr>
                        <a:t>Temporal reasoning</a:t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7E8D9B"/>
                          </a:solidFill>
                          <a:latin typeface="Helvetica Neue"/>
                        </a:rPr>
                        <a:t>LongMemEval + LoCoMo temporal   ·   n = 40</a:t>
                      </a:r>
                    </a:p>
                  </a:txBody>
                  <a:tcPr anchor="ctr" marL="18288" marR="18288" marT="13716" marB="13716">
                    <a:lnB w="12700" cap="flat" cmpd="sng" algn="ctr">
                      <a:solidFill>
                        <a:srgbClr val="16685A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4C5C6B"/>
                          </a:solidFill>
                          <a:latin typeface="Helvetica Neue"/>
                        </a:rPr>
                        <a:t>Backend</a:t>
                      </a:r>
                    </a:p>
                  </a:txBody>
                  <a:tcPr anchor="ctr" marL="18288" marR="18288" marT="13716" marB="13716">
                    <a:lnB w="19050" cap="flat" cmpd="sng" algn="ctr">
                      <a:solidFill>
                        <a:srgbClr val="141E2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4C5C6B"/>
                          </a:solidFill>
                          <a:latin typeface="Menlo"/>
                        </a:rPr>
                        <a:t>P1 ↓</a:t>
                      </a:r>
                    </a:p>
                  </a:txBody>
                  <a:tcPr anchor="ctr" marL="18288" marR="18288" marT="13716" marB="13716">
                    <a:lnB w="19050" cap="flat" cmpd="sng" algn="ctr">
                      <a:solidFill>
                        <a:srgbClr val="141E2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4C5C6B"/>
                          </a:solidFill>
                          <a:latin typeface="Menlo"/>
                        </a:rPr>
                        <a:t>P4 ↓</a:t>
                      </a:r>
                    </a:p>
                  </a:txBody>
                  <a:tcPr anchor="ctr" marL="18288" marR="18288" marT="13716" marB="13716">
                    <a:lnB w="19050" cap="flat" cmpd="sng" algn="ctr">
                      <a:solidFill>
                        <a:srgbClr val="141E2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4C5C6B"/>
                          </a:solidFill>
                          <a:latin typeface="Menlo"/>
                        </a:rPr>
                        <a:t>P5 ↓</a:t>
                      </a:r>
                    </a:p>
                  </a:txBody>
                  <a:tcPr anchor="ctr" marL="18288" marR="18288" marT="13716" marB="13716">
                    <a:lnB w="19050" cap="flat" cmpd="sng" algn="ctr">
                      <a:solidFill>
                        <a:srgbClr val="141E2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1E27"/>
                          </a:solidFill>
                          <a:latin typeface="Menlo"/>
                        </a:rPr>
                        <a:t>QA ↑</a:t>
                      </a:r>
                    </a:p>
                  </a:txBody>
                  <a:tcPr anchor="ctr" marL="18288" marR="18288" marT="13716" marB="13716">
                    <a:lnR w="9525" cap="flat" cmpd="sng" algn="ctr">
                      <a:solidFill>
                        <a:srgbClr val="D3DCD8"/>
                      </a:solidFill>
                    </a:lnR>
                    <a:lnB w="19050" cap="flat" cmpd="sng" algn="ctr">
                      <a:solidFill>
                        <a:srgbClr val="141E2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4C5C6B"/>
                          </a:solidFill>
                          <a:latin typeface="Menlo"/>
                        </a:rPr>
                        <a:t>P1 ↓</a:t>
                      </a:r>
                    </a:p>
                  </a:txBody>
                  <a:tcPr anchor="ctr" marL="18288" marR="18288" marT="13716" marB="13716">
                    <a:lnB w="19050" cap="flat" cmpd="sng" algn="ctr">
                      <a:solidFill>
                        <a:srgbClr val="141E2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4C5C6B"/>
                          </a:solidFill>
                          <a:latin typeface="Menlo"/>
                        </a:rPr>
                        <a:t>P4 ↓</a:t>
                      </a:r>
                    </a:p>
                  </a:txBody>
                  <a:tcPr anchor="ctr" marL="18288" marR="18288" marT="13716" marB="13716">
                    <a:lnB w="19050" cap="flat" cmpd="sng" algn="ctr">
                      <a:solidFill>
                        <a:srgbClr val="141E2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4C5C6B"/>
                          </a:solidFill>
                          <a:latin typeface="Menlo"/>
                        </a:rPr>
                        <a:t>P5 ↓</a:t>
                      </a:r>
                    </a:p>
                  </a:txBody>
                  <a:tcPr anchor="ctr" marL="18288" marR="18288" marT="13716" marB="13716">
                    <a:lnB w="19050" cap="flat" cmpd="sng" algn="ctr">
                      <a:solidFill>
                        <a:srgbClr val="141E2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1E27"/>
                          </a:solidFill>
                          <a:latin typeface="Menlo"/>
                        </a:rPr>
                        <a:t>QA ↑</a:t>
                      </a:r>
                    </a:p>
                  </a:txBody>
                  <a:tcPr anchor="ctr" marL="18288" marR="18288" marT="13716" marB="13716">
                    <a:lnB w="19050" cap="flat" cmpd="sng" algn="ctr">
                      <a:solidFill>
                        <a:srgbClr val="141E27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1E27"/>
                          </a:solidFill>
                          <a:latin typeface="Helvetica Neue"/>
                        </a:rPr>
                        <a:t>Mem0 v1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0.211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0.158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C5C6B"/>
                          </a:solidFill>
                          <a:latin typeface="Menlo"/>
                        </a:rPr>
                        <a:t>0.351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E27"/>
                          </a:solidFill>
                          <a:latin typeface="Menlo"/>
                        </a:rPr>
                        <a:t>0.281</a:t>
                      </a:r>
                    </a:p>
                  </a:txBody>
                  <a:tcPr anchor="ctr" marL="18288" marR="18288" marT="13716" marB="13716">
                    <a:lnR w="9525" cap="flat" cmpd="sng" algn="ctr">
                      <a:solidFill>
                        <a:srgbClr val="D3DCD8"/>
                      </a:solidFill>
                    </a:ln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0.925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0.050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0.025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E27"/>
                          </a:solidFill>
                          <a:latin typeface="Menlo"/>
                        </a:rPr>
                        <a:t>0.000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1E27"/>
                          </a:solidFill>
                          <a:latin typeface="Helvetica Neue"/>
                        </a:rPr>
                        <a:t>Mem0 v2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0.088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0.140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0.439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E27"/>
                          </a:solidFill>
                          <a:latin typeface="Menlo"/>
                        </a:rPr>
                        <a:t>0.333</a:t>
                      </a:r>
                    </a:p>
                  </a:txBody>
                  <a:tcPr anchor="ctr" marL="18288" marR="18288" marT="13716" marB="13716">
                    <a:lnR w="9525" cap="flat" cmpd="sng" algn="ctr">
                      <a:solidFill>
                        <a:srgbClr val="D3DCD8"/>
                      </a:solidFill>
                    </a:ln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0.900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0.025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C5C6B"/>
                          </a:solidFill>
                          <a:latin typeface="Menlo"/>
                        </a:rPr>
                        <a:t>0.000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E27"/>
                          </a:solidFill>
                          <a:latin typeface="Menlo"/>
                        </a:rPr>
                        <a:t>0.075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1E27"/>
                          </a:solidFill>
                          <a:latin typeface="Helvetica Neue"/>
                        </a:rPr>
                        <a:t>StructMem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C5C6B"/>
                          </a:solidFill>
                          <a:latin typeface="Menlo"/>
                        </a:rPr>
                        <a:t>0.055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C5C6B"/>
                          </a:solidFill>
                          <a:latin typeface="Menlo"/>
                        </a:rPr>
                        <a:t>0.091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0.527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E27"/>
                          </a:solidFill>
                          <a:latin typeface="Menlo"/>
                        </a:rPr>
                        <a:t>0.327</a:t>
                      </a:r>
                    </a:p>
                  </a:txBody>
                  <a:tcPr anchor="ctr" marL="18288" marR="18288" marT="13716" marB="13716">
                    <a:lnR w="9525" cap="flat" cmpd="sng" algn="ctr">
                      <a:solidFill>
                        <a:srgbClr val="D3DCD8"/>
                      </a:solidFill>
                    </a:ln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6685A"/>
                          </a:solidFill>
                          <a:latin typeface="Menlo"/>
                        </a:rPr>
                        <a:t>0.075</a:t>
                      </a:r>
                    </a:p>
                  </a:txBody>
                  <a:tcPr anchor="ctr" marL="18288" marR="18288" marT="13716" marB="13716">
                    <a:solidFill>
                      <a:srgbClr val="E6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C5C6B"/>
                          </a:solidFill>
                          <a:latin typeface="Menlo"/>
                        </a:rPr>
                        <a:t>0.000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0.100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6685A"/>
                          </a:solidFill>
                          <a:latin typeface="Menlo"/>
                        </a:rPr>
                        <a:t>0.825</a:t>
                      </a:r>
                    </a:p>
                  </a:txBody>
                  <a:tcPr anchor="ctr" marL="18288" marR="18288" marT="13716" marB="13716">
                    <a:solidFill>
                      <a:srgbClr val="E6F2EE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1E27"/>
                          </a:solidFill>
                          <a:latin typeface="Helvetica Neue"/>
                        </a:rPr>
                        <a:t>A-MEM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0.088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0.263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0.439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E27"/>
                          </a:solidFill>
                          <a:latin typeface="Menlo"/>
                        </a:rPr>
                        <a:t>0.211</a:t>
                      </a:r>
                    </a:p>
                  </a:txBody>
                  <a:tcPr anchor="ctr" marL="18288" marR="18288" marT="13716" marB="13716">
                    <a:lnR w="9525" cap="flat" cmpd="sng" algn="ctr">
                      <a:solidFill>
                        <a:srgbClr val="D3DCD8"/>
                      </a:solidFill>
                    </a:ln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0.850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0.025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0.100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E27"/>
                          </a:solidFill>
                          <a:latin typeface="Menlo"/>
                        </a:rPr>
                        <a:t>0.025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1E27"/>
                          </a:solidFill>
                          <a:latin typeface="Helvetica Neue"/>
                        </a:rPr>
                        <a:t>Letta</a:t>
                      </a:r>
                    </a:p>
                  </a:txBody>
                  <a:tcPr anchor="ctr" marL="18288" marR="18288" marT="13716" marB="13716">
                    <a:lnB w="19050" cap="flat" cmpd="sng" algn="ctr">
                      <a:solidFill>
                        <a:srgbClr val="141E27"/>
                      </a:solidFill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0.105</a:t>
                      </a:r>
                    </a:p>
                  </a:txBody>
                  <a:tcPr anchor="ctr" marL="18288" marR="18288" marT="13716" marB="13716">
                    <a:lnB w="19050" cap="flat" cmpd="sng" algn="ctr">
                      <a:solidFill>
                        <a:srgbClr val="141E27"/>
                      </a:solidFill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0.105</a:t>
                      </a:r>
                    </a:p>
                  </a:txBody>
                  <a:tcPr anchor="ctr" marL="18288" marR="18288" marT="13716" marB="13716">
                    <a:lnB w="19050" cap="flat" cmpd="sng" algn="ctr">
                      <a:solidFill>
                        <a:srgbClr val="141E27"/>
                      </a:solidFill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0.368</a:t>
                      </a:r>
                    </a:p>
                  </a:txBody>
                  <a:tcPr anchor="ctr" marL="18288" marR="18288" marT="13716" marB="13716">
                    <a:lnB w="19050" cap="flat" cmpd="sng" algn="ctr">
                      <a:solidFill>
                        <a:srgbClr val="141E27"/>
                      </a:solidFill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41E27"/>
                          </a:solidFill>
                          <a:latin typeface="Menlo"/>
                        </a:rPr>
                        <a:t>0.421</a:t>
                      </a:r>
                    </a:p>
                  </a:txBody>
                  <a:tcPr anchor="ctr" marL="18288" marR="18288" marT="13716" marB="13716">
                    <a:lnR w="9525" cap="flat" cmpd="sng" algn="ctr">
                      <a:solidFill>
                        <a:srgbClr val="D3DCD8"/>
                      </a:solidFill>
                    </a:lnR>
                    <a:lnB w="19050" cap="flat" cmpd="sng" algn="ctr">
                      <a:solidFill>
                        <a:srgbClr val="141E27"/>
                      </a:solidFill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AC4712"/>
                          </a:solidFill>
                          <a:latin typeface="Menlo"/>
                        </a:rPr>
                        <a:t>0.775</a:t>
                      </a:r>
                    </a:p>
                  </a:txBody>
                  <a:tcPr anchor="ctr" marL="18288" marR="18288" marT="13716" marB="13716">
                    <a:lnB w="19050" cap="flat" cmpd="sng" algn="ctr">
                      <a:solidFill>
                        <a:srgbClr val="141E27"/>
                      </a:solidFill>
                    </a:lnB>
                    <a:solidFill>
                      <a:srgbClr val="FAEE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C5C6B"/>
                          </a:solidFill>
                          <a:latin typeface="Menlo"/>
                        </a:rPr>
                        <a:t>0.000</a:t>
                      </a:r>
                    </a:p>
                  </a:txBody>
                  <a:tcPr anchor="ctr" marL="18288" marR="18288" marT="13716" marB="13716">
                    <a:lnB w="19050" cap="flat" cmpd="sng" algn="ctr">
                      <a:solidFill>
                        <a:srgbClr val="141E27"/>
                      </a:solidFill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0.200</a:t>
                      </a:r>
                    </a:p>
                  </a:txBody>
                  <a:tcPr anchor="ctr" marL="18288" marR="18288" marT="13716" marB="13716">
                    <a:lnB w="19050" cap="flat" cmpd="sng" algn="ctr">
                      <a:solidFill>
                        <a:srgbClr val="141E27"/>
                      </a:solidFill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AC4712"/>
                          </a:solidFill>
                          <a:latin typeface="Menlo"/>
                        </a:rPr>
                        <a:t>0.025</a:t>
                      </a:r>
                    </a:p>
                  </a:txBody>
                  <a:tcPr anchor="ctr" marL="18288" marR="18288" marT="13716" marB="13716">
                    <a:lnB w="19050" cap="flat" cmpd="sng" algn="ctr">
                      <a:solidFill>
                        <a:srgbClr val="141E27"/>
                      </a:solidFill>
                    </a:lnB>
                    <a:solidFill>
                      <a:srgbClr val="FAEEE6"/>
                    </a:solidFill>
                  </a:tcPr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1097280" y="1207008"/>
            <a:ext cx="996696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 i="0">
                <a:solidFill>
                  <a:srgbClr val="141E27"/>
                </a:solidFill>
                <a:latin typeface="Helvetica Neue"/>
              </a:rPr>
              <a:t>Table 1.  Stage breakdown by functional group  (batch 6, all backends on gemma-4-31B-it)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828032"/>
            <a:ext cx="996696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25000"/>
              </a:lnSpc>
            </a:pPr>
            <a:r>
              <a:rPr sz="950" b="0" i="1">
                <a:solidFill>
                  <a:srgbClr val="7E8D9B"/>
                </a:solidFill>
                <a:latin typeface="Helvetica Neue"/>
              </a:rPr>
              <a:t>P1 + P4 + P5 + QA sums to 1.000 on every row: each question is assigned to exactly one stage, so the three failure rates are the complement of accuracy. Bold is the best value in a column. Subsets are pooled by question count. MemFail long_hop is excluded from multi-hop because it reports the benchmark's own error categories rather than probe stages, so it can contribute accuracy but no stages; temporal has no MemFail subset and is unaffected.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