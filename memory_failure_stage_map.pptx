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430000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96A3"/>
                </a:solidFill>
                <a:latin typeface="PingFang TC"/>
              </a:rPr>
              <a:t>LAB PROGRESS · MEMORY FAILURE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29184"/>
            <a:ext cx="11430000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430"/>
                </a:solidFill>
                <a:latin typeface="PingFang TC"/>
              </a:rPr>
              <a:t>記憶系統的四個失效階段 —— 以及我跑的每個資料集各自測哪一段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13232"/>
            <a:ext cx="114300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875"/>
                </a:solidFill>
                <a:latin typeface="PingFang TC"/>
              </a:rPr>
              <a:t>先前我提出「記憶會在不同階段出錯」的假設,現在領域已有共識與專有名詞:</a:t>
            </a:r>
            <a:r>
              <a:rPr sz="1050" b="1" i="0">
                <a:solidFill>
                  <a:srgbClr val="1B2430"/>
                </a:solidFill>
                <a:latin typeface="PingFang TC"/>
              </a:rPr>
              <a:t>MemFail (2026) 把它形式化成四個失效模式。</a:t>
            </a:r>
            <a:r>
              <a:rPr sz="1050" b="0" i="0">
                <a:solidFill>
                  <a:srgbClr val="5A6875"/>
                </a:solidFill>
                <a:latin typeface="PingFang TC"/>
              </a:rPr>
              <a:t>下表把 4 個 benchmark、共 20 個子集,以及我自己加的探針,全部對回這四段。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24128"/>
            <a:ext cx="2798064" cy="694944"/>
          </a:xfrm>
          <a:prstGeom prst="roundRect">
            <a:avLst>
              <a:gd name="adj" fmla="val 8000"/>
            </a:avLst>
          </a:prstGeom>
          <a:solidFill>
            <a:srgbClr val="E4F0EE"/>
          </a:solidFill>
          <a:ln w="12700">
            <a:solidFill>
              <a:srgbClr val="1F6F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750" b="1" i="0">
                <a:solidFill>
                  <a:srgbClr val="1F6F68"/>
                </a:solidFill>
                <a:latin typeface="PingFang TC"/>
              </a:rPr>
              <a:t>SUMMARY FAILURE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00" b="1" i="0">
                <a:solidFill>
                  <a:srgbClr val="1F6F68"/>
                </a:solidFill>
                <a:latin typeface="PingFang TC"/>
              </a:rPr>
              <a:t>摘要 / 抽取失真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780" b="0" i="0">
                <a:solidFill>
                  <a:srgbClr val="5A6875"/>
                </a:solidFill>
                <a:latin typeface="PingFang TC"/>
              </a:rPr>
              <a:t>壓成記憶時刪掉或扭曲關鍵資訊
例:「致命花生過敏」→「花生過敏」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95828" y="1280160"/>
            <a:ext cx="128016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6A3"/>
                </a:solidFill>
                <a:latin typeface="PingFang TC"/>
              </a:rPr>
              <a:t>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8416" y="1024128"/>
            <a:ext cx="2798064" cy="694944"/>
          </a:xfrm>
          <a:prstGeom prst="roundRect">
            <a:avLst>
              <a:gd name="adj" fmla="val 8000"/>
            </a:avLst>
          </a:prstGeom>
          <a:solidFill>
            <a:srgbClr val="E3ECF7"/>
          </a:solidFill>
          <a:ln w="12700">
            <a:solidFill>
              <a:srgbClr val="2E5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750" b="1" i="0">
                <a:solidFill>
                  <a:srgbClr val="2E5F9E"/>
                </a:solidFill>
                <a:latin typeface="PingFang TC"/>
              </a:rPr>
              <a:t>STORAGE FAILURE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00" b="1" i="0">
                <a:solidFill>
                  <a:srgbClr val="2E5F9E"/>
                </a:solidFill>
                <a:latin typeface="PingFang TC"/>
              </a:rPr>
              <a:t>儲存失敗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780" b="0" i="0">
                <a:solidFill>
                  <a:srgbClr val="5A6875"/>
                </a:solidFill>
                <a:latin typeface="PingFang TC"/>
              </a:rPr>
              <a:t>抽出的內容沒被正確納入記憶庫
(a) 拒絕覆寫過時事實 (b) 誤判可並存為矛盾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0196" y="1280160"/>
            <a:ext cx="128016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6A3"/>
                </a:solidFill>
                <a:latin typeface="PingFang TC"/>
              </a:rPr>
              <a:t>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024128"/>
            <a:ext cx="2798064" cy="694944"/>
          </a:xfrm>
          <a:prstGeom prst="roundRect">
            <a:avLst>
              <a:gd name="adj" fmla="val 8000"/>
            </a:avLst>
          </a:prstGeom>
          <a:solidFill>
            <a:srgbClr val="F7EDE0"/>
          </a:solidFill>
          <a:ln w="12700">
            <a:solidFill>
              <a:srgbClr val="9A5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750" b="1" i="0">
                <a:solidFill>
                  <a:srgbClr val="9A5B1E"/>
                </a:solidFill>
                <a:latin typeface="PingFang TC"/>
              </a:rPr>
              <a:t>RETRIEVAL FAILURE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00" b="1" i="0">
                <a:solidFill>
                  <a:srgbClr val="9A5B1E"/>
                </a:solidFill>
                <a:latin typeface="PingFang TC"/>
              </a:rPr>
              <a:t>檢索失敗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780" b="0" i="0">
                <a:solidFill>
                  <a:srgbClr val="5A6875"/>
                </a:solidFill>
                <a:latin typeface="PingFang TC"/>
              </a:rPr>
              <a:t>沒撈回相關記憶,或撈回語意相近
但情境不對的記憶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4564" y="1280160"/>
            <a:ext cx="128016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6A3"/>
                </a:solidFill>
                <a:latin typeface="PingFang TC"/>
              </a:rPr>
              <a:t>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7152" y="1024128"/>
            <a:ext cx="2798064" cy="694944"/>
          </a:xfrm>
          <a:prstGeom prst="roundRect">
            <a:avLst>
              <a:gd name="adj" fmla="val 8000"/>
            </a:avLst>
          </a:prstGeom>
          <a:solidFill>
            <a:srgbClr val="F6E7EE"/>
          </a:solidFill>
          <a:ln w="12700">
            <a:solidFill>
              <a:srgbClr val="8A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750" b="1" i="0">
                <a:solidFill>
                  <a:srgbClr val="8A3F63"/>
                </a:solidFill>
                <a:latin typeface="PingFang TC"/>
              </a:rPr>
              <a:t>REASONING FAILURE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00" b="1" i="0">
                <a:solidFill>
                  <a:srgbClr val="8A3F63"/>
                </a:solidFill>
                <a:latin typeface="PingFang TC"/>
              </a:rPr>
              <a:t>答題推理失敗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780" b="0" i="0">
                <a:solidFill>
                  <a:srgbClr val="5A6875"/>
                </a:solidFill>
                <a:latin typeface="PingFang TC"/>
              </a:rPr>
              <a:t>記憶存對也撈對了,模型仍答錯
(非記憶系統的錯,但需量測才能歸因)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1847088"/>
            <a:ext cx="2471851" cy="237744"/>
          </a:xfrm>
          <a:prstGeom prst="roundRect">
            <a:avLst>
              <a:gd name="adj" fmla="val 8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6F68"/>
                </a:solidFill>
                <a:latin typeface="PingFang TC"/>
              </a:rPr>
              <a:t>Summary 摘要失真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9211" y="1847088"/>
            <a:ext cx="2471851" cy="237744"/>
          </a:xfrm>
          <a:prstGeom prst="roundRect">
            <a:avLst>
              <a:gd name="adj" fmla="val 8000"/>
            </a:avLst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5F9E"/>
                </a:solidFill>
                <a:latin typeface="PingFang TC"/>
              </a:rPr>
              <a:t>Storage 儲存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2503" y="1847088"/>
            <a:ext cx="2471851" cy="237744"/>
          </a:xfrm>
          <a:prstGeom prst="roundRect">
            <a:avLst>
              <a:gd name="adj" fmla="val 8000"/>
            </a:avLst>
          </a:prstGeom>
          <a:solidFill>
            <a:srgbClr val="F7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5B1E"/>
                </a:solidFill>
                <a:latin typeface="PingFang TC"/>
              </a:rPr>
              <a:t>Retrieval 檢索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5795" y="1847088"/>
            <a:ext cx="2471851" cy="237744"/>
          </a:xfrm>
          <a:prstGeom prst="roundRect">
            <a:avLst>
              <a:gd name="adj" fmla="val 8000"/>
            </a:avLst>
          </a:prstGeom>
          <a:solidFill>
            <a:srgbClr val="F6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3F63"/>
                </a:solidFill>
                <a:latin typeface="PingFang TC"/>
              </a:rPr>
              <a:t>Reasoning 答題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2121408"/>
            <a:ext cx="1170432" cy="603504"/>
          </a:xfrm>
          <a:prstGeom prst="roundRect">
            <a:avLst>
              <a:gd name="adj" fmla="val 8000"/>
            </a:avLst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B2430"/>
                </a:solidFill>
                <a:latin typeface="PingFang TC"/>
              </a:rPr>
              <a:t>MemFail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80" b="0" i="0">
                <a:solidFill>
                  <a:srgbClr val="8A96A3"/>
                </a:solidFill>
                <a:latin typeface="PingFang TC"/>
              </a:rPr>
              <a:t>合成對抗 · 4 子集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2121408"/>
            <a:ext cx="2471851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1F6F68"/>
                </a:solidFill>
                <a:latin typeface="PingFang TC"/>
              </a:rPr>
              <a:t>▪ conditional_facts (easy)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1F6F68"/>
                </a:solidFill>
                <a:latin typeface="PingFang TC"/>
              </a:rPr>
              <a:t>▪ conditional_facts (hard)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9211" y="2121408"/>
            <a:ext cx="2471851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2E5F9E"/>
                </a:solidFill>
                <a:latin typeface="PingFang TC"/>
              </a:rPr>
              <a:t>▪ coexisting_facts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2E5F9E"/>
                </a:solidFill>
                <a:latin typeface="PingFang TC"/>
              </a:rPr>
              <a:t>▪ persona_retrieval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72503" y="2121408"/>
            <a:ext cx="2471851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9A5B1E"/>
                </a:solidFill>
                <a:latin typeface="PingFang TC"/>
              </a:rPr>
              <a:t>▪ long_hop (K=1,2,3)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0" i="1">
                <a:solidFill>
                  <a:srgbClr val="5A6875"/>
                </a:solidFill>
                <a:latin typeface="PingFang TC"/>
              </a:rPr>
              <a:t>· coexisting_facts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35795" y="2121408"/>
            <a:ext cx="2471851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0" i="1">
                <a:solidFill>
                  <a:srgbClr val="5A6875"/>
                </a:solidFill>
                <a:latin typeface="PingFang TC"/>
              </a:rPr>
              <a:t>· persona_retrieval (misleading)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2779776"/>
            <a:ext cx="1170432" cy="786384"/>
          </a:xfrm>
          <a:prstGeom prst="roundRect">
            <a:avLst>
              <a:gd name="adj" fmla="val 8000"/>
            </a:avLst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B2430"/>
                </a:solidFill>
                <a:latin typeface="PingFang TC"/>
              </a:rPr>
              <a:t>HaluMem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80" b="0" i="0">
                <a:solidFill>
                  <a:srgbClr val="8A96A3"/>
                </a:solidFill>
                <a:latin typeface="PingFang TC"/>
              </a:rPr>
              <a:t>真實對話 · 6 題型+指標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45920" y="2779776"/>
            <a:ext cx="2471851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1F6F68"/>
                </a:solidFill>
                <a:latin typeface="PingFang TC"/>
              </a:rPr>
              <a:t>▪ memory_accuracy (target)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1F6F68"/>
                </a:solidFill>
                <a:latin typeface="PingFang TC"/>
              </a:rPr>
              <a:t>▪ memory_extraction_f1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9211" y="2779776"/>
            <a:ext cx="2471851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2E5F9E"/>
                </a:solidFill>
                <a:latin typeface="PingFang TC"/>
              </a:rPr>
              <a:t>▪ memory_integrity (recall)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2E5F9E"/>
                </a:solidFill>
                <a:latin typeface="PingFang TC"/>
              </a:rPr>
              <a:t>▪ memory_update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2E5F9E"/>
                </a:solidFill>
                <a:latin typeface="PingFang TC"/>
              </a:rPr>
              <a:t>▪ Q: Memory Conflict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2E5F9E"/>
                </a:solidFill>
                <a:latin typeface="PingFang TC"/>
              </a:rPr>
              <a:t>▪ Q: Dynamic Update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0" i="1">
                <a:solidFill>
                  <a:srgbClr val="5A6875"/>
                </a:solidFill>
                <a:latin typeface="PingFang TC"/>
              </a:rPr>
              <a:t>· memory_accuracy (interference)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72503" y="2779776"/>
            <a:ext cx="2471851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9A5B1E"/>
                </a:solidFill>
                <a:latin typeface="PingFang TC"/>
              </a:rPr>
              <a:t>▪ Q: Basic Fact Recall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9A5B1E"/>
                </a:solidFill>
                <a:latin typeface="PingFang TC"/>
              </a:rPr>
              <a:t>▪ Q: Multi-hop Inference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35795" y="2779776"/>
            <a:ext cx="2471851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8A3F63"/>
                </a:solidFill>
                <a:latin typeface="PingFang TC"/>
              </a:rPr>
              <a:t>▪ Q: Memory Boundary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8A3F63"/>
                </a:solidFill>
                <a:latin typeface="PingFang TC"/>
              </a:rPr>
              <a:t>▪ Q: Generalization &amp; Application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3621024"/>
            <a:ext cx="1170432" cy="603504"/>
          </a:xfrm>
          <a:prstGeom prst="roundRect">
            <a:avLst>
              <a:gd name="adj" fmla="val 8000"/>
            </a:avLst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B2430"/>
                </a:solidFill>
                <a:latin typeface="PingFang TC"/>
              </a:rPr>
              <a:t>LongMemEval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80" b="0" i="0">
                <a:solidFill>
                  <a:srgbClr val="8A96A3"/>
                </a:solidFill>
                <a:latin typeface="PingFang TC"/>
              </a:rPr>
              <a:t>真實對話 · 6 題型+拒答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45920" y="3621024"/>
            <a:ext cx="2471851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0" i="1">
                <a:solidFill>
                  <a:srgbClr val="5A6875"/>
                </a:solidFill>
                <a:latin typeface="PingFang TC"/>
              </a:rPr>
              <a:t>· （無專屬子集）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9211" y="3621024"/>
            <a:ext cx="2471851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2E5F9E"/>
                </a:solidFill>
                <a:latin typeface="PingFang TC"/>
              </a:rPr>
              <a:t>▪ knowledge-update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0" i="1">
                <a:solidFill>
                  <a:srgbClr val="5A6875"/>
                </a:solidFill>
                <a:latin typeface="PingFang TC"/>
              </a:rPr>
              <a:t>· single-session-assistant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0" i="1">
                <a:solidFill>
                  <a:srgbClr val="5A6875"/>
                </a:solidFill>
                <a:latin typeface="PingFang TC"/>
              </a:rPr>
              <a:t>· temporal-reasoning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72503" y="3621024"/>
            <a:ext cx="2471851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9A5B1E"/>
                </a:solidFill>
                <a:latin typeface="PingFang TC"/>
              </a:rPr>
              <a:t>▪ single-session-user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9A5B1E"/>
                </a:solidFill>
                <a:latin typeface="PingFang TC"/>
              </a:rPr>
              <a:t>▪ multi-session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9A5B1E"/>
                </a:solidFill>
                <a:latin typeface="PingFang TC"/>
              </a:rPr>
              <a:t>▪ single-session-assistant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35795" y="3621024"/>
            <a:ext cx="2471851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8A3F63"/>
                </a:solidFill>
                <a:latin typeface="PingFang TC"/>
              </a:rPr>
              <a:t>▪ temporal-reasoning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8A3F63"/>
                </a:solidFill>
                <a:latin typeface="PingFang TC"/>
              </a:rPr>
              <a:t>▪ single-session-preference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8A3F63"/>
                </a:solidFill>
                <a:latin typeface="PingFang TC"/>
              </a:rPr>
              <a:t>▪ abstention (30 題 _abs)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4279392"/>
            <a:ext cx="1170432" cy="530352"/>
          </a:xfrm>
          <a:prstGeom prst="roundRect">
            <a:avLst>
              <a:gd name="adj" fmla="val 8000"/>
            </a:avLst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B2430"/>
                </a:solidFill>
                <a:latin typeface="PingFang TC"/>
              </a:rPr>
              <a:t>LoCoMo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80" b="0" i="0">
                <a:solidFill>
                  <a:srgbClr val="8A96A3"/>
                </a:solidFill>
                <a:latin typeface="PingFang TC"/>
              </a:rPr>
              <a:t>真實長對話 · 5 類別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4279392"/>
            <a:ext cx="2471851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0" i="1">
                <a:solidFill>
                  <a:srgbClr val="5A6875"/>
                </a:solidFill>
                <a:latin typeface="PingFang TC"/>
              </a:rPr>
              <a:t>· （無專屬子集）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9211" y="4279392"/>
            <a:ext cx="2471851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0" i="1">
                <a:solidFill>
                  <a:srgbClr val="5A6875"/>
                </a:solidFill>
                <a:latin typeface="PingFang TC"/>
              </a:rPr>
              <a:t>· cat 2 · temporal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72503" y="4279392"/>
            <a:ext cx="2471851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9A5B1E"/>
                </a:solidFill>
                <a:latin typeface="PingFang TC"/>
              </a:rPr>
              <a:t>▪ cat 1 · multi_hop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9A5B1E"/>
                </a:solidFill>
                <a:latin typeface="PingFang TC"/>
              </a:rPr>
              <a:t>▪ cat 4 · single_hop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35795" y="4279392"/>
            <a:ext cx="2471851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8A3F63"/>
                </a:solidFill>
                <a:latin typeface="PingFang TC"/>
              </a:rPr>
              <a:t>▪ cat 5 · adversarial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8A3F63"/>
                </a:solidFill>
                <a:latin typeface="PingFang TC"/>
              </a:rPr>
              <a:t>▪ cat 3 · open_domain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0" i="1">
                <a:solidFill>
                  <a:srgbClr val="5A6875"/>
                </a:solidFill>
                <a:latin typeface="PingFang TC"/>
              </a:rPr>
              <a:t>· cat 2 · temporal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048" y="4864607"/>
            <a:ext cx="1170432" cy="676656"/>
          </a:xfrm>
          <a:prstGeom prst="roundRect">
            <a:avLst>
              <a:gd name="adj" fmla="val 8000"/>
            </a:avLst>
          </a:prstGeom>
          <a:solidFill>
            <a:srgbClr val="EC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3B3F58"/>
                </a:solidFill>
                <a:latin typeface="PingFang TC"/>
              </a:rPr>
              <a:t>我的探針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80" b="0" i="0">
                <a:solidFill>
                  <a:srgbClr val="8A96A3"/>
                </a:solidFill>
                <a:latin typeface="PingFang TC"/>
              </a:rPr>
              <a:t>P0–P5 逐階段獨立量測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45920" y="4864607"/>
            <a:ext cx="2471851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3B3F58"/>
                </a:solidFill>
                <a:latin typeface="PingFang TC"/>
              </a:rPr>
              <a:t>▪ P1 Strict / Distort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09211" y="4864607"/>
            <a:ext cx="2471851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A8332B"/>
                </a:solidFill>
                <a:latin typeface="PingFang TC"/>
              </a:rPr>
              <a:t>▪ P0 Trigger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3B3F58"/>
                </a:solidFill>
                <a:latin typeface="PingFang TC"/>
              </a:rPr>
              <a:t>▪ P1 Loose / P1u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A8332B"/>
                </a:solidFill>
                <a:latin typeface="PingFang TC"/>
              </a:rPr>
              <a:t>▪ P2 Align 對齊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A8332B"/>
                </a:solidFill>
                <a:latin typeface="PingFang TC"/>
              </a:rPr>
              <a:t>▪ P3 Resolve 決議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72503" y="4864607"/>
            <a:ext cx="2471851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3B3F58"/>
                </a:solidFill>
                <a:latin typeface="PingFang TC"/>
              </a:rPr>
              <a:t>▪ P4 NewRet</a:t>
            </a:r>
          </a:p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A8332B"/>
                </a:solidFill>
                <a:latin typeface="PingFang TC"/>
              </a:rPr>
              <a:t>▪ P4b StaleCtx 舊值污染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35795" y="4864607"/>
            <a:ext cx="2471851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20"/>
              </a:spcAft>
            </a:pPr>
            <a:r>
              <a:rPr sz="800" b="1" i="0">
                <a:solidFill>
                  <a:srgbClr val="3B3F58"/>
                </a:solidFill>
                <a:latin typeface="PingFang TC"/>
              </a:rPr>
              <a:t>▪ P5 Select 抉擇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5614415"/>
            <a:ext cx="8229600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430"/>
                </a:solidFill>
                <a:latin typeface="PingFang TC"/>
              </a:rPr>
              <a:t>▪ 主要測這一段    </a:t>
            </a:r>
            <a:r>
              <a:rPr sz="800" b="0" i="1">
                <a:solidFill>
                  <a:srgbClr val="5A6875"/>
                </a:solidFill>
                <a:latin typeface="PingFang TC"/>
              </a:rPr>
              <a:t>· 次要 / 部分涉及    </a:t>
            </a:r>
            <a:r>
              <a:rPr sz="800" b="1" i="0">
                <a:solidFill>
                  <a:srgbClr val="A8332B"/>
                </a:solidFill>
                <a:latin typeface="PingFang TC"/>
              </a:rPr>
              <a:t>▪ 紅字 = 我新增、現有 benchmark 沒有的探針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" y="5833871"/>
            <a:ext cx="11420856" cy="768096"/>
          </a:xfrm>
          <a:prstGeom prst="roundRect">
            <a:avLst>
              <a:gd name="adj" fmla="val 8000"/>
            </a:avLst>
          </a:prstGeom>
          <a:solidFill>
            <a:srgbClr val="FAE9E7"/>
          </a:solidFill>
          <a:ln w="12700">
            <a:solidFill>
              <a:srgbClr val="A83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A8332B"/>
                </a:solidFill>
                <a:latin typeface="PingFang TC"/>
              </a:rPr>
              <a:t>我要填的空格:Storage 這一段的「更新」子軸,沒有任何 benchmark 測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860" b="0" i="0">
                <a:solidFill>
                  <a:srgbClr val="1B2430"/>
                </a:solidFill>
                <a:latin typeface="PingFang TC"/>
              </a:rPr>
              <a:t>MemFail 的 Storage 定義明寫包含 (a) 拒絕覆寫過時事實 與 (b) 誤判可並存為矛盾,但四個資料集只有 coexisting_facts 測 (b);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860" b="0" i="0">
                <a:solidFill>
                  <a:srgbClr val="1B2430"/>
                </a:solidFill>
                <a:latin typeface="PingFang TC"/>
              </a:rPr>
              <a:t>而且它的生成 prompt 要求「所有事實不得互相矛盾」→ 更新情境在它資料裡根本不存在。HaluMem / LongMemEval 有更新題型,但歸因只到「Storage 整體」,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860" b="0" i="0">
                <a:solidFill>
                  <a:srgbClr val="1B2430"/>
                </a:solidFill>
                <a:latin typeface="PingFang TC"/>
              </a:rPr>
              <a:t>分不出是沒抽到新值、沒認出是同一件事、還是認出了卻沒處理舊值。 </a:t>
            </a:r>
            <a:r>
              <a:rPr sz="860" b="1" i="0">
                <a:solidFill>
                  <a:srgbClr val="A8332B"/>
                </a:solidFill>
                <a:latin typeface="PingFang TC"/>
              </a:rPr>
              <a:t>P0 / P2 / P3 / P4b 就是補這四個空格。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6638544"/>
            <a:ext cx="11420856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PingFang TC"/>
              </a:rPr>
              <a:t>資料集:HaluMem-Medium · LongMemEval-S · LoCoMo-10 · MemFail(合成)     |     階段定義:MemFail arXiv 2605.26667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