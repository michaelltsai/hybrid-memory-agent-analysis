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60120" y="1417320"/>
          <a:ext cx="10241280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41E27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685A"/>
                          </a:solidFill>
                          <a:latin typeface="Helvetica Neue"/>
                        </a:rPr>
                        <a:t>Multi-hop composition</a:t>
                      </a:r>
                    </a:p>
                  </a:txBody>
                  <a:tcPr anchor="ctr" marL="36576" marR="36576" marT="18288" marB="18288">
                    <a:lnB w="12700" cap="flat" cmpd="sng" algn="ctr">
                      <a:solidFill>
                        <a:srgbClr val="16685A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685A"/>
                          </a:solidFill>
                          <a:latin typeface="Helvetica Neue"/>
                        </a:rPr>
                        <a:t>Temporal reasoning</a:t>
                      </a:r>
                    </a:p>
                  </a:txBody>
                  <a:tcPr anchor="ctr" marL="36576" marR="36576" marT="18288" marB="18288">
                    <a:lnB w="12700" cap="flat" cmpd="sng" algn="ctr">
                      <a:solidFill>
                        <a:srgbClr val="16685A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41E27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C5C6B"/>
                          </a:solidFill>
                          <a:latin typeface="Helvetica Neue"/>
                        </a:rPr>
                        <a:t>LoCoMo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C5C6B"/>
                          </a:solidFill>
                          <a:latin typeface="Helvetica Neue"/>
                        </a:rPr>
                        <a:t>HaluMem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C5C6B"/>
                          </a:solidFill>
                          <a:latin typeface="Helvetica Neue"/>
                        </a:rPr>
                        <a:t>MemFail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C5C6B"/>
                          </a:solidFill>
                          <a:latin typeface="Helvetica Neue"/>
                        </a:rPr>
                        <a:t>LongMemEval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C5C6B"/>
                          </a:solidFill>
                          <a:latin typeface="Helvetica Neue"/>
                        </a:rPr>
                        <a:t>LoCoMo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4C5C6B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cat1 multi_hop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n = 32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Multi-hop Inference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n = 25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long_hop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n = 5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temporal-reasoning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n = 3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cat2 temporal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7E8D9B"/>
                          </a:solidFill>
                          <a:latin typeface="Menlo"/>
                        </a:rPr>
                        <a:t>n = 37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1E27"/>
                          </a:solidFill>
                          <a:latin typeface="Helvetica Neue"/>
                        </a:rPr>
                        <a:t>Mem0 v1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0.406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0.120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41E27"/>
                          </a:solidFill>
                          <a:latin typeface="Menlo"/>
                        </a:rPr>
                        <a:t>1.000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1E27"/>
                          </a:solidFill>
                          <a:latin typeface="Helvetica Neue"/>
                        </a:rPr>
                        <a:t>Mem0 v2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0.500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0.120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41E27"/>
                          </a:solidFill>
                          <a:latin typeface="Menlo"/>
                        </a:rPr>
                        <a:t>1.000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0.333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0.054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1E27"/>
                          </a:solidFill>
                          <a:latin typeface="Helvetica Neue"/>
                        </a:rPr>
                        <a:t>StructMem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0.531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0.043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41E27"/>
                          </a:solidFill>
                          <a:latin typeface="Menlo"/>
                        </a:rPr>
                        <a:t>1.000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41E27"/>
                          </a:solidFill>
                          <a:latin typeface="Menlo"/>
                        </a:rPr>
                        <a:t>0.667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41E27"/>
                          </a:solidFill>
                          <a:latin typeface="Menlo"/>
                        </a:rPr>
                        <a:t>0.838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1E27"/>
                          </a:solidFill>
                          <a:latin typeface="Helvetica Neue"/>
                        </a:rPr>
                        <a:t>A-MEM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0.281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0.120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0.600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0.027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1E27"/>
                          </a:solidFill>
                          <a:latin typeface="Helvetica Neue"/>
                        </a:rPr>
                        <a:t>Letta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41E27"/>
                          </a:solidFill>
                          <a:latin typeface="Menlo"/>
                        </a:rPr>
                        <a:t>0.625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41E27"/>
                          </a:solidFill>
                          <a:latin typeface="Menlo"/>
                        </a:rPr>
                        <a:t>0.160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0.800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41E27"/>
                          </a:solidFill>
                          <a:latin typeface="Menlo"/>
                        </a:rPr>
                        <a:t>0.333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AC4712"/>
                          </a:solidFill>
                          <a:latin typeface="Menlo"/>
                        </a:rPr>
                        <a:t>0.000</a:t>
                      </a:r>
                    </a:p>
                  </a:txBody>
                  <a:tcPr anchor="ctr" marL="36576" marR="36576" marT="18288" marB="18288">
                    <a:lnB w="19050" cap="flat" cmpd="sng" algn="ctr">
                      <a:solidFill>
                        <a:srgbClr val="141E27"/>
                      </a:solidFill>
                    </a:lnB>
                    <a:solidFill>
                      <a:srgbClr val="FAEEE6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60120" y="1097280"/>
            <a:ext cx="102412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 i="0">
                <a:solidFill>
                  <a:srgbClr val="141E27"/>
                </a:solidFill>
                <a:latin typeface="Helvetica Neue"/>
              </a:rPr>
              <a:t>Table 1.  Accuracy by subset  (batch 6, all backends on gemma-4-31B-it)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956048"/>
            <a:ext cx="102412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950" b="0" i="1">
                <a:solidFill>
                  <a:srgbClr val="7E8D9B"/>
                </a:solidFill>
                <a:latin typeface="Helvetica Neue"/>
              </a:rPr>
              <a:t>Bold is the best value in a column. Temporal is shown per subset rather than pooled: LoCoMo holds 37 of that group's 40 questions, so a pooled cell would be LoCoMo's number under the group's name.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