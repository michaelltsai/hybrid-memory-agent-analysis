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p:cNvSpPr/>
          <p:nvPr/>
        </p:nvSpPr>
        <p:spPr>
          <a:xfrm>
            <a:off x="5230368" y="0"/>
            <a:ext cx="1795424" cy="274320"/>
          </a:xfrm>
          <a:prstGeom prst="rect">
            <a:avLst/>
          </a:prstGeom>
          <a:solidFill>
            <a:srgbClr val="8AA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728216" cy="274320"/>
          </a:xfrm>
          <a:prstGeom prst="rect">
            <a:avLst/>
          </a:prstGeom>
          <a:solidFill>
            <a:srgbClr val="8AA9F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a:solidFill>
                  <a:srgbClr val="000000"/>
                </a:solidFill>
                <a:latin typeface="Helvetica Neue"/>
              </a:rPr>
              <a:t>Problem &amp; Motivation</a:t>
            </a:r>
          </a:p>
        </p:txBody>
      </p:sp>
      <p:sp>
        <p:nvSpPr>
          <p:cNvPr id="3" name="Rectangle 2"/>
          <p:cNvSpPr/>
          <p:nvPr/>
        </p:nvSpPr>
        <p:spPr>
          <a:xfrm>
            <a:off x="1728216" y="0"/>
            <a:ext cx="950976" cy="274320"/>
          </a:xfrm>
          <a:prstGeom prst="rect">
            <a:avLst/>
          </a:prstGeom>
          <a:solidFill>
            <a:srgbClr val="8AA9F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a:solidFill>
                  <a:srgbClr val="000000"/>
                </a:solidFill>
                <a:latin typeface="Helvetica Neue"/>
              </a:rPr>
              <a:t>RQ</a:t>
            </a:r>
          </a:p>
        </p:txBody>
      </p:sp>
      <p:sp>
        <p:nvSpPr>
          <p:cNvPr id="4" name="Rectangle 3"/>
          <p:cNvSpPr/>
          <p:nvPr/>
        </p:nvSpPr>
        <p:spPr>
          <a:xfrm>
            <a:off x="2679191" y="0"/>
            <a:ext cx="2551176" cy="274320"/>
          </a:xfrm>
          <a:prstGeom prst="rect">
            <a:avLst/>
          </a:prstGeom>
          <a:solidFill>
            <a:srgbClr val="8AA9F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a:solidFill>
                  <a:srgbClr val="000000"/>
                </a:solidFill>
                <a:latin typeface="Helvetica Neue"/>
              </a:rPr>
              <a:t>Methodology</a:t>
            </a:r>
          </a:p>
        </p:txBody>
      </p:sp>
      <p:sp>
        <p:nvSpPr>
          <p:cNvPr id="5" name="Rectangle 4"/>
          <p:cNvSpPr/>
          <p:nvPr/>
        </p:nvSpPr>
        <p:spPr>
          <a:xfrm>
            <a:off x="5230368" y="0"/>
            <a:ext cx="2112264" cy="274320"/>
          </a:xfrm>
          <a:prstGeom prst="rect">
            <a:avLst/>
          </a:prstGeom>
          <a:solidFill>
            <a:srgbClr val="F0F1F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a:solidFill>
                  <a:srgbClr val="000000"/>
                </a:solidFill>
                <a:latin typeface="Helvetica Neue"/>
              </a:rPr>
              <a:t>Experimental Results &amp; Analysis</a:t>
            </a:r>
          </a:p>
        </p:txBody>
      </p:sp>
      <p:sp>
        <p:nvSpPr>
          <p:cNvPr id="7" name="Rectangle 6"/>
          <p:cNvSpPr/>
          <p:nvPr/>
        </p:nvSpPr>
        <p:spPr>
          <a:xfrm>
            <a:off x="7342631" y="0"/>
            <a:ext cx="2843784" cy="274320"/>
          </a:xfrm>
          <a:prstGeom prst="rect">
            <a:avLst/>
          </a:prstGeom>
          <a:solidFill>
            <a:srgbClr val="F0F1F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a:solidFill>
                  <a:srgbClr val="000000"/>
                </a:solidFill>
                <a:latin typeface="Helvetica Neue"/>
              </a:rPr>
              <a:t>Proposed Improvements</a:t>
            </a:r>
          </a:p>
        </p:txBody>
      </p:sp>
      <p:sp>
        <p:nvSpPr>
          <p:cNvPr id="8" name="Rectangle 7"/>
          <p:cNvSpPr/>
          <p:nvPr/>
        </p:nvSpPr>
        <p:spPr>
          <a:xfrm>
            <a:off x="10186415" y="0"/>
            <a:ext cx="2002536" cy="274320"/>
          </a:xfrm>
          <a:prstGeom prst="rect">
            <a:avLst/>
          </a:prstGeom>
          <a:solidFill>
            <a:srgbClr val="F0F1F3"/>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a:solidFill>
                  <a:srgbClr val="000000"/>
                </a:solidFill>
                <a:latin typeface="Helvetica Neue"/>
              </a:rPr>
              <a:t>Validation &amp; Conclusions</a:t>
            </a:r>
          </a:p>
        </p:txBody>
      </p:sp>
      <p:sp>
        <p:nvSpPr>
          <p:cNvPr id="9" name="TextBox 8"/>
          <p:cNvSpPr txBox="1"/>
          <p:nvPr/>
        </p:nvSpPr>
        <p:spPr>
          <a:xfrm>
            <a:off x="502920" y="658368"/>
            <a:ext cx="11155680" cy="457200"/>
          </a:xfrm>
          <a:prstGeom prst="rect">
            <a:avLst/>
          </a:prstGeom>
          <a:noFill/>
        </p:spPr>
        <p:txBody>
          <a:bodyPr wrap="square" lIns="0" rIns="0" tIns="0" bIns="0" anchor="ctr">
            <a:spAutoFit/>
          </a:bodyPr>
          <a:lstStyle/>
          <a:p>
            <a:pPr algn="l"/>
            <a:r>
              <a:rPr sz="2600" b="1" i="0" u="none">
                <a:solidFill>
                  <a:srgbClr val="000000"/>
                </a:solidFill>
                <a:latin typeface="Helvetica Neue"/>
              </a:rPr>
              <a:t>Experimental Results:  StructMem, Stage by Stage</a:t>
            </a:r>
          </a:p>
        </p:txBody>
      </p:sp>
      <p:sp>
        <p:nvSpPr>
          <p:cNvPr id="10" name="TextBox 9"/>
          <p:cNvSpPr txBox="1"/>
          <p:nvPr/>
        </p:nvSpPr>
        <p:spPr>
          <a:xfrm>
            <a:off x="502920" y="1152144"/>
            <a:ext cx="11155680" cy="237744"/>
          </a:xfrm>
          <a:prstGeom prst="rect">
            <a:avLst/>
          </a:prstGeom>
          <a:noFill/>
        </p:spPr>
        <p:txBody>
          <a:bodyPr wrap="square" lIns="0" rIns="0" tIns="0" bIns="0" anchor="ctr">
            <a:spAutoFit/>
          </a:bodyPr>
          <a:lstStyle/>
          <a:p>
            <a:pPr algn="l"/>
            <a:r>
              <a:rPr sz="1150" b="0" i="1" u="none">
                <a:solidFill>
                  <a:srgbClr val="8A8A8A"/>
                </a:solidFill>
                <a:latin typeface="Helvetica Neue"/>
              </a:rPr>
              <a:t>First on every end-to-end metric, and last on the stage that has to know which value is current</a:t>
            </a:r>
          </a:p>
        </p:txBody>
      </p:sp>
      <p:cxnSp>
        <p:nvCxnSpPr>
          <p:cNvPr id="11" name="Connector 10"/>
          <p:cNvCxnSpPr/>
          <p:nvPr/>
        </p:nvCxnSpPr>
        <p:spPr>
          <a:xfrm>
            <a:off x="502920" y="1719072"/>
            <a:ext cx="11183112"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069080" y="1764792"/>
            <a:ext cx="7616952" cy="201168"/>
          </a:xfrm>
          <a:prstGeom prst="rect">
            <a:avLst/>
          </a:prstGeom>
          <a:noFill/>
        </p:spPr>
        <p:txBody>
          <a:bodyPr wrap="square" lIns="0" rIns="0" tIns="0" bIns="0" anchor="ctr">
            <a:spAutoFit/>
          </a:bodyPr>
          <a:lstStyle/>
          <a:p>
            <a:pPr algn="ctr"/>
            <a:r>
              <a:rPr sz="1100" b="1" i="0" u="none">
                <a:solidFill>
                  <a:srgbClr val="000000"/>
                </a:solidFill>
                <a:latin typeface="Helvetica Neue"/>
              </a:rPr>
              <a:t>StructMem, and its rank among the five backends</a:t>
            </a:r>
          </a:p>
        </p:txBody>
      </p:sp>
      <p:cxnSp>
        <p:nvCxnSpPr>
          <p:cNvPr id="13" name="Connector 12"/>
          <p:cNvCxnSpPr/>
          <p:nvPr/>
        </p:nvCxnSpPr>
        <p:spPr>
          <a:xfrm>
            <a:off x="4069080" y="1993391"/>
            <a:ext cx="7616952" cy="0"/>
          </a:xfrm>
          <a:prstGeom prst="line">
            <a:avLst/>
          </a:prstGeom>
          <a:ln w="1143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1865376"/>
            <a:ext cx="1234440" cy="201168"/>
          </a:xfrm>
          <a:prstGeom prst="rect">
            <a:avLst/>
          </a:prstGeom>
          <a:noFill/>
        </p:spPr>
        <p:txBody>
          <a:bodyPr wrap="square" lIns="0" rIns="0" tIns="0" bIns="0" anchor="ctr">
            <a:spAutoFit/>
          </a:bodyPr>
          <a:lstStyle/>
          <a:p>
            <a:pPr algn="l"/>
            <a:r>
              <a:rPr sz="1050" b="1" i="0" u="none">
                <a:solidFill>
                  <a:srgbClr val="000000"/>
                </a:solidFill>
                <a:latin typeface="Helvetica Neue"/>
              </a:rPr>
              <a:t>Stage</a:t>
            </a:r>
          </a:p>
        </p:txBody>
      </p:sp>
      <p:sp>
        <p:nvSpPr>
          <p:cNvPr id="15" name="TextBox 14"/>
          <p:cNvSpPr txBox="1"/>
          <p:nvPr/>
        </p:nvSpPr>
        <p:spPr>
          <a:xfrm>
            <a:off x="1737360" y="1865376"/>
            <a:ext cx="2331720" cy="201168"/>
          </a:xfrm>
          <a:prstGeom prst="rect">
            <a:avLst/>
          </a:prstGeom>
          <a:noFill/>
        </p:spPr>
        <p:txBody>
          <a:bodyPr wrap="square" lIns="0" rIns="0" tIns="0" bIns="0" anchor="ctr">
            <a:spAutoFit/>
          </a:bodyPr>
          <a:lstStyle/>
          <a:p>
            <a:pPr algn="l"/>
            <a:r>
              <a:rPr sz="1050" b="1" i="0" u="none">
                <a:solidFill>
                  <a:srgbClr val="000000"/>
                </a:solidFill>
                <a:latin typeface="Helvetica Neue"/>
              </a:rPr>
              <a:t>Metric</a:t>
            </a:r>
          </a:p>
        </p:txBody>
      </p:sp>
      <p:sp>
        <p:nvSpPr>
          <p:cNvPr id="16" name="TextBox 15"/>
          <p:cNvSpPr txBox="1"/>
          <p:nvPr/>
        </p:nvSpPr>
        <p:spPr>
          <a:xfrm>
            <a:off x="4069080" y="2048255"/>
            <a:ext cx="1874519" cy="182880"/>
          </a:xfrm>
          <a:prstGeom prst="rect">
            <a:avLst/>
          </a:prstGeom>
          <a:noFill/>
        </p:spPr>
        <p:txBody>
          <a:bodyPr wrap="square" lIns="0" rIns="0" tIns="0" bIns="0" anchor="ctr">
            <a:spAutoFit/>
          </a:bodyPr>
          <a:lstStyle/>
          <a:p>
            <a:pPr algn="ctr"/>
            <a:r>
              <a:rPr sz="1000" b="1" i="0" u="none">
                <a:solidFill>
                  <a:srgbClr val="000000"/>
                </a:solidFill>
                <a:latin typeface="Helvetica Neue"/>
              </a:rPr>
              <a:t>LongMemEval</a:t>
            </a:r>
          </a:p>
        </p:txBody>
      </p:sp>
      <p:sp>
        <p:nvSpPr>
          <p:cNvPr id="17" name="TextBox 16"/>
          <p:cNvSpPr txBox="1"/>
          <p:nvPr/>
        </p:nvSpPr>
        <p:spPr>
          <a:xfrm>
            <a:off x="5943600" y="2048255"/>
            <a:ext cx="1874519" cy="182880"/>
          </a:xfrm>
          <a:prstGeom prst="rect">
            <a:avLst/>
          </a:prstGeom>
          <a:noFill/>
        </p:spPr>
        <p:txBody>
          <a:bodyPr wrap="square" lIns="0" rIns="0" tIns="0" bIns="0" anchor="ctr">
            <a:spAutoFit/>
          </a:bodyPr>
          <a:lstStyle/>
          <a:p>
            <a:pPr algn="ctr"/>
            <a:r>
              <a:rPr sz="1000" b="1" i="0" u="none">
                <a:solidFill>
                  <a:srgbClr val="000000"/>
                </a:solidFill>
                <a:latin typeface="Helvetica Neue"/>
              </a:rPr>
              <a:t>LoCoMo</a:t>
            </a:r>
          </a:p>
        </p:txBody>
      </p:sp>
      <p:sp>
        <p:nvSpPr>
          <p:cNvPr id="18" name="TextBox 17"/>
          <p:cNvSpPr txBox="1"/>
          <p:nvPr/>
        </p:nvSpPr>
        <p:spPr>
          <a:xfrm>
            <a:off x="7818120" y="2048255"/>
            <a:ext cx="1874519" cy="182880"/>
          </a:xfrm>
          <a:prstGeom prst="rect">
            <a:avLst/>
          </a:prstGeom>
          <a:noFill/>
        </p:spPr>
        <p:txBody>
          <a:bodyPr wrap="square" lIns="0" rIns="0" tIns="0" bIns="0" anchor="ctr">
            <a:spAutoFit/>
          </a:bodyPr>
          <a:lstStyle/>
          <a:p>
            <a:pPr algn="ctr"/>
            <a:r>
              <a:rPr sz="1000" b="1" i="0" u="none">
                <a:solidFill>
                  <a:srgbClr val="000000"/>
                </a:solidFill>
                <a:latin typeface="Helvetica Neue"/>
              </a:rPr>
              <a:t>HaluMem</a:t>
            </a:r>
          </a:p>
        </p:txBody>
      </p:sp>
      <p:sp>
        <p:nvSpPr>
          <p:cNvPr id="19" name="TextBox 18"/>
          <p:cNvSpPr txBox="1"/>
          <p:nvPr/>
        </p:nvSpPr>
        <p:spPr>
          <a:xfrm>
            <a:off x="9692640" y="2048255"/>
            <a:ext cx="1993392" cy="182880"/>
          </a:xfrm>
          <a:prstGeom prst="rect">
            <a:avLst/>
          </a:prstGeom>
          <a:noFill/>
        </p:spPr>
        <p:txBody>
          <a:bodyPr wrap="square" lIns="0" rIns="0" tIns="0" bIns="0" anchor="ctr">
            <a:spAutoFit/>
          </a:bodyPr>
          <a:lstStyle/>
          <a:p>
            <a:pPr algn="ctr"/>
            <a:r>
              <a:rPr sz="1000" b="1" i="0" u="none">
                <a:solidFill>
                  <a:srgbClr val="000000"/>
                </a:solidFill>
                <a:latin typeface="Helvetica Neue"/>
              </a:rPr>
              <a:t>MemFail</a:t>
            </a:r>
          </a:p>
        </p:txBody>
      </p:sp>
      <p:cxnSp>
        <p:nvCxnSpPr>
          <p:cNvPr id="20" name="Connector 19"/>
          <p:cNvCxnSpPr/>
          <p:nvPr/>
        </p:nvCxnSpPr>
        <p:spPr>
          <a:xfrm>
            <a:off x="502920" y="2286000"/>
            <a:ext cx="11183112"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2377440"/>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End-to-end</a:t>
            </a:r>
          </a:p>
        </p:txBody>
      </p:sp>
      <p:sp>
        <p:nvSpPr>
          <p:cNvPr id="22" name="TextBox 21"/>
          <p:cNvSpPr txBox="1"/>
          <p:nvPr/>
        </p:nvSpPr>
        <p:spPr>
          <a:xfrm>
            <a:off x="1737360" y="2377440"/>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QA accuracy / correct ↑</a:t>
            </a:r>
          </a:p>
        </p:txBody>
      </p:sp>
      <p:sp>
        <p:nvSpPr>
          <p:cNvPr id="23" name="TextBox 22"/>
          <p:cNvSpPr txBox="1"/>
          <p:nvPr/>
        </p:nvSpPr>
        <p:spPr>
          <a:xfrm>
            <a:off x="4069080" y="2377440"/>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0.6000</a:t>
            </a:r>
            <a:r>
              <a:rPr sz="900" b="0" i="0" u="none">
                <a:solidFill>
                  <a:srgbClr val="8A8A8A"/>
                </a:solidFill>
                <a:latin typeface="Helvetica Neue"/>
              </a:rPr>
              <a:t>   1st</a:t>
            </a:r>
          </a:p>
        </p:txBody>
      </p:sp>
      <p:sp>
        <p:nvSpPr>
          <p:cNvPr id="24" name="TextBox 23"/>
          <p:cNvSpPr txBox="1"/>
          <p:nvPr/>
        </p:nvSpPr>
        <p:spPr>
          <a:xfrm>
            <a:off x="5943600" y="2377440"/>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0.6432</a:t>
            </a:r>
            <a:r>
              <a:rPr sz="900" b="0" i="0" u="none">
                <a:solidFill>
                  <a:srgbClr val="8A8A8A"/>
                </a:solidFill>
                <a:latin typeface="Helvetica Neue"/>
              </a:rPr>
              <a:t>   1st</a:t>
            </a:r>
          </a:p>
        </p:txBody>
      </p:sp>
      <p:sp>
        <p:nvSpPr>
          <p:cNvPr id="25" name="TextBox 24"/>
          <p:cNvSpPr txBox="1"/>
          <p:nvPr/>
        </p:nvSpPr>
        <p:spPr>
          <a:xfrm>
            <a:off x="7818120" y="2377440"/>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0.5305</a:t>
            </a:r>
            <a:r>
              <a:rPr sz="900" b="0" i="0" u="none">
                <a:solidFill>
                  <a:srgbClr val="8A8A8A"/>
                </a:solidFill>
                <a:latin typeface="Helvetica Neue"/>
              </a:rPr>
              <a:t>   1st</a:t>
            </a:r>
          </a:p>
        </p:txBody>
      </p:sp>
      <p:sp>
        <p:nvSpPr>
          <p:cNvPr id="26" name="TextBox 25"/>
          <p:cNvSpPr txBox="1"/>
          <p:nvPr/>
        </p:nvSpPr>
        <p:spPr>
          <a:xfrm>
            <a:off x="9692640" y="2377440"/>
            <a:ext cx="1993392"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0.8571</a:t>
            </a:r>
            <a:r>
              <a:rPr sz="900" b="0" i="0" u="none">
                <a:solidFill>
                  <a:srgbClr val="8A8A8A"/>
                </a:solidFill>
                <a:latin typeface="Helvetica Neue"/>
              </a:rPr>
              <a:t>   1st</a:t>
            </a:r>
          </a:p>
        </p:txBody>
      </p:sp>
      <p:sp>
        <p:nvSpPr>
          <p:cNvPr id="27" name="TextBox 26"/>
          <p:cNvSpPr txBox="1"/>
          <p:nvPr/>
        </p:nvSpPr>
        <p:spPr>
          <a:xfrm>
            <a:off x="502920" y="2688336"/>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Summary</a:t>
            </a:r>
          </a:p>
        </p:txBody>
      </p:sp>
      <p:sp>
        <p:nvSpPr>
          <p:cNvPr id="28" name="TextBox 27"/>
          <p:cNvSpPr txBox="1"/>
          <p:nvPr/>
        </p:nvSpPr>
        <p:spPr>
          <a:xfrm>
            <a:off x="1737360" y="2688336"/>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P1 / summary error ↓</a:t>
            </a:r>
          </a:p>
        </p:txBody>
      </p:sp>
      <p:sp>
        <p:nvSpPr>
          <p:cNvPr id="29" name="TextBox 28"/>
          <p:cNvSpPr txBox="1"/>
          <p:nvPr/>
        </p:nvSpPr>
        <p:spPr>
          <a:xfrm>
            <a:off x="4069080" y="2688336"/>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0.0000</a:t>
            </a:r>
            <a:r>
              <a:rPr sz="900" b="0" i="0" u="none">
                <a:solidFill>
                  <a:srgbClr val="8A8A8A"/>
                </a:solidFill>
                <a:latin typeface="Helvetica Neue"/>
              </a:rPr>
              <a:t>   1st</a:t>
            </a:r>
          </a:p>
        </p:txBody>
      </p:sp>
      <p:sp>
        <p:nvSpPr>
          <p:cNvPr id="30" name="TextBox 29"/>
          <p:cNvSpPr txBox="1"/>
          <p:nvPr/>
        </p:nvSpPr>
        <p:spPr>
          <a:xfrm>
            <a:off x="5943600" y="2688336"/>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0.0573</a:t>
            </a:r>
            <a:r>
              <a:rPr sz="900" b="0" i="0" u="none">
                <a:solidFill>
                  <a:srgbClr val="8A8A8A"/>
                </a:solidFill>
                <a:latin typeface="Helvetica Neue"/>
              </a:rPr>
              <a:t>   1st</a:t>
            </a:r>
          </a:p>
        </p:txBody>
      </p:sp>
      <p:sp>
        <p:nvSpPr>
          <p:cNvPr id="31" name="TextBox 30"/>
          <p:cNvSpPr txBox="1"/>
          <p:nvPr/>
        </p:nvSpPr>
        <p:spPr>
          <a:xfrm>
            <a:off x="7818120" y="2688336"/>
            <a:ext cx="1874519" cy="219456"/>
          </a:xfrm>
          <a:prstGeom prst="rect">
            <a:avLst/>
          </a:prstGeom>
          <a:noFill/>
        </p:spPr>
        <p:txBody>
          <a:bodyPr wrap="square" lIns="0" rIns="0" tIns="0" bIns="0" anchor="ctr">
            <a:spAutoFit/>
          </a:bodyPr>
          <a:lstStyle/>
          <a:p>
            <a:pPr algn="ctr">
              <a:lnSpc>
                <a:spcPct val="100000"/>
              </a:lnSpc>
            </a:pPr>
            <a:r>
              <a:rPr sz="1100" b="0" i="0" u="sng">
                <a:solidFill>
                  <a:srgbClr val="000000"/>
                </a:solidFill>
                <a:latin typeface="Menlo"/>
              </a:rPr>
              <a:t>0.0480</a:t>
            </a:r>
            <a:r>
              <a:rPr sz="900" b="0" i="0" u="none">
                <a:solidFill>
                  <a:srgbClr val="8A8A8A"/>
                </a:solidFill>
                <a:latin typeface="Helvetica Neue"/>
              </a:rPr>
              <a:t>   2nd</a:t>
            </a:r>
          </a:p>
        </p:txBody>
      </p:sp>
      <p:sp>
        <p:nvSpPr>
          <p:cNvPr id="32" name="TextBox 31"/>
          <p:cNvSpPr txBox="1"/>
          <p:nvPr/>
        </p:nvSpPr>
        <p:spPr>
          <a:xfrm>
            <a:off x="9692640" y="2688336"/>
            <a:ext cx="1993392"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0.0000</a:t>
            </a:r>
            <a:r>
              <a:rPr sz="900" b="0" i="0" u="none">
                <a:solidFill>
                  <a:srgbClr val="8A8A8A"/>
                </a:solidFill>
                <a:latin typeface="Helvetica Neue"/>
              </a:rPr>
              <a:t>   1st</a:t>
            </a:r>
          </a:p>
        </p:txBody>
      </p:sp>
      <p:sp>
        <p:nvSpPr>
          <p:cNvPr id="33" name="TextBox 32"/>
          <p:cNvSpPr txBox="1"/>
          <p:nvPr/>
        </p:nvSpPr>
        <p:spPr>
          <a:xfrm>
            <a:off x="502920" y="2999232"/>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
            </a:r>
          </a:p>
        </p:txBody>
      </p:sp>
      <p:sp>
        <p:nvSpPr>
          <p:cNvPr id="34" name="TextBox 33"/>
          <p:cNvSpPr txBox="1"/>
          <p:nvPr/>
        </p:nvSpPr>
        <p:spPr>
          <a:xfrm>
            <a:off x="1737360" y="2999232"/>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Extraction F1 ↑</a:t>
            </a:r>
          </a:p>
        </p:txBody>
      </p:sp>
      <p:sp>
        <p:nvSpPr>
          <p:cNvPr id="35" name="TextBox 34"/>
          <p:cNvSpPr txBox="1"/>
          <p:nvPr/>
        </p:nvSpPr>
        <p:spPr>
          <a:xfrm>
            <a:off x="4069080" y="2999232"/>
            <a:ext cx="1874519"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36" name="TextBox 35"/>
          <p:cNvSpPr txBox="1"/>
          <p:nvPr/>
        </p:nvSpPr>
        <p:spPr>
          <a:xfrm>
            <a:off x="5943600" y="2999232"/>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0.8845</a:t>
            </a:r>
            <a:r>
              <a:rPr sz="900" b="0" i="0" u="none">
                <a:solidFill>
                  <a:srgbClr val="8A8A8A"/>
                </a:solidFill>
                <a:latin typeface="Helvetica Neue"/>
              </a:rPr>
              <a:t>   1st</a:t>
            </a:r>
          </a:p>
        </p:txBody>
      </p:sp>
      <p:sp>
        <p:nvSpPr>
          <p:cNvPr id="37" name="TextBox 36"/>
          <p:cNvSpPr txBox="1"/>
          <p:nvPr/>
        </p:nvSpPr>
        <p:spPr>
          <a:xfrm>
            <a:off x="7818120" y="2999232"/>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0.9339</a:t>
            </a:r>
            <a:r>
              <a:rPr sz="900" b="0" i="0" u="none">
                <a:solidFill>
                  <a:srgbClr val="8A8A8A"/>
                </a:solidFill>
                <a:latin typeface="Helvetica Neue"/>
              </a:rPr>
              <a:t>   1st</a:t>
            </a:r>
          </a:p>
        </p:txBody>
      </p:sp>
      <p:sp>
        <p:nvSpPr>
          <p:cNvPr id="38" name="TextBox 37"/>
          <p:cNvSpPr txBox="1"/>
          <p:nvPr/>
        </p:nvSpPr>
        <p:spPr>
          <a:xfrm>
            <a:off x="9692640" y="2999232"/>
            <a:ext cx="1993392"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39" name="TextBox 38"/>
          <p:cNvSpPr txBox="1"/>
          <p:nvPr/>
        </p:nvSpPr>
        <p:spPr>
          <a:xfrm>
            <a:off x="502920" y="3310127"/>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Storage</a:t>
            </a:r>
          </a:p>
        </p:txBody>
      </p:sp>
      <p:sp>
        <p:nvSpPr>
          <p:cNvPr id="40" name="TextBox 39"/>
          <p:cNvSpPr txBox="1"/>
          <p:nvPr/>
        </p:nvSpPr>
        <p:spPr>
          <a:xfrm>
            <a:off x="1737360" y="3310127"/>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Update accuracy ↑</a:t>
            </a:r>
          </a:p>
        </p:txBody>
      </p:sp>
      <p:sp>
        <p:nvSpPr>
          <p:cNvPr id="41" name="TextBox 40"/>
          <p:cNvSpPr txBox="1"/>
          <p:nvPr/>
        </p:nvSpPr>
        <p:spPr>
          <a:xfrm>
            <a:off x="4069080" y="3310127"/>
            <a:ext cx="1874519" cy="219456"/>
          </a:xfrm>
          <a:prstGeom prst="rect">
            <a:avLst/>
          </a:prstGeom>
          <a:noFill/>
        </p:spPr>
        <p:txBody>
          <a:bodyPr wrap="square" lIns="0" rIns="0" tIns="0" bIns="0" anchor="ctr">
            <a:spAutoFit/>
          </a:bodyPr>
          <a:lstStyle/>
          <a:p>
            <a:pPr algn="ctr">
              <a:lnSpc>
                <a:spcPct val="100000"/>
              </a:lnSpc>
            </a:pPr>
            <a:r>
              <a:rPr sz="1100" b="0" i="0" u="sng">
                <a:solidFill>
                  <a:srgbClr val="000000"/>
                </a:solidFill>
                <a:latin typeface="Menlo"/>
              </a:rPr>
              <a:t>0.6000</a:t>
            </a:r>
            <a:r>
              <a:rPr sz="900" b="0" i="0" u="none">
                <a:solidFill>
                  <a:srgbClr val="8A8A8A"/>
                </a:solidFill>
                <a:latin typeface="Helvetica Neue"/>
              </a:rPr>
              <a:t>   2nd</a:t>
            </a:r>
          </a:p>
        </p:txBody>
      </p:sp>
      <p:sp>
        <p:nvSpPr>
          <p:cNvPr id="42" name="TextBox 41"/>
          <p:cNvSpPr txBox="1"/>
          <p:nvPr/>
        </p:nvSpPr>
        <p:spPr>
          <a:xfrm>
            <a:off x="5943600" y="3310127"/>
            <a:ext cx="1874519"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43" name="TextBox 42"/>
          <p:cNvSpPr txBox="1"/>
          <p:nvPr/>
        </p:nvSpPr>
        <p:spPr>
          <a:xfrm>
            <a:off x="7818120" y="3310127"/>
            <a:ext cx="1874519" cy="219456"/>
          </a:xfrm>
          <a:prstGeom prst="rect">
            <a:avLst/>
          </a:prstGeom>
          <a:noFill/>
        </p:spPr>
        <p:txBody>
          <a:bodyPr wrap="square" lIns="0" rIns="0" tIns="0" bIns="0" anchor="ctr">
            <a:spAutoFit/>
          </a:bodyPr>
          <a:lstStyle/>
          <a:p>
            <a:pPr algn="ctr">
              <a:lnSpc>
                <a:spcPct val="100000"/>
              </a:lnSpc>
            </a:pPr>
            <a:r>
              <a:rPr sz="1100" b="0" i="0" u="none">
                <a:solidFill>
                  <a:srgbClr val="000000"/>
                </a:solidFill>
                <a:latin typeface="Menlo"/>
              </a:rPr>
              <a:t>0.7183</a:t>
            </a:r>
            <a:r>
              <a:rPr sz="900" b="0" i="0" u="none">
                <a:solidFill>
                  <a:srgbClr val="8A8A8A"/>
                </a:solidFill>
                <a:latin typeface="Helvetica Neue"/>
              </a:rPr>
              <a:t>   3rd</a:t>
            </a:r>
          </a:p>
        </p:txBody>
      </p:sp>
      <p:sp>
        <p:nvSpPr>
          <p:cNvPr id="44" name="TextBox 43"/>
          <p:cNvSpPr txBox="1"/>
          <p:nvPr/>
        </p:nvSpPr>
        <p:spPr>
          <a:xfrm>
            <a:off x="9692640" y="3310127"/>
            <a:ext cx="1993392"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45" name="TextBox 44"/>
          <p:cNvSpPr txBox="1"/>
          <p:nvPr/>
        </p:nvSpPr>
        <p:spPr>
          <a:xfrm>
            <a:off x="502920" y="3621023"/>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
            </a:r>
          </a:p>
        </p:txBody>
      </p:sp>
      <p:sp>
        <p:nvSpPr>
          <p:cNvPr id="46" name="TextBox 45"/>
          <p:cNvSpPr txBox="1"/>
          <p:nvPr/>
        </p:nvSpPr>
        <p:spPr>
          <a:xfrm>
            <a:off x="1737360" y="3621023"/>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Storage error ↓</a:t>
            </a:r>
          </a:p>
        </p:txBody>
      </p:sp>
      <p:sp>
        <p:nvSpPr>
          <p:cNvPr id="47" name="TextBox 46"/>
          <p:cNvSpPr txBox="1"/>
          <p:nvPr/>
        </p:nvSpPr>
        <p:spPr>
          <a:xfrm>
            <a:off x="4069080" y="3621023"/>
            <a:ext cx="1874519"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48" name="TextBox 47"/>
          <p:cNvSpPr txBox="1"/>
          <p:nvPr/>
        </p:nvSpPr>
        <p:spPr>
          <a:xfrm>
            <a:off x="5943600" y="3621023"/>
            <a:ext cx="1874519"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49" name="TextBox 48"/>
          <p:cNvSpPr txBox="1"/>
          <p:nvPr/>
        </p:nvSpPr>
        <p:spPr>
          <a:xfrm>
            <a:off x="7818120" y="3621023"/>
            <a:ext cx="1874519" cy="219456"/>
          </a:xfrm>
          <a:prstGeom prst="rect">
            <a:avLst/>
          </a:prstGeom>
          <a:noFill/>
        </p:spPr>
        <p:txBody>
          <a:bodyPr wrap="square" lIns="0" rIns="0" tIns="0" bIns="0" anchor="ctr">
            <a:spAutoFit/>
          </a:bodyPr>
          <a:lstStyle/>
          <a:p>
            <a:pPr algn="ctr"/>
            <a:r>
              <a:rPr sz="1100" b="0" i="0" u="none">
                <a:solidFill>
                  <a:srgbClr val="8A8A8A"/>
                </a:solidFill>
                <a:latin typeface="Menlo"/>
              </a:rPr>
              <a:t>—</a:t>
            </a:r>
          </a:p>
        </p:txBody>
      </p:sp>
      <p:sp>
        <p:nvSpPr>
          <p:cNvPr id="50" name="TextBox 49"/>
          <p:cNvSpPr txBox="1"/>
          <p:nvPr/>
        </p:nvSpPr>
        <p:spPr>
          <a:xfrm>
            <a:off x="9692640" y="3621023"/>
            <a:ext cx="1993392"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0.0000</a:t>
            </a:r>
            <a:r>
              <a:rPr sz="900" b="0" i="0" u="none">
                <a:solidFill>
                  <a:srgbClr val="8A8A8A"/>
                </a:solidFill>
                <a:latin typeface="Helvetica Neue"/>
              </a:rPr>
              <a:t>   1st</a:t>
            </a:r>
          </a:p>
        </p:txBody>
      </p:sp>
      <p:sp>
        <p:nvSpPr>
          <p:cNvPr id="51" name="TextBox 50"/>
          <p:cNvSpPr txBox="1"/>
          <p:nvPr/>
        </p:nvSpPr>
        <p:spPr>
          <a:xfrm>
            <a:off x="502920" y="3931919"/>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Retrieval</a:t>
            </a:r>
          </a:p>
        </p:txBody>
      </p:sp>
      <p:sp>
        <p:nvSpPr>
          <p:cNvPr id="52" name="TextBox 51"/>
          <p:cNvSpPr txBox="1"/>
          <p:nvPr/>
        </p:nvSpPr>
        <p:spPr>
          <a:xfrm>
            <a:off x="1737360" y="3931919"/>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P4 / retrieval error ↓</a:t>
            </a:r>
          </a:p>
        </p:txBody>
      </p:sp>
      <p:sp>
        <p:nvSpPr>
          <p:cNvPr id="53" name="TextBox 52"/>
          <p:cNvSpPr txBox="1"/>
          <p:nvPr/>
        </p:nvSpPr>
        <p:spPr>
          <a:xfrm>
            <a:off x="4069080" y="3931919"/>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0.0000</a:t>
            </a:r>
            <a:r>
              <a:rPr sz="900" b="0" i="0" u="none">
                <a:solidFill>
                  <a:srgbClr val="8A8A8A"/>
                </a:solidFill>
                <a:latin typeface="Helvetica Neue"/>
              </a:rPr>
              <a:t>   1st</a:t>
            </a:r>
          </a:p>
        </p:txBody>
      </p:sp>
      <p:sp>
        <p:nvSpPr>
          <p:cNvPr id="54" name="TextBox 53"/>
          <p:cNvSpPr txBox="1"/>
          <p:nvPr/>
        </p:nvSpPr>
        <p:spPr>
          <a:xfrm>
            <a:off x="5943600" y="3931919"/>
            <a:ext cx="1874519" cy="219456"/>
          </a:xfrm>
          <a:prstGeom prst="rect">
            <a:avLst/>
          </a:prstGeom>
          <a:noFill/>
        </p:spPr>
        <p:txBody>
          <a:bodyPr wrap="square" lIns="0" rIns="0" tIns="0" bIns="0" anchor="ctr">
            <a:spAutoFit/>
          </a:bodyPr>
          <a:lstStyle/>
          <a:p>
            <a:pPr algn="ctr">
              <a:lnSpc>
                <a:spcPct val="100000"/>
              </a:lnSpc>
            </a:pPr>
            <a:r>
              <a:rPr sz="1100" b="0" i="0" u="none">
                <a:solidFill>
                  <a:srgbClr val="000000"/>
                </a:solidFill>
                <a:latin typeface="Menlo"/>
              </a:rPr>
              <a:t>0.0521</a:t>
            </a:r>
            <a:r>
              <a:rPr sz="900" b="0" i="0" u="none">
                <a:solidFill>
                  <a:srgbClr val="8A8A8A"/>
                </a:solidFill>
                <a:latin typeface="Helvetica Neue"/>
              </a:rPr>
              <a:t>   3rd</a:t>
            </a:r>
          </a:p>
        </p:txBody>
      </p:sp>
      <p:sp>
        <p:nvSpPr>
          <p:cNvPr id="55" name="TextBox 54"/>
          <p:cNvSpPr txBox="1"/>
          <p:nvPr/>
        </p:nvSpPr>
        <p:spPr>
          <a:xfrm>
            <a:off x="7818120" y="3931919"/>
            <a:ext cx="1874519" cy="219456"/>
          </a:xfrm>
          <a:prstGeom prst="rect">
            <a:avLst/>
          </a:prstGeom>
          <a:noFill/>
        </p:spPr>
        <p:txBody>
          <a:bodyPr wrap="square" lIns="0" rIns="0" tIns="0" bIns="0" anchor="ctr">
            <a:spAutoFit/>
          </a:bodyPr>
          <a:lstStyle/>
          <a:p>
            <a:pPr algn="ctr">
              <a:lnSpc>
                <a:spcPct val="100000"/>
              </a:lnSpc>
            </a:pPr>
            <a:r>
              <a:rPr sz="1100" b="0" i="0" u="none">
                <a:solidFill>
                  <a:srgbClr val="000000"/>
                </a:solidFill>
                <a:latin typeface="Menlo"/>
              </a:rPr>
              <a:t>0.2000</a:t>
            </a:r>
            <a:r>
              <a:rPr sz="900" b="0" i="0" u="none">
                <a:solidFill>
                  <a:srgbClr val="8A8A8A"/>
                </a:solidFill>
                <a:latin typeface="Helvetica Neue"/>
              </a:rPr>
              <a:t>   3rd</a:t>
            </a:r>
          </a:p>
        </p:txBody>
      </p:sp>
      <p:sp>
        <p:nvSpPr>
          <p:cNvPr id="56" name="TextBox 55"/>
          <p:cNvSpPr txBox="1"/>
          <p:nvPr/>
        </p:nvSpPr>
        <p:spPr>
          <a:xfrm>
            <a:off x="9692640" y="3931919"/>
            <a:ext cx="1993392" cy="219456"/>
          </a:xfrm>
          <a:prstGeom prst="rect">
            <a:avLst/>
          </a:prstGeom>
          <a:noFill/>
        </p:spPr>
        <p:txBody>
          <a:bodyPr wrap="square" lIns="0" rIns="0" tIns="0" bIns="0" anchor="ctr">
            <a:spAutoFit/>
          </a:bodyPr>
          <a:lstStyle/>
          <a:p>
            <a:pPr algn="ctr">
              <a:lnSpc>
                <a:spcPct val="100000"/>
              </a:lnSpc>
            </a:pPr>
            <a:r>
              <a:rPr sz="1100" b="0" i="0" u="sng">
                <a:solidFill>
                  <a:srgbClr val="000000"/>
                </a:solidFill>
                <a:latin typeface="Menlo"/>
              </a:rPr>
              <a:t>0.0286</a:t>
            </a:r>
            <a:r>
              <a:rPr sz="900" b="0" i="0" u="none">
                <a:solidFill>
                  <a:srgbClr val="8A8A8A"/>
                </a:solidFill>
                <a:latin typeface="Helvetica Neue"/>
              </a:rPr>
              <a:t>   2nd</a:t>
            </a:r>
          </a:p>
        </p:txBody>
      </p:sp>
      <p:sp>
        <p:nvSpPr>
          <p:cNvPr id="57" name="TextBox 56"/>
          <p:cNvSpPr txBox="1"/>
          <p:nvPr/>
        </p:nvSpPr>
        <p:spPr>
          <a:xfrm>
            <a:off x="502920" y="4242815"/>
            <a:ext cx="1234440" cy="219456"/>
          </a:xfrm>
          <a:prstGeom prst="rect">
            <a:avLst/>
          </a:prstGeom>
          <a:noFill/>
        </p:spPr>
        <p:txBody>
          <a:bodyPr wrap="square" lIns="0" rIns="0" tIns="0" bIns="0" anchor="ctr">
            <a:spAutoFit/>
          </a:bodyPr>
          <a:lstStyle/>
          <a:p>
            <a:pPr algn="l"/>
            <a:r>
              <a:rPr sz="1050" b="1" i="0" u="none">
                <a:solidFill>
                  <a:srgbClr val="000000"/>
                </a:solidFill>
                <a:latin typeface="Helvetica Neue"/>
              </a:rPr>
              <a:t>Reasoning</a:t>
            </a:r>
          </a:p>
        </p:txBody>
      </p:sp>
      <p:sp>
        <p:nvSpPr>
          <p:cNvPr id="58" name="TextBox 57"/>
          <p:cNvSpPr txBox="1"/>
          <p:nvPr/>
        </p:nvSpPr>
        <p:spPr>
          <a:xfrm>
            <a:off x="1737360" y="4242815"/>
            <a:ext cx="2331720" cy="219456"/>
          </a:xfrm>
          <a:prstGeom prst="rect">
            <a:avLst/>
          </a:prstGeom>
          <a:noFill/>
        </p:spPr>
        <p:txBody>
          <a:bodyPr wrap="square" lIns="0" rIns="0" tIns="0" bIns="0" anchor="ctr">
            <a:spAutoFit/>
          </a:bodyPr>
          <a:lstStyle/>
          <a:p>
            <a:pPr algn="l"/>
            <a:r>
              <a:rPr sz="1000" b="0" i="0" u="none">
                <a:solidFill>
                  <a:srgbClr val="3A3A3A"/>
                </a:solidFill>
                <a:latin typeface="Helvetica Neue"/>
              </a:rPr>
              <a:t>P5 / reasoning error ↓</a:t>
            </a:r>
          </a:p>
        </p:txBody>
      </p:sp>
      <p:sp>
        <p:nvSpPr>
          <p:cNvPr id="59" name="TextBox 58"/>
          <p:cNvSpPr txBox="1"/>
          <p:nvPr/>
        </p:nvSpPr>
        <p:spPr>
          <a:xfrm>
            <a:off x="4069080" y="4242815"/>
            <a:ext cx="1874519" cy="219456"/>
          </a:xfrm>
          <a:prstGeom prst="rect">
            <a:avLst/>
          </a:prstGeom>
          <a:noFill/>
        </p:spPr>
        <p:txBody>
          <a:bodyPr wrap="square" lIns="0" rIns="0" tIns="0" bIns="0" anchor="ctr">
            <a:spAutoFit/>
          </a:bodyPr>
          <a:lstStyle/>
          <a:p>
            <a:pPr algn="ctr">
              <a:lnSpc>
                <a:spcPct val="100000"/>
              </a:lnSpc>
            </a:pPr>
            <a:r>
              <a:rPr sz="1100" b="0" i="0" u="none">
                <a:solidFill>
                  <a:srgbClr val="000000"/>
                </a:solidFill>
                <a:latin typeface="Menlo"/>
              </a:rPr>
              <a:t>0.4000</a:t>
            </a:r>
            <a:r>
              <a:rPr sz="900" b="0" i="0" u="none">
                <a:solidFill>
                  <a:srgbClr val="8A8A8A"/>
                </a:solidFill>
                <a:latin typeface="Helvetica Neue"/>
              </a:rPr>
              <a:t>   5th</a:t>
            </a:r>
          </a:p>
        </p:txBody>
      </p:sp>
      <p:sp>
        <p:nvSpPr>
          <p:cNvPr id="60" name="TextBox 59"/>
          <p:cNvSpPr txBox="1"/>
          <p:nvPr/>
        </p:nvSpPr>
        <p:spPr>
          <a:xfrm>
            <a:off x="5943600" y="4242815"/>
            <a:ext cx="1874519" cy="219456"/>
          </a:xfrm>
          <a:prstGeom prst="rect">
            <a:avLst/>
          </a:prstGeom>
          <a:noFill/>
        </p:spPr>
        <p:txBody>
          <a:bodyPr wrap="square" lIns="0" rIns="0" tIns="0" bIns="0" anchor="ctr">
            <a:spAutoFit/>
          </a:bodyPr>
          <a:lstStyle/>
          <a:p>
            <a:pPr algn="ctr">
              <a:lnSpc>
                <a:spcPct val="100000"/>
              </a:lnSpc>
            </a:pPr>
            <a:r>
              <a:rPr sz="1100" b="0" i="0" u="none">
                <a:solidFill>
                  <a:srgbClr val="000000"/>
                </a:solidFill>
                <a:latin typeface="Menlo"/>
              </a:rPr>
              <a:t>0.2240</a:t>
            </a:r>
            <a:r>
              <a:rPr sz="900" b="0" i="0" u="none">
                <a:solidFill>
                  <a:srgbClr val="8A8A8A"/>
                </a:solidFill>
                <a:latin typeface="Helvetica Neue"/>
              </a:rPr>
              <a:t>   5th</a:t>
            </a:r>
          </a:p>
        </p:txBody>
      </p:sp>
      <p:sp>
        <p:nvSpPr>
          <p:cNvPr id="61" name="TextBox 60"/>
          <p:cNvSpPr txBox="1"/>
          <p:nvPr/>
        </p:nvSpPr>
        <p:spPr>
          <a:xfrm>
            <a:off x="7818120" y="4242815"/>
            <a:ext cx="1874519" cy="219456"/>
          </a:xfrm>
          <a:prstGeom prst="rect">
            <a:avLst/>
          </a:prstGeom>
          <a:noFill/>
        </p:spPr>
        <p:txBody>
          <a:bodyPr wrap="square" lIns="0" rIns="0" tIns="0" bIns="0" anchor="ctr">
            <a:spAutoFit/>
          </a:bodyPr>
          <a:lstStyle/>
          <a:p>
            <a:pPr algn="ctr">
              <a:lnSpc>
                <a:spcPct val="100000"/>
              </a:lnSpc>
            </a:pPr>
            <a:r>
              <a:rPr sz="1100" b="1" i="0" u="none">
                <a:solidFill>
                  <a:srgbClr val="000000"/>
                </a:solidFill>
                <a:latin typeface="Menlo"/>
              </a:rPr>
              <a:t>0.3440</a:t>
            </a:r>
            <a:r>
              <a:rPr sz="900" b="0" i="0" u="none">
                <a:solidFill>
                  <a:srgbClr val="8A8A8A"/>
                </a:solidFill>
                <a:latin typeface="Helvetica Neue"/>
              </a:rPr>
              <a:t>   1st</a:t>
            </a:r>
          </a:p>
        </p:txBody>
      </p:sp>
      <p:sp>
        <p:nvSpPr>
          <p:cNvPr id="62" name="TextBox 61"/>
          <p:cNvSpPr txBox="1"/>
          <p:nvPr/>
        </p:nvSpPr>
        <p:spPr>
          <a:xfrm>
            <a:off x="9692640" y="4242815"/>
            <a:ext cx="1993392" cy="219456"/>
          </a:xfrm>
          <a:prstGeom prst="rect">
            <a:avLst/>
          </a:prstGeom>
          <a:noFill/>
        </p:spPr>
        <p:txBody>
          <a:bodyPr wrap="square" lIns="0" rIns="0" tIns="0" bIns="0" anchor="ctr">
            <a:spAutoFit/>
          </a:bodyPr>
          <a:lstStyle/>
          <a:p>
            <a:pPr algn="ctr">
              <a:lnSpc>
                <a:spcPct val="100000"/>
              </a:lnSpc>
            </a:pPr>
            <a:r>
              <a:rPr sz="1100" b="0" i="0" u="none">
                <a:solidFill>
                  <a:srgbClr val="000000"/>
                </a:solidFill>
                <a:latin typeface="Menlo"/>
              </a:rPr>
              <a:t>0.1143</a:t>
            </a:r>
            <a:r>
              <a:rPr sz="900" b="0" i="0" u="none">
                <a:solidFill>
                  <a:srgbClr val="8A8A8A"/>
                </a:solidFill>
                <a:latin typeface="Helvetica Neue"/>
              </a:rPr>
              <a:t>   3rd</a:t>
            </a:r>
          </a:p>
        </p:txBody>
      </p:sp>
      <p:cxnSp>
        <p:nvCxnSpPr>
          <p:cNvPr id="63" name="Connector 62"/>
          <p:cNvCxnSpPr/>
          <p:nvPr/>
        </p:nvCxnSpPr>
        <p:spPr>
          <a:xfrm>
            <a:off x="502920" y="4553711"/>
            <a:ext cx="11183112"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02920" y="4754879"/>
            <a:ext cx="11155680" cy="310896"/>
          </a:xfrm>
          <a:prstGeom prst="rect">
            <a:avLst/>
          </a:prstGeom>
          <a:noFill/>
        </p:spPr>
        <p:txBody>
          <a:bodyPr wrap="square" lIns="0" rIns="0" tIns="0" bIns="0" anchor="ctr">
            <a:spAutoFit/>
          </a:bodyPr>
          <a:lstStyle/>
          <a:p>
            <a:pPr algn="l">
              <a:lnSpc>
                <a:spcPct val="112000"/>
              </a:lnSpc>
            </a:pPr>
            <a:r>
              <a:rPr sz="950" b="1" i="0" u="none">
                <a:solidFill>
                  <a:srgbClr val="000000"/>
                </a:solidFill>
                <a:latin typeface="Helvetica Neue"/>
              </a:rPr>
              <a:t>End to end, StructMem wins every benchmark.  </a:t>
            </a:r>
            <a:r>
              <a:rPr sz="950" b="0" i="0" u="none">
                <a:solidFill>
                  <a:srgbClr val="3A3A3A"/>
                </a:solidFill>
                <a:latin typeface="Helvetica Neue"/>
              </a:rPr>
              <a:t>LongMemEval 0.6000, LoCoMo 0.6432, HaluMem 0.5305, MemFail 0.8571: first place on all four. The summary stage explains most of it, with first place on five of its six metrics and a LoCoMo P1 failure of 0.0573 against 0.2256 to 0.2640 for everyone else. There is nothing left to win on the write path.</a:t>
            </a:r>
          </a:p>
        </p:txBody>
      </p:sp>
      <p:sp>
        <p:nvSpPr>
          <p:cNvPr id="65" name="TextBox 64"/>
          <p:cNvSpPr txBox="1"/>
          <p:nvPr/>
        </p:nvSpPr>
        <p:spPr>
          <a:xfrm>
            <a:off x="502920" y="5084063"/>
            <a:ext cx="11155680" cy="310896"/>
          </a:xfrm>
          <a:prstGeom prst="rect">
            <a:avLst/>
          </a:prstGeom>
          <a:noFill/>
        </p:spPr>
        <p:txBody>
          <a:bodyPr wrap="square" lIns="0" rIns="0" tIns="0" bIns="0" anchor="ctr">
            <a:spAutoFit/>
          </a:bodyPr>
          <a:lstStyle/>
          <a:p>
            <a:pPr algn="l">
              <a:lnSpc>
                <a:spcPct val="112000"/>
              </a:lnSpc>
            </a:pPr>
            <a:r>
              <a:rPr sz="950" b="1" i="0" u="none">
                <a:solidFill>
                  <a:srgbClr val="000000"/>
                </a:solidFill>
                <a:latin typeface="Helvetica Neue"/>
              </a:rPr>
              <a:t>Reasoning is the only stage where it finishes last, and it finishes last twice.  </a:t>
            </a:r>
            <a:r>
              <a:rPr sz="950" b="0" i="0" u="none">
                <a:solidFill>
                  <a:srgbClr val="3A3A3A"/>
                </a:solidFill>
                <a:latin typeface="Helvetica Neue"/>
              </a:rPr>
              <a:t>LongMemEval P5 0.4000 and LoCoMo P5 0.2240, the worst of the five on both, the latter nearly three times Mem0 v2's 0.0808. Storage is the other soft spot: it leads neither update metric, sitting 2nd on LongMemEval KU and 3rd on HaluMem update (0.7183 against A-MEM's 0.8060).</a:t>
            </a:r>
          </a:p>
        </p:txBody>
      </p:sp>
      <p:sp>
        <p:nvSpPr>
          <p:cNvPr id="66" name="TextBox 65"/>
          <p:cNvSpPr txBox="1"/>
          <p:nvPr/>
        </p:nvSpPr>
        <p:spPr>
          <a:xfrm>
            <a:off x="502920" y="5413247"/>
            <a:ext cx="11155680" cy="310896"/>
          </a:xfrm>
          <a:prstGeom prst="rect">
            <a:avLst/>
          </a:prstGeom>
          <a:noFill/>
        </p:spPr>
        <p:txBody>
          <a:bodyPr wrap="square" lIns="0" rIns="0" tIns="0" bIns="0" anchor="ctr">
            <a:spAutoFit/>
          </a:bodyPr>
          <a:lstStyle/>
          <a:p>
            <a:pPr algn="l">
              <a:lnSpc>
                <a:spcPct val="112000"/>
              </a:lnSpc>
            </a:pPr>
            <a:r>
              <a:rPr sz="950" b="1" i="0" u="none">
                <a:solidFill>
                  <a:srgbClr val="000000"/>
                </a:solidFill>
                <a:latin typeface="Helvetica Neue"/>
              </a:rPr>
              <a:t>Retrieval is not the problem, so the stale value is reaching the answer.  </a:t>
            </a:r>
            <a:r>
              <a:rPr sz="950" b="0" i="0" u="none">
                <a:solidFill>
                  <a:srgbClr val="3A3A3A"/>
                </a:solidFill>
                <a:latin typeface="Helvetica Neue"/>
              </a:rPr>
              <a:t>LongMemEval P4 is 0.0000 and LoCoMo P4 is 0.0521: the evidence arrives. What arrives with it is the issue. StructMem writes 1.85 entries per LoCoMo turn against 0.06 to 1.00 for the others and retires none of them, so the old value and the new one reach the answering model side by side, unlabelled.</a:t>
            </a:r>
          </a:p>
        </p:txBody>
      </p:sp>
      <p:sp>
        <p:nvSpPr>
          <p:cNvPr id="67" name="TextBox 66"/>
          <p:cNvSpPr txBox="1"/>
          <p:nvPr/>
        </p:nvSpPr>
        <p:spPr>
          <a:xfrm>
            <a:off x="502920" y="5742431"/>
            <a:ext cx="11155680" cy="310896"/>
          </a:xfrm>
          <a:prstGeom prst="rect">
            <a:avLst/>
          </a:prstGeom>
          <a:noFill/>
        </p:spPr>
        <p:txBody>
          <a:bodyPr wrap="square" lIns="0" rIns="0" tIns="0" bIns="0" anchor="ctr">
            <a:spAutoFit/>
          </a:bodyPr>
          <a:lstStyle/>
          <a:p>
            <a:pPr algn="l">
              <a:lnSpc>
                <a:spcPct val="112000"/>
              </a:lnSpc>
            </a:pPr>
            <a:r>
              <a:rPr sz="950" b="1" i="0" u="none">
                <a:solidFill>
                  <a:srgbClr val="000000"/>
                </a:solidFill>
                <a:latin typeface="Helvetica Neue"/>
              </a:rPr>
              <a:t>Therefore.  </a:t>
            </a:r>
            <a:r>
              <a:rPr sz="950" b="0" i="0" u="none">
                <a:solidFill>
                  <a:srgbClr val="3A3A3A"/>
                </a:solidFill>
                <a:latin typeface="Helvetica Neue"/>
              </a:rPr>
              <a:t>The timestamp that orders those two entries is already on every StructMem payload and is never consulted at update time. M1 marks the old entry superseded instead of deleting it, so the extraction lead above is not traded away; M3 keeps the summaries in step; M4 uses the labels at read time, which is where P5 breaks.</a:t>
            </a:r>
          </a:p>
        </p:txBody>
      </p:sp>
      <p:sp>
        <p:nvSpPr>
          <p:cNvPr id="68" name="TextBox 67"/>
          <p:cNvSpPr txBox="1"/>
          <p:nvPr/>
        </p:nvSpPr>
        <p:spPr>
          <a:xfrm>
            <a:off x="502920" y="6455664"/>
            <a:ext cx="11155680" cy="310896"/>
          </a:xfrm>
          <a:prstGeom prst="rect">
            <a:avLst/>
          </a:prstGeom>
          <a:noFill/>
        </p:spPr>
        <p:txBody>
          <a:bodyPr wrap="square" lIns="0" rIns="0" tIns="0" bIns="0" anchor="ctr">
            <a:spAutoFit/>
          </a:bodyPr>
          <a:lstStyle/>
          <a:p>
            <a:pPr algn="l"/>
            <a:r>
              <a:rPr sz="850" b="0" i="1" u="none">
                <a:solidFill>
                  <a:srgbClr val="8A8A8A"/>
                </a:solidFill>
                <a:latin typeface="Helvetica Neue"/>
              </a:rPr>
              <a:t>Note. ↑ higher is better; ↓ lower is better. Best results are bold; second-best results are underlined; ties share the better rank. Dashes mark metrics the benchmark does not define. StructMem's LongMemEval run covers only the 5-question knowledge-update subset, so its LongMemEval QA and KU accuracy are the same 0.6000; the Storage slide's 0.4000 is a transcription error and is corrected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