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 name="Rectangle 29"/>
          <p:cNvSpPr/>
          <p:nvPr/>
        </p:nvSpPr>
        <p:spPr>
          <a:xfrm>
            <a:off x="502920" y="2852928"/>
            <a:ext cx="11183112" cy="10972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728216" cy="274320"/>
          </a:xfrm>
          <a:prstGeom prst="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28216" cy="274320"/>
          </a:xfrm>
          <a:prstGeom prst="rect">
            <a:avLst/>
          </a:prstGeom>
          <a:solidFill>
            <a:srgbClr val="8AA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728216" cy="27432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1000">
                <a:solidFill>
                  <a:srgbClr val="000000"/>
                </a:solidFill>
                <a:latin typeface="Helvetica Neue"/>
              </a:rPr>
              <a:t>Problem &amp; Motivation</a:t>
            </a:r>
          </a:p>
        </p:txBody>
      </p:sp>
      <p:sp>
        <p:nvSpPr>
          <p:cNvPr id="5" name="Rectangle 4"/>
          <p:cNvSpPr/>
          <p:nvPr/>
        </p:nvSpPr>
        <p:spPr>
          <a:xfrm>
            <a:off x="1728216" y="0"/>
            <a:ext cx="950976" cy="274320"/>
          </a:xfrm>
          <a:prstGeom prst="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728216" y="0"/>
            <a:ext cx="950976" cy="274320"/>
          </a:xfrm>
          <a:prstGeom prst="rect">
            <a:avLst/>
          </a:prstGeom>
          <a:solidFill>
            <a:srgbClr val="8AA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728216" y="0"/>
            <a:ext cx="950976" cy="27432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1000">
                <a:solidFill>
                  <a:srgbClr val="000000"/>
                </a:solidFill>
                <a:latin typeface="Helvetica Neue"/>
              </a:rPr>
              <a:t>RQ</a:t>
            </a:r>
          </a:p>
        </p:txBody>
      </p:sp>
      <p:sp>
        <p:nvSpPr>
          <p:cNvPr id="8" name="Rectangle 7"/>
          <p:cNvSpPr/>
          <p:nvPr/>
        </p:nvSpPr>
        <p:spPr>
          <a:xfrm>
            <a:off x="2679191" y="0"/>
            <a:ext cx="2551176" cy="274320"/>
          </a:xfrm>
          <a:prstGeom prst="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679191" y="0"/>
            <a:ext cx="2551176" cy="274320"/>
          </a:xfrm>
          <a:prstGeom prst="rect">
            <a:avLst/>
          </a:prstGeom>
          <a:solidFill>
            <a:srgbClr val="8AA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79191" y="0"/>
            <a:ext cx="2551176" cy="27432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1000">
                <a:solidFill>
                  <a:srgbClr val="000000"/>
                </a:solidFill>
                <a:latin typeface="Helvetica Neue"/>
              </a:rPr>
              <a:t>Methodology</a:t>
            </a:r>
          </a:p>
        </p:txBody>
      </p:sp>
      <p:sp>
        <p:nvSpPr>
          <p:cNvPr id="11" name="Rectangle 10"/>
          <p:cNvSpPr/>
          <p:nvPr/>
        </p:nvSpPr>
        <p:spPr>
          <a:xfrm>
            <a:off x="5230368" y="0"/>
            <a:ext cx="2112264" cy="274320"/>
          </a:xfrm>
          <a:prstGeom prst="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230368" y="0"/>
            <a:ext cx="1795424" cy="274320"/>
          </a:xfrm>
          <a:prstGeom prst="rect">
            <a:avLst/>
          </a:prstGeom>
          <a:solidFill>
            <a:srgbClr val="8AA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230368" y="0"/>
            <a:ext cx="2112264" cy="27432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1000">
                <a:solidFill>
                  <a:srgbClr val="000000"/>
                </a:solidFill>
                <a:latin typeface="Helvetica Neue"/>
              </a:rPr>
              <a:t>Experimental Results &amp; Analysis</a:t>
            </a:r>
          </a:p>
        </p:txBody>
      </p:sp>
      <p:sp>
        <p:nvSpPr>
          <p:cNvPr id="14" name="Rectangle 13"/>
          <p:cNvSpPr/>
          <p:nvPr/>
        </p:nvSpPr>
        <p:spPr>
          <a:xfrm>
            <a:off x="7342631" y="0"/>
            <a:ext cx="2843784" cy="274320"/>
          </a:xfrm>
          <a:prstGeom prst="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42631" y="0"/>
            <a:ext cx="2843784" cy="27432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1000">
                <a:solidFill>
                  <a:srgbClr val="000000"/>
                </a:solidFill>
                <a:latin typeface="Helvetica Neue"/>
              </a:rPr>
              <a:t>Proposed Improvements</a:t>
            </a:r>
          </a:p>
        </p:txBody>
      </p:sp>
      <p:sp>
        <p:nvSpPr>
          <p:cNvPr id="16" name="Rectangle 15"/>
          <p:cNvSpPr/>
          <p:nvPr/>
        </p:nvSpPr>
        <p:spPr>
          <a:xfrm>
            <a:off x="10186415" y="0"/>
            <a:ext cx="2002536" cy="274320"/>
          </a:xfrm>
          <a:prstGeom prst="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186415" y="0"/>
            <a:ext cx="2002536" cy="27432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1000">
                <a:solidFill>
                  <a:srgbClr val="000000"/>
                </a:solidFill>
                <a:latin typeface="Helvetica Neue"/>
              </a:rPr>
              <a:t>Validation &amp; Conclusions</a:t>
            </a:r>
          </a:p>
        </p:txBody>
      </p:sp>
      <p:sp>
        <p:nvSpPr>
          <p:cNvPr id="18" name="TextBox 17"/>
          <p:cNvSpPr txBox="1"/>
          <p:nvPr/>
        </p:nvSpPr>
        <p:spPr>
          <a:xfrm>
            <a:off x="502920" y="658368"/>
            <a:ext cx="11155680" cy="457200"/>
          </a:xfrm>
          <a:prstGeom prst="rect">
            <a:avLst/>
          </a:prstGeom>
          <a:noFill/>
        </p:spPr>
        <p:txBody>
          <a:bodyPr wrap="square" lIns="0" rIns="0" tIns="0" bIns="0" anchor="ctr">
            <a:spAutoFit/>
          </a:bodyPr>
          <a:lstStyle/>
          <a:p>
            <a:pPr algn="l"/>
            <a:r>
              <a:rPr sz="2600" b="1" i="0" u="none">
                <a:solidFill>
                  <a:srgbClr val="000000"/>
                </a:solidFill>
                <a:latin typeface="Helvetica Neue"/>
              </a:rPr>
              <a:t>Experimental Results:  StructMem, Stage by Stage</a:t>
            </a:r>
          </a:p>
        </p:txBody>
      </p:sp>
      <p:sp>
        <p:nvSpPr>
          <p:cNvPr id="19" name="TextBox 18"/>
          <p:cNvSpPr txBox="1"/>
          <p:nvPr/>
        </p:nvSpPr>
        <p:spPr>
          <a:xfrm>
            <a:off x="502920" y="1152144"/>
            <a:ext cx="11155680" cy="237744"/>
          </a:xfrm>
          <a:prstGeom prst="rect">
            <a:avLst/>
          </a:prstGeom>
          <a:noFill/>
        </p:spPr>
        <p:txBody>
          <a:bodyPr wrap="square" lIns="0" rIns="0" tIns="0" bIns="0" anchor="ctr">
            <a:spAutoFit/>
          </a:bodyPr>
          <a:lstStyle/>
          <a:p>
            <a:pPr algn="l"/>
            <a:r>
              <a:rPr sz="1150" b="0" i="1" u="none">
                <a:solidFill>
                  <a:srgbClr val="8A8A8A"/>
                </a:solidFill>
                <a:latin typeface="Helvetica Neue"/>
              </a:rPr>
              <a:t>Read down the attribution pipeline: the write and read stages are settled, and the phase that has to know which value is current is not</a:t>
            </a:r>
          </a:p>
        </p:txBody>
      </p:sp>
      <p:cxnSp>
        <p:nvCxnSpPr>
          <p:cNvPr id="20" name="Connector 19"/>
          <p:cNvCxnSpPr/>
          <p:nvPr/>
        </p:nvCxnSpPr>
        <p:spPr>
          <a:xfrm>
            <a:off x="502920" y="1719072"/>
            <a:ext cx="11183112" cy="0"/>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69080" y="1764792"/>
            <a:ext cx="7616952" cy="201168"/>
          </a:xfrm>
          <a:prstGeom prst="rect">
            <a:avLst/>
          </a:prstGeom>
          <a:noFill/>
        </p:spPr>
        <p:txBody>
          <a:bodyPr wrap="square" lIns="0" rIns="0" tIns="0" bIns="0" anchor="ctr">
            <a:spAutoFit/>
          </a:bodyPr>
          <a:lstStyle/>
          <a:p>
            <a:pPr algn="ctr"/>
            <a:r>
              <a:rPr sz="1100" b="1" i="0" u="none">
                <a:solidFill>
                  <a:srgbClr val="000000"/>
                </a:solidFill>
                <a:latin typeface="Helvetica Neue"/>
              </a:rPr>
              <a:t>StructMem, and its rank among the five backends</a:t>
            </a:r>
          </a:p>
        </p:txBody>
      </p:sp>
      <p:cxnSp>
        <p:nvCxnSpPr>
          <p:cNvPr id="22" name="Connector 21"/>
          <p:cNvCxnSpPr/>
          <p:nvPr/>
        </p:nvCxnSpPr>
        <p:spPr>
          <a:xfrm>
            <a:off x="4069080" y="1993391"/>
            <a:ext cx="7616952" cy="0"/>
          </a:xfrm>
          <a:prstGeom prst="line">
            <a:avLst/>
          </a:prstGeom>
          <a:ln w="1143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02920" y="1865376"/>
            <a:ext cx="1234440" cy="201168"/>
          </a:xfrm>
          <a:prstGeom prst="rect">
            <a:avLst/>
          </a:prstGeom>
          <a:noFill/>
        </p:spPr>
        <p:txBody>
          <a:bodyPr wrap="square" lIns="0" rIns="0" tIns="0" bIns="0" anchor="ctr">
            <a:spAutoFit/>
          </a:bodyPr>
          <a:lstStyle/>
          <a:p>
            <a:pPr algn="l"/>
            <a:r>
              <a:rPr sz="1050" b="1" i="0" u="none">
                <a:solidFill>
                  <a:srgbClr val="000000"/>
                </a:solidFill>
                <a:latin typeface="Helvetica Neue"/>
              </a:rPr>
              <a:t>Stage</a:t>
            </a:r>
          </a:p>
        </p:txBody>
      </p:sp>
      <p:sp>
        <p:nvSpPr>
          <p:cNvPr id="24" name="TextBox 23"/>
          <p:cNvSpPr txBox="1"/>
          <p:nvPr/>
        </p:nvSpPr>
        <p:spPr>
          <a:xfrm>
            <a:off x="1737360" y="1865376"/>
            <a:ext cx="2331720" cy="201168"/>
          </a:xfrm>
          <a:prstGeom prst="rect">
            <a:avLst/>
          </a:prstGeom>
          <a:noFill/>
        </p:spPr>
        <p:txBody>
          <a:bodyPr wrap="square" lIns="0" rIns="0" tIns="0" bIns="0" anchor="ctr">
            <a:spAutoFit/>
          </a:bodyPr>
          <a:lstStyle/>
          <a:p>
            <a:pPr algn="l"/>
            <a:r>
              <a:rPr sz="1050" b="1" i="0" u="none">
                <a:solidFill>
                  <a:srgbClr val="000000"/>
                </a:solidFill>
                <a:latin typeface="Helvetica Neue"/>
              </a:rPr>
              <a:t>Metric</a:t>
            </a:r>
          </a:p>
        </p:txBody>
      </p:sp>
      <p:sp>
        <p:nvSpPr>
          <p:cNvPr id="25" name="TextBox 24"/>
          <p:cNvSpPr txBox="1"/>
          <p:nvPr/>
        </p:nvSpPr>
        <p:spPr>
          <a:xfrm>
            <a:off x="4069080" y="2048255"/>
            <a:ext cx="1874519" cy="182880"/>
          </a:xfrm>
          <a:prstGeom prst="rect">
            <a:avLst/>
          </a:prstGeom>
          <a:noFill/>
        </p:spPr>
        <p:txBody>
          <a:bodyPr wrap="square" lIns="0" rIns="0" tIns="0" bIns="0" anchor="ctr">
            <a:spAutoFit/>
          </a:bodyPr>
          <a:lstStyle/>
          <a:p>
            <a:pPr algn="ctr"/>
            <a:r>
              <a:rPr sz="1000" b="1" i="0" u="none">
                <a:solidFill>
                  <a:srgbClr val="000000"/>
                </a:solidFill>
                <a:latin typeface="Helvetica Neue"/>
              </a:rPr>
              <a:t>LongMemEval</a:t>
            </a:r>
          </a:p>
        </p:txBody>
      </p:sp>
      <p:sp>
        <p:nvSpPr>
          <p:cNvPr id="26" name="TextBox 25"/>
          <p:cNvSpPr txBox="1"/>
          <p:nvPr/>
        </p:nvSpPr>
        <p:spPr>
          <a:xfrm>
            <a:off x="5943600" y="2048255"/>
            <a:ext cx="1874519" cy="182880"/>
          </a:xfrm>
          <a:prstGeom prst="rect">
            <a:avLst/>
          </a:prstGeom>
          <a:noFill/>
        </p:spPr>
        <p:txBody>
          <a:bodyPr wrap="square" lIns="0" rIns="0" tIns="0" bIns="0" anchor="ctr">
            <a:spAutoFit/>
          </a:bodyPr>
          <a:lstStyle/>
          <a:p>
            <a:pPr algn="ctr"/>
            <a:r>
              <a:rPr sz="1000" b="1" i="0" u="none">
                <a:solidFill>
                  <a:srgbClr val="000000"/>
                </a:solidFill>
                <a:latin typeface="Helvetica Neue"/>
              </a:rPr>
              <a:t>LoCoMo</a:t>
            </a:r>
          </a:p>
        </p:txBody>
      </p:sp>
      <p:sp>
        <p:nvSpPr>
          <p:cNvPr id="27" name="TextBox 26"/>
          <p:cNvSpPr txBox="1"/>
          <p:nvPr/>
        </p:nvSpPr>
        <p:spPr>
          <a:xfrm>
            <a:off x="7818120" y="2048255"/>
            <a:ext cx="1874519" cy="182880"/>
          </a:xfrm>
          <a:prstGeom prst="rect">
            <a:avLst/>
          </a:prstGeom>
          <a:noFill/>
        </p:spPr>
        <p:txBody>
          <a:bodyPr wrap="square" lIns="0" rIns="0" tIns="0" bIns="0" anchor="ctr">
            <a:spAutoFit/>
          </a:bodyPr>
          <a:lstStyle/>
          <a:p>
            <a:pPr algn="ctr"/>
            <a:r>
              <a:rPr sz="1000" b="1" i="0" u="none">
                <a:solidFill>
                  <a:srgbClr val="000000"/>
                </a:solidFill>
                <a:latin typeface="Helvetica Neue"/>
              </a:rPr>
              <a:t>HaluMem</a:t>
            </a:r>
          </a:p>
        </p:txBody>
      </p:sp>
      <p:sp>
        <p:nvSpPr>
          <p:cNvPr id="28" name="TextBox 27"/>
          <p:cNvSpPr txBox="1"/>
          <p:nvPr/>
        </p:nvSpPr>
        <p:spPr>
          <a:xfrm>
            <a:off x="9692640" y="2048255"/>
            <a:ext cx="1993392" cy="182880"/>
          </a:xfrm>
          <a:prstGeom prst="rect">
            <a:avLst/>
          </a:prstGeom>
          <a:noFill/>
        </p:spPr>
        <p:txBody>
          <a:bodyPr wrap="square" lIns="0" rIns="0" tIns="0" bIns="0" anchor="ctr">
            <a:spAutoFit/>
          </a:bodyPr>
          <a:lstStyle/>
          <a:p>
            <a:pPr algn="ctr"/>
            <a:r>
              <a:rPr sz="1000" b="1" i="0" u="none">
                <a:solidFill>
                  <a:srgbClr val="000000"/>
                </a:solidFill>
                <a:latin typeface="Helvetica Neue"/>
              </a:rPr>
              <a:t>MemFail</a:t>
            </a:r>
          </a:p>
        </p:txBody>
      </p:sp>
      <p:cxnSp>
        <p:nvCxnSpPr>
          <p:cNvPr id="29" name="Connector 28"/>
          <p:cNvCxnSpPr/>
          <p:nvPr/>
        </p:nvCxnSpPr>
        <p:spPr>
          <a:xfrm>
            <a:off x="502920" y="2286000"/>
            <a:ext cx="11183112" cy="0"/>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02920" y="2340864"/>
            <a:ext cx="1234440" cy="219456"/>
          </a:xfrm>
          <a:prstGeom prst="rect">
            <a:avLst/>
          </a:prstGeom>
          <a:noFill/>
        </p:spPr>
        <p:txBody>
          <a:bodyPr wrap="square" lIns="0" rIns="0" tIns="0" bIns="0" anchor="ctr">
            <a:spAutoFit/>
          </a:bodyPr>
          <a:lstStyle/>
          <a:p>
            <a:pPr algn="l"/>
            <a:r>
              <a:rPr sz="1050" b="1" i="0" u="none">
                <a:solidFill>
                  <a:srgbClr val="000000"/>
                </a:solidFill>
                <a:latin typeface="Helvetica Neue"/>
              </a:rPr>
              <a:t>Summary</a:t>
            </a:r>
          </a:p>
        </p:txBody>
      </p:sp>
      <p:sp>
        <p:nvSpPr>
          <p:cNvPr id="32" name="TextBox 31"/>
          <p:cNvSpPr txBox="1"/>
          <p:nvPr/>
        </p:nvSpPr>
        <p:spPr>
          <a:xfrm>
            <a:off x="1737360" y="2340864"/>
            <a:ext cx="2331720" cy="219456"/>
          </a:xfrm>
          <a:prstGeom prst="rect">
            <a:avLst/>
          </a:prstGeom>
          <a:noFill/>
        </p:spPr>
        <p:txBody>
          <a:bodyPr wrap="square" lIns="0" rIns="0" tIns="0" bIns="0" anchor="ctr">
            <a:spAutoFit/>
          </a:bodyPr>
          <a:lstStyle/>
          <a:p>
            <a:pPr algn="l"/>
            <a:r>
              <a:rPr sz="950" b="0" i="0" u="none">
                <a:solidFill>
                  <a:srgbClr val="3A3A3A"/>
                </a:solidFill>
                <a:latin typeface="Helvetica Neue"/>
              </a:rPr>
              <a:t>P1 / summary error ↓</a:t>
            </a:r>
          </a:p>
        </p:txBody>
      </p:sp>
      <p:sp>
        <p:nvSpPr>
          <p:cNvPr id="33" name="TextBox 32"/>
          <p:cNvSpPr txBox="1"/>
          <p:nvPr/>
        </p:nvSpPr>
        <p:spPr>
          <a:xfrm>
            <a:off x="4069080" y="2340864"/>
            <a:ext cx="1874519"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0.0000</a:t>
            </a:r>
            <a:r>
              <a:rPr sz="850" b="0" i="0" u="none">
                <a:solidFill>
                  <a:srgbClr val="8A8A8A"/>
                </a:solidFill>
                <a:latin typeface="Helvetica Neue"/>
              </a:rPr>
              <a:t>   1st</a:t>
            </a:r>
          </a:p>
        </p:txBody>
      </p:sp>
      <p:sp>
        <p:nvSpPr>
          <p:cNvPr id="34" name="TextBox 33"/>
          <p:cNvSpPr txBox="1"/>
          <p:nvPr/>
        </p:nvSpPr>
        <p:spPr>
          <a:xfrm>
            <a:off x="5943600" y="2340864"/>
            <a:ext cx="1874519"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0.0573</a:t>
            </a:r>
            <a:r>
              <a:rPr sz="850" b="0" i="0" u="none">
                <a:solidFill>
                  <a:srgbClr val="8A8A8A"/>
                </a:solidFill>
                <a:latin typeface="Helvetica Neue"/>
              </a:rPr>
              <a:t>   1st</a:t>
            </a:r>
          </a:p>
        </p:txBody>
      </p:sp>
      <p:sp>
        <p:nvSpPr>
          <p:cNvPr id="35" name="TextBox 34"/>
          <p:cNvSpPr txBox="1"/>
          <p:nvPr/>
        </p:nvSpPr>
        <p:spPr>
          <a:xfrm>
            <a:off x="7818120" y="2340864"/>
            <a:ext cx="1874519" cy="219456"/>
          </a:xfrm>
          <a:prstGeom prst="rect">
            <a:avLst/>
          </a:prstGeom>
          <a:noFill/>
        </p:spPr>
        <p:txBody>
          <a:bodyPr wrap="square" lIns="0" rIns="0" tIns="0" bIns="0" anchor="ctr">
            <a:spAutoFit/>
          </a:bodyPr>
          <a:lstStyle/>
          <a:p>
            <a:pPr algn="ctr">
              <a:lnSpc>
                <a:spcPct val="100000"/>
              </a:lnSpc>
            </a:pPr>
            <a:r>
              <a:rPr sz="1050" b="0" i="0" u="sng">
                <a:solidFill>
                  <a:srgbClr val="000000"/>
                </a:solidFill>
                <a:latin typeface="Menlo"/>
              </a:rPr>
              <a:t>0.0480</a:t>
            </a:r>
            <a:r>
              <a:rPr sz="850" b="0" i="0" u="none">
                <a:solidFill>
                  <a:srgbClr val="8A8A8A"/>
                </a:solidFill>
                <a:latin typeface="Helvetica Neue"/>
              </a:rPr>
              <a:t>   2nd</a:t>
            </a:r>
          </a:p>
        </p:txBody>
      </p:sp>
      <p:sp>
        <p:nvSpPr>
          <p:cNvPr id="36" name="TextBox 35"/>
          <p:cNvSpPr txBox="1"/>
          <p:nvPr/>
        </p:nvSpPr>
        <p:spPr>
          <a:xfrm>
            <a:off x="9692640" y="2340864"/>
            <a:ext cx="1993392"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0.0000</a:t>
            </a:r>
            <a:r>
              <a:rPr sz="850" b="0" i="0" u="none">
                <a:solidFill>
                  <a:srgbClr val="8A8A8A"/>
                </a:solidFill>
                <a:latin typeface="Helvetica Neue"/>
              </a:rPr>
              <a:t>   1st</a:t>
            </a:r>
          </a:p>
        </p:txBody>
      </p:sp>
      <p:sp>
        <p:nvSpPr>
          <p:cNvPr id="37" name="TextBox 36"/>
          <p:cNvSpPr txBox="1"/>
          <p:nvPr/>
        </p:nvSpPr>
        <p:spPr>
          <a:xfrm>
            <a:off x="502920" y="2615184"/>
            <a:ext cx="1234440" cy="219456"/>
          </a:xfrm>
          <a:prstGeom prst="rect">
            <a:avLst/>
          </a:prstGeom>
          <a:noFill/>
        </p:spPr>
        <p:txBody>
          <a:bodyPr wrap="square" lIns="0" rIns="0" tIns="0" bIns="0" anchor="ctr">
            <a:spAutoFit/>
          </a:bodyPr>
          <a:lstStyle/>
          <a:p>
            <a:pPr algn="l"/>
            <a:r>
              <a:rPr sz="1050" b="1" i="0" u="none">
                <a:solidFill>
                  <a:srgbClr val="000000"/>
                </a:solidFill>
                <a:latin typeface="Helvetica Neue"/>
              </a:rPr>
              <a:t/>
            </a:r>
          </a:p>
        </p:txBody>
      </p:sp>
      <p:sp>
        <p:nvSpPr>
          <p:cNvPr id="38" name="TextBox 37"/>
          <p:cNvSpPr txBox="1"/>
          <p:nvPr/>
        </p:nvSpPr>
        <p:spPr>
          <a:xfrm>
            <a:off x="1737360" y="2615184"/>
            <a:ext cx="2331720" cy="219456"/>
          </a:xfrm>
          <a:prstGeom prst="rect">
            <a:avLst/>
          </a:prstGeom>
          <a:noFill/>
        </p:spPr>
        <p:txBody>
          <a:bodyPr wrap="square" lIns="0" rIns="0" tIns="0" bIns="0" anchor="ctr">
            <a:spAutoFit/>
          </a:bodyPr>
          <a:lstStyle/>
          <a:p>
            <a:pPr algn="l"/>
            <a:r>
              <a:rPr sz="950" b="0" i="0" u="none">
                <a:solidFill>
                  <a:srgbClr val="3A3A3A"/>
                </a:solidFill>
                <a:latin typeface="Helvetica Neue"/>
              </a:rPr>
              <a:t>Extraction F1 ↑</a:t>
            </a:r>
          </a:p>
        </p:txBody>
      </p:sp>
      <p:sp>
        <p:nvSpPr>
          <p:cNvPr id="39" name="TextBox 38"/>
          <p:cNvSpPr txBox="1"/>
          <p:nvPr/>
        </p:nvSpPr>
        <p:spPr>
          <a:xfrm>
            <a:off x="4069080" y="2615184"/>
            <a:ext cx="1874519"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sp>
        <p:nvSpPr>
          <p:cNvPr id="40" name="TextBox 39"/>
          <p:cNvSpPr txBox="1"/>
          <p:nvPr/>
        </p:nvSpPr>
        <p:spPr>
          <a:xfrm>
            <a:off x="5943600" y="2615184"/>
            <a:ext cx="1874519"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0.8845</a:t>
            </a:r>
            <a:r>
              <a:rPr sz="850" b="0" i="0" u="none">
                <a:solidFill>
                  <a:srgbClr val="8A8A8A"/>
                </a:solidFill>
                <a:latin typeface="Helvetica Neue"/>
              </a:rPr>
              <a:t>   1st</a:t>
            </a:r>
          </a:p>
        </p:txBody>
      </p:sp>
      <p:sp>
        <p:nvSpPr>
          <p:cNvPr id="41" name="TextBox 40"/>
          <p:cNvSpPr txBox="1"/>
          <p:nvPr/>
        </p:nvSpPr>
        <p:spPr>
          <a:xfrm>
            <a:off x="7818120" y="2615184"/>
            <a:ext cx="1874519"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0.9339</a:t>
            </a:r>
            <a:r>
              <a:rPr sz="850" b="0" i="0" u="none">
                <a:solidFill>
                  <a:srgbClr val="8A8A8A"/>
                </a:solidFill>
                <a:latin typeface="Helvetica Neue"/>
              </a:rPr>
              <a:t>   1st</a:t>
            </a:r>
          </a:p>
        </p:txBody>
      </p:sp>
      <p:sp>
        <p:nvSpPr>
          <p:cNvPr id="42" name="TextBox 41"/>
          <p:cNvSpPr txBox="1"/>
          <p:nvPr/>
        </p:nvSpPr>
        <p:spPr>
          <a:xfrm>
            <a:off x="9692640" y="2615184"/>
            <a:ext cx="1993392"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cxnSp>
        <p:nvCxnSpPr>
          <p:cNvPr id="43" name="Connector 42"/>
          <p:cNvCxnSpPr/>
          <p:nvPr/>
        </p:nvCxnSpPr>
        <p:spPr>
          <a:xfrm>
            <a:off x="502920" y="2862072"/>
            <a:ext cx="11183112" cy="0"/>
          </a:xfrm>
          <a:prstGeom prst="line">
            <a:avLst/>
          </a:prstGeom>
          <a:ln w="6350">
            <a:solidFill>
              <a:srgbClr val="8A8A8A"/>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02920" y="2889503"/>
            <a:ext cx="1234440" cy="219456"/>
          </a:xfrm>
          <a:prstGeom prst="rect">
            <a:avLst/>
          </a:prstGeom>
          <a:noFill/>
        </p:spPr>
        <p:txBody>
          <a:bodyPr wrap="square" lIns="0" rIns="0" tIns="0" bIns="0" anchor="ctr">
            <a:spAutoFit/>
          </a:bodyPr>
          <a:lstStyle/>
          <a:p>
            <a:pPr algn="l"/>
            <a:r>
              <a:rPr sz="1050" b="1" i="0" u="none">
                <a:solidFill>
                  <a:srgbClr val="000000"/>
                </a:solidFill>
                <a:latin typeface="Helvetica Neue"/>
              </a:rPr>
              <a:t>Storage</a:t>
            </a:r>
          </a:p>
        </p:txBody>
      </p:sp>
      <p:sp>
        <p:nvSpPr>
          <p:cNvPr id="45" name="TextBox 44"/>
          <p:cNvSpPr txBox="1"/>
          <p:nvPr/>
        </p:nvSpPr>
        <p:spPr>
          <a:xfrm>
            <a:off x="1737360" y="2889503"/>
            <a:ext cx="2331720" cy="219456"/>
          </a:xfrm>
          <a:prstGeom prst="rect">
            <a:avLst/>
          </a:prstGeom>
          <a:noFill/>
        </p:spPr>
        <p:txBody>
          <a:bodyPr wrap="square" lIns="0" rIns="0" tIns="0" bIns="0" anchor="ctr">
            <a:spAutoFit/>
          </a:bodyPr>
          <a:lstStyle/>
          <a:p>
            <a:pPr algn="l"/>
            <a:r>
              <a:rPr sz="950" b="0" i="0" u="none">
                <a:solidFill>
                  <a:srgbClr val="3A3A3A"/>
                </a:solidFill>
                <a:latin typeface="Helvetica Neue"/>
              </a:rPr>
              <a:t>Update accuracy ↑</a:t>
            </a:r>
          </a:p>
        </p:txBody>
      </p:sp>
      <p:sp>
        <p:nvSpPr>
          <p:cNvPr id="46" name="TextBox 45"/>
          <p:cNvSpPr txBox="1"/>
          <p:nvPr/>
        </p:nvSpPr>
        <p:spPr>
          <a:xfrm>
            <a:off x="4069080" y="2889503"/>
            <a:ext cx="1874519" cy="219456"/>
          </a:xfrm>
          <a:prstGeom prst="rect">
            <a:avLst/>
          </a:prstGeom>
          <a:noFill/>
        </p:spPr>
        <p:txBody>
          <a:bodyPr wrap="square" lIns="0" rIns="0" tIns="0" bIns="0" anchor="ctr">
            <a:spAutoFit/>
          </a:bodyPr>
          <a:lstStyle/>
          <a:p>
            <a:pPr algn="ctr">
              <a:lnSpc>
                <a:spcPct val="100000"/>
              </a:lnSpc>
            </a:pPr>
            <a:r>
              <a:rPr sz="1050" b="0" i="0" u="sng">
                <a:solidFill>
                  <a:srgbClr val="000000"/>
                </a:solidFill>
                <a:latin typeface="Menlo"/>
              </a:rPr>
              <a:t>0.6000</a:t>
            </a:r>
            <a:r>
              <a:rPr sz="850" b="0" i="0" u="none">
                <a:solidFill>
                  <a:srgbClr val="8A8A8A"/>
                </a:solidFill>
                <a:latin typeface="Helvetica Neue"/>
              </a:rPr>
              <a:t>   2nd</a:t>
            </a:r>
          </a:p>
        </p:txBody>
      </p:sp>
      <p:sp>
        <p:nvSpPr>
          <p:cNvPr id="47" name="TextBox 46"/>
          <p:cNvSpPr txBox="1"/>
          <p:nvPr/>
        </p:nvSpPr>
        <p:spPr>
          <a:xfrm>
            <a:off x="5943600" y="2889503"/>
            <a:ext cx="1874519"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0.3514</a:t>
            </a:r>
            <a:r>
              <a:rPr sz="850" b="0" i="0" u="none">
                <a:solidFill>
                  <a:srgbClr val="8A8A8A"/>
                </a:solidFill>
                <a:latin typeface="Helvetica Neue"/>
              </a:rPr>
              <a:t>   1st</a:t>
            </a:r>
          </a:p>
        </p:txBody>
      </p:sp>
      <p:sp>
        <p:nvSpPr>
          <p:cNvPr id="48" name="TextBox 47"/>
          <p:cNvSpPr txBox="1"/>
          <p:nvPr/>
        </p:nvSpPr>
        <p:spPr>
          <a:xfrm>
            <a:off x="7818120" y="2889503"/>
            <a:ext cx="1874519" cy="219456"/>
          </a:xfrm>
          <a:prstGeom prst="rect">
            <a:avLst/>
          </a:prstGeom>
          <a:noFill/>
        </p:spPr>
        <p:txBody>
          <a:bodyPr wrap="square" lIns="0" rIns="0" tIns="0" bIns="0" anchor="ctr">
            <a:spAutoFit/>
          </a:bodyPr>
          <a:lstStyle/>
          <a:p>
            <a:pPr algn="ctr">
              <a:lnSpc>
                <a:spcPct val="100000"/>
              </a:lnSpc>
            </a:pPr>
            <a:r>
              <a:rPr sz="1050" b="0" i="0" u="none">
                <a:solidFill>
                  <a:srgbClr val="000000"/>
                </a:solidFill>
                <a:latin typeface="Menlo"/>
              </a:rPr>
              <a:t>0.7183</a:t>
            </a:r>
            <a:r>
              <a:rPr sz="850" b="0" i="0" u="none">
                <a:solidFill>
                  <a:srgbClr val="8A8A8A"/>
                </a:solidFill>
                <a:latin typeface="Helvetica Neue"/>
              </a:rPr>
              <a:t>   3rd</a:t>
            </a:r>
          </a:p>
        </p:txBody>
      </p:sp>
      <p:sp>
        <p:nvSpPr>
          <p:cNvPr id="49" name="TextBox 48"/>
          <p:cNvSpPr txBox="1"/>
          <p:nvPr/>
        </p:nvSpPr>
        <p:spPr>
          <a:xfrm>
            <a:off x="9692640" y="2889503"/>
            <a:ext cx="1993392"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0.6000</a:t>
            </a:r>
            <a:r>
              <a:rPr sz="850" b="0" i="0" u="none">
                <a:solidFill>
                  <a:srgbClr val="8A8A8A"/>
                </a:solidFill>
                <a:latin typeface="Helvetica Neue"/>
              </a:rPr>
              <a:t>   1st</a:t>
            </a:r>
          </a:p>
        </p:txBody>
      </p:sp>
      <p:sp>
        <p:nvSpPr>
          <p:cNvPr id="50" name="TextBox 49"/>
          <p:cNvSpPr txBox="1"/>
          <p:nvPr/>
        </p:nvSpPr>
        <p:spPr>
          <a:xfrm>
            <a:off x="502920" y="3163823"/>
            <a:ext cx="1234440" cy="219456"/>
          </a:xfrm>
          <a:prstGeom prst="rect">
            <a:avLst/>
          </a:prstGeom>
          <a:noFill/>
        </p:spPr>
        <p:txBody>
          <a:bodyPr wrap="square" lIns="0" rIns="0" tIns="0" bIns="0" anchor="ctr">
            <a:spAutoFit/>
          </a:bodyPr>
          <a:lstStyle/>
          <a:p>
            <a:pPr algn="l"/>
            <a:r>
              <a:rPr sz="1050" b="1" i="0" u="none">
                <a:solidFill>
                  <a:srgbClr val="000000"/>
                </a:solidFill>
                <a:latin typeface="Helvetica Neue"/>
              </a:rPr>
              <a:t/>
            </a:r>
          </a:p>
        </p:txBody>
      </p:sp>
      <p:sp>
        <p:nvSpPr>
          <p:cNvPr id="51" name="TextBox 50"/>
          <p:cNvSpPr txBox="1"/>
          <p:nvPr/>
        </p:nvSpPr>
        <p:spPr>
          <a:xfrm>
            <a:off x="1737360" y="3163823"/>
            <a:ext cx="2331720" cy="219456"/>
          </a:xfrm>
          <a:prstGeom prst="rect">
            <a:avLst/>
          </a:prstGeom>
          <a:noFill/>
        </p:spPr>
        <p:txBody>
          <a:bodyPr wrap="square" lIns="0" rIns="0" tIns="0" bIns="0" anchor="ctr">
            <a:spAutoFit/>
          </a:bodyPr>
          <a:lstStyle/>
          <a:p>
            <a:pPr algn="l"/>
            <a:r>
              <a:rPr sz="950" b="0" i="0" u="none">
                <a:solidFill>
                  <a:srgbClr val="3A3A3A"/>
                </a:solidFill>
                <a:latin typeface="Helvetica Neue"/>
              </a:rPr>
              <a:t>Memory-conflict QA ↑</a:t>
            </a:r>
          </a:p>
        </p:txBody>
      </p:sp>
      <p:sp>
        <p:nvSpPr>
          <p:cNvPr id="52" name="TextBox 51"/>
          <p:cNvSpPr txBox="1"/>
          <p:nvPr/>
        </p:nvSpPr>
        <p:spPr>
          <a:xfrm>
            <a:off x="4069080" y="3163823"/>
            <a:ext cx="1874519"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sp>
        <p:nvSpPr>
          <p:cNvPr id="53" name="TextBox 52"/>
          <p:cNvSpPr txBox="1"/>
          <p:nvPr/>
        </p:nvSpPr>
        <p:spPr>
          <a:xfrm>
            <a:off x="5943600" y="3163823"/>
            <a:ext cx="1874519"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sp>
        <p:nvSpPr>
          <p:cNvPr id="54" name="TextBox 53"/>
          <p:cNvSpPr txBox="1"/>
          <p:nvPr/>
        </p:nvSpPr>
        <p:spPr>
          <a:xfrm>
            <a:off x="7818120" y="3163823"/>
            <a:ext cx="1874519" cy="219456"/>
          </a:xfrm>
          <a:prstGeom prst="rect">
            <a:avLst/>
          </a:prstGeom>
          <a:noFill/>
        </p:spPr>
        <p:txBody>
          <a:bodyPr wrap="square" lIns="0" rIns="0" tIns="0" bIns="0" anchor="ctr">
            <a:spAutoFit/>
          </a:bodyPr>
          <a:lstStyle/>
          <a:p>
            <a:pPr algn="ctr">
              <a:lnSpc>
                <a:spcPct val="100000"/>
              </a:lnSpc>
            </a:pPr>
            <a:r>
              <a:rPr sz="1050" b="0" i="0" u="sng">
                <a:solidFill>
                  <a:srgbClr val="000000"/>
                </a:solidFill>
                <a:latin typeface="Menlo"/>
              </a:rPr>
              <a:t>0.6410</a:t>
            </a:r>
            <a:r>
              <a:rPr sz="850" b="0" i="0" u="none">
                <a:solidFill>
                  <a:srgbClr val="8A8A8A"/>
                </a:solidFill>
                <a:latin typeface="Helvetica Neue"/>
              </a:rPr>
              <a:t>   2nd</a:t>
            </a:r>
          </a:p>
        </p:txBody>
      </p:sp>
      <p:sp>
        <p:nvSpPr>
          <p:cNvPr id="55" name="TextBox 54"/>
          <p:cNvSpPr txBox="1"/>
          <p:nvPr/>
        </p:nvSpPr>
        <p:spPr>
          <a:xfrm>
            <a:off x="9692640" y="3163823"/>
            <a:ext cx="1993392"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sp>
        <p:nvSpPr>
          <p:cNvPr id="56" name="TextBox 55"/>
          <p:cNvSpPr txBox="1"/>
          <p:nvPr/>
        </p:nvSpPr>
        <p:spPr>
          <a:xfrm>
            <a:off x="502920" y="3438143"/>
            <a:ext cx="1234440" cy="219456"/>
          </a:xfrm>
          <a:prstGeom prst="rect">
            <a:avLst/>
          </a:prstGeom>
          <a:noFill/>
        </p:spPr>
        <p:txBody>
          <a:bodyPr wrap="square" lIns="0" rIns="0" tIns="0" bIns="0" anchor="ctr">
            <a:spAutoFit/>
          </a:bodyPr>
          <a:lstStyle/>
          <a:p>
            <a:pPr algn="l"/>
            <a:r>
              <a:rPr sz="1050" b="1" i="0" u="none">
                <a:solidFill>
                  <a:srgbClr val="000000"/>
                </a:solidFill>
                <a:latin typeface="Helvetica Neue"/>
              </a:rPr>
              <a:t/>
            </a:r>
          </a:p>
        </p:txBody>
      </p:sp>
      <p:sp>
        <p:nvSpPr>
          <p:cNvPr id="57" name="TextBox 56"/>
          <p:cNvSpPr txBox="1"/>
          <p:nvPr/>
        </p:nvSpPr>
        <p:spPr>
          <a:xfrm>
            <a:off x="1737360" y="3438143"/>
            <a:ext cx="2331720" cy="219456"/>
          </a:xfrm>
          <a:prstGeom prst="rect">
            <a:avLst/>
          </a:prstGeom>
          <a:noFill/>
        </p:spPr>
        <p:txBody>
          <a:bodyPr wrap="square" lIns="0" rIns="0" tIns="0" bIns="0" anchor="ctr">
            <a:spAutoFit/>
          </a:bodyPr>
          <a:lstStyle/>
          <a:p>
            <a:pPr algn="l"/>
            <a:r>
              <a:rPr sz="950" b="0" i="0" u="none">
                <a:solidFill>
                  <a:srgbClr val="3A3A3A"/>
                </a:solidFill>
                <a:latin typeface="Helvetica Neue"/>
              </a:rPr>
              <a:t>Dynamic-update QA ↑   (n = 6)</a:t>
            </a:r>
          </a:p>
        </p:txBody>
      </p:sp>
      <p:sp>
        <p:nvSpPr>
          <p:cNvPr id="58" name="TextBox 57"/>
          <p:cNvSpPr txBox="1"/>
          <p:nvPr/>
        </p:nvSpPr>
        <p:spPr>
          <a:xfrm>
            <a:off x="4069080" y="3438143"/>
            <a:ext cx="1874519"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sp>
        <p:nvSpPr>
          <p:cNvPr id="59" name="TextBox 58"/>
          <p:cNvSpPr txBox="1"/>
          <p:nvPr/>
        </p:nvSpPr>
        <p:spPr>
          <a:xfrm>
            <a:off x="5943600" y="3438143"/>
            <a:ext cx="1874519"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sp>
        <p:nvSpPr>
          <p:cNvPr id="60" name="TextBox 59"/>
          <p:cNvSpPr txBox="1"/>
          <p:nvPr/>
        </p:nvSpPr>
        <p:spPr>
          <a:xfrm>
            <a:off x="7818120" y="3438143"/>
            <a:ext cx="1874519" cy="219456"/>
          </a:xfrm>
          <a:prstGeom prst="rect">
            <a:avLst/>
          </a:prstGeom>
          <a:noFill/>
        </p:spPr>
        <p:txBody>
          <a:bodyPr wrap="square" lIns="0" rIns="0" tIns="0" bIns="0" anchor="ctr">
            <a:spAutoFit/>
          </a:bodyPr>
          <a:lstStyle/>
          <a:p>
            <a:pPr algn="ctr">
              <a:lnSpc>
                <a:spcPct val="100000"/>
              </a:lnSpc>
            </a:pPr>
            <a:r>
              <a:rPr sz="1050" b="0" i="0" u="none">
                <a:solidFill>
                  <a:srgbClr val="000000"/>
                </a:solidFill>
                <a:latin typeface="Menlo"/>
              </a:rPr>
              <a:t>0.0000</a:t>
            </a:r>
            <a:r>
              <a:rPr sz="850" b="0" i="0" u="none">
                <a:solidFill>
                  <a:srgbClr val="8A8A8A"/>
                </a:solidFill>
                <a:latin typeface="Helvetica Neue"/>
              </a:rPr>
              <a:t>   5th</a:t>
            </a:r>
          </a:p>
        </p:txBody>
      </p:sp>
      <p:sp>
        <p:nvSpPr>
          <p:cNvPr id="61" name="TextBox 60"/>
          <p:cNvSpPr txBox="1"/>
          <p:nvPr/>
        </p:nvSpPr>
        <p:spPr>
          <a:xfrm>
            <a:off x="9692640" y="3438143"/>
            <a:ext cx="1993392"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sp>
        <p:nvSpPr>
          <p:cNvPr id="62" name="TextBox 61"/>
          <p:cNvSpPr txBox="1"/>
          <p:nvPr/>
        </p:nvSpPr>
        <p:spPr>
          <a:xfrm>
            <a:off x="502920" y="3712463"/>
            <a:ext cx="1234440" cy="219456"/>
          </a:xfrm>
          <a:prstGeom prst="rect">
            <a:avLst/>
          </a:prstGeom>
          <a:noFill/>
        </p:spPr>
        <p:txBody>
          <a:bodyPr wrap="square" lIns="0" rIns="0" tIns="0" bIns="0" anchor="ctr">
            <a:spAutoFit/>
          </a:bodyPr>
          <a:lstStyle/>
          <a:p>
            <a:pPr algn="l"/>
            <a:r>
              <a:rPr sz="1050" b="1" i="0" u="none">
                <a:solidFill>
                  <a:srgbClr val="000000"/>
                </a:solidFill>
                <a:latin typeface="Helvetica Neue"/>
              </a:rPr>
              <a:t/>
            </a:r>
          </a:p>
        </p:txBody>
      </p:sp>
      <p:sp>
        <p:nvSpPr>
          <p:cNvPr id="63" name="TextBox 62"/>
          <p:cNvSpPr txBox="1"/>
          <p:nvPr/>
        </p:nvSpPr>
        <p:spPr>
          <a:xfrm>
            <a:off x="1737360" y="3712463"/>
            <a:ext cx="2331720" cy="219456"/>
          </a:xfrm>
          <a:prstGeom prst="rect">
            <a:avLst/>
          </a:prstGeom>
          <a:noFill/>
        </p:spPr>
        <p:txBody>
          <a:bodyPr wrap="square" lIns="0" rIns="0" tIns="0" bIns="0" anchor="ctr">
            <a:spAutoFit/>
          </a:bodyPr>
          <a:lstStyle/>
          <a:p>
            <a:pPr algn="l"/>
            <a:r>
              <a:rPr sz="950" b="0" i="0" u="none">
                <a:solidFill>
                  <a:srgbClr val="3A3A3A"/>
                </a:solidFill>
                <a:latin typeface="Helvetica Neue"/>
              </a:rPr>
              <a:t>Storage error ↓</a:t>
            </a:r>
          </a:p>
        </p:txBody>
      </p:sp>
      <p:sp>
        <p:nvSpPr>
          <p:cNvPr id="64" name="TextBox 63"/>
          <p:cNvSpPr txBox="1"/>
          <p:nvPr/>
        </p:nvSpPr>
        <p:spPr>
          <a:xfrm>
            <a:off x="4069080" y="3712463"/>
            <a:ext cx="1874519"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sp>
        <p:nvSpPr>
          <p:cNvPr id="65" name="TextBox 64"/>
          <p:cNvSpPr txBox="1"/>
          <p:nvPr/>
        </p:nvSpPr>
        <p:spPr>
          <a:xfrm>
            <a:off x="5943600" y="3712463"/>
            <a:ext cx="1874519"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sp>
        <p:nvSpPr>
          <p:cNvPr id="66" name="TextBox 65"/>
          <p:cNvSpPr txBox="1"/>
          <p:nvPr/>
        </p:nvSpPr>
        <p:spPr>
          <a:xfrm>
            <a:off x="7818120" y="3712463"/>
            <a:ext cx="1874519" cy="219456"/>
          </a:xfrm>
          <a:prstGeom prst="rect">
            <a:avLst/>
          </a:prstGeom>
          <a:noFill/>
        </p:spPr>
        <p:txBody>
          <a:bodyPr wrap="square" lIns="0" rIns="0" tIns="0" bIns="0" anchor="ctr">
            <a:spAutoFit/>
          </a:bodyPr>
          <a:lstStyle/>
          <a:p>
            <a:pPr algn="ctr"/>
            <a:r>
              <a:rPr sz="1100" b="0" i="0" u="none">
                <a:solidFill>
                  <a:srgbClr val="8A8A8A"/>
                </a:solidFill>
                <a:latin typeface="Menlo"/>
              </a:rPr>
              <a:t>—</a:t>
            </a:r>
          </a:p>
        </p:txBody>
      </p:sp>
      <p:sp>
        <p:nvSpPr>
          <p:cNvPr id="67" name="TextBox 66"/>
          <p:cNvSpPr txBox="1"/>
          <p:nvPr/>
        </p:nvSpPr>
        <p:spPr>
          <a:xfrm>
            <a:off x="9692640" y="3712463"/>
            <a:ext cx="1993392"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0.0000</a:t>
            </a:r>
            <a:r>
              <a:rPr sz="850" b="0" i="0" u="none">
                <a:solidFill>
                  <a:srgbClr val="8A8A8A"/>
                </a:solidFill>
                <a:latin typeface="Helvetica Neue"/>
              </a:rPr>
              <a:t>   1st</a:t>
            </a:r>
          </a:p>
        </p:txBody>
      </p:sp>
      <p:cxnSp>
        <p:nvCxnSpPr>
          <p:cNvPr id="68" name="Connector 67"/>
          <p:cNvCxnSpPr/>
          <p:nvPr/>
        </p:nvCxnSpPr>
        <p:spPr>
          <a:xfrm>
            <a:off x="502920" y="3959351"/>
            <a:ext cx="11183112" cy="0"/>
          </a:xfrm>
          <a:prstGeom prst="line">
            <a:avLst/>
          </a:prstGeom>
          <a:ln w="6350">
            <a:solidFill>
              <a:srgbClr val="8A8A8A"/>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02920" y="3986783"/>
            <a:ext cx="1234440" cy="219456"/>
          </a:xfrm>
          <a:prstGeom prst="rect">
            <a:avLst/>
          </a:prstGeom>
          <a:noFill/>
        </p:spPr>
        <p:txBody>
          <a:bodyPr wrap="square" lIns="0" rIns="0" tIns="0" bIns="0" anchor="ctr">
            <a:spAutoFit/>
          </a:bodyPr>
          <a:lstStyle/>
          <a:p>
            <a:pPr algn="l"/>
            <a:r>
              <a:rPr sz="1050" b="1" i="0" u="none">
                <a:solidFill>
                  <a:srgbClr val="000000"/>
                </a:solidFill>
                <a:latin typeface="Helvetica Neue"/>
              </a:rPr>
              <a:t>Retrieval</a:t>
            </a:r>
          </a:p>
        </p:txBody>
      </p:sp>
      <p:sp>
        <p:nvSpPr>
          <p:cNvPr id="70" name="TextBox 69"/>
          <p:cNvSpPr txBox="1"/>
          <p:nvPr/>
        </p:nvSpPr>
        <p:spPr>
          <a:xfrm>
            <a:off x="1737360" y="3986783"/>
            <a:ext cx="2331720" cy="219456"/>
          </a:xfrm>
          <a:prstGeom prst="rect">
            <a:avLst/>
          </a:prstGeom>
          <a:noFill/>
        </p:spPr>
        <p:txBody>
          <a:bodyPr wrap="square" lIns="0" rIns="0" tIns="0" bIns="0" anchor="ctr">
            <a:spAutoFit/>
          </a:bodyPr>
          <a:lstStyle/>
          <a:p>
            <a:pPr algn="l"/>
            <a:r>
              <a:rPr sz="950" b="0" i="0" u="none">
                <a:solidFill>
                  <a:srgbClr val="3A3A3A"/>
                </a:solidFill>
                <a:latin typeface="Helvetica Neue"/>
              </a:rPr>
              <a:t>P4 / retrieval error ↓</a:t>
            </a:r>
          </a:p>
        </p:txBody>
      </p:sp>
      <p:sp>
        <p:nvSpPr>
          <p:cNvPr id="71" name="TextBox 70"/>
          <p:cNvSpPr txBox="1"/>
          <p:nvPr/>
        </p:nvSpPr>
        <p:spPr>
          <a:xfrm>
            <a:off x="4069080" y="3986783"/>
            <a:ext cx="1874519"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0.0000</a:t>
            </a:r>
            <a:r>
              <a:rPr sz="850" b="0" i="0" u="none">
                <a:solidFill>
                  <a:srgbClr val="8A8A8A"/>
                </a:solidFill>
                <a:latin typeface="Helvetica Neue"/>
              </a:rPr>
              <a:t>   1st</a:t>
            </a:r>
          </a:p>
        </p:txBody>
      </p:sp>
      <p:sp>
        <p:nvSpPr>
          <p:cNvPr id="72" name="TextBox 71"/>
          <p:cNvSpPr txBox="1"/>
          <p:nvPr/>
        </p:nvSpPr>
        <p:spPr>
          <a:xfrm>
            <a:off x="5943600" y="3986783"/>
            <a:ext cx="1874519" cy="219456"/>
          </a:xfrm>
          <a:prstGeom prst="rect">
            <a:avLst/>
          </a:prstGeom>
          <a:noFill/>
        </p:spPr>
        <p:txBody>
          <a:bodyPr wrap="square" lIns="0" rIns="0" tIns="0" bIns="0" anchor="ctr">
            <a:spAutoFit/>
          </a:bodyPr>
          <a:lstStyle/>
          <a:p>
            <a:pPr algn="ctr">
              <a:lnSpc>
                <a:spcPct val="100000"/>
              </a:lnSpc>
            </a:pPr>
            <a:r>
              <a:rPr sz="1050" b="0" i="0" u="none">
                <a:solidFill>
                  <a:srgbClr val="000000"/>
                </a:solidFill>
                <a:latin typeface="Menlo"/>
              </a:rPr>
              <a:t>0.0521</a:t>
            </a:r>
            <a:r>
              <a:rPr sz="850" b="0" i="0" u="none">
                <a:solidFill>
                  <a:srgbClr val="8A8A8A"/>
                </a:solidFill>
                <a:latin typeface="Helvetica Neue"/>
              </a:rPr>
              <a:t>   3rd</a:t>
            </a:r>
          </a:p>
        </p:txBody>
      </p:sp>
      <p:sp>
        <p:nvSpPr>
          <p:cNvPr id="73" name="TextBox 72"/>
          <p:cNvSpPr txBox="1"/>
          <p:nvPr/>
        </p:nvSpPr>
        <p:spPr>
          <a:xfrm>
            <a:off x="7818120" y="3986783"/>
            <a:ext cx="1874519" cy="219456"/>
          </a:xfrm>
          <a:prstGeom prst="rect">
            <a:avLst/>
          </a:prstGeom>
          <a:noFill/>
        </p:spPr>
        <p:txBody>
          <a:bodyPr wrap="square" lIns="0" rIns="0" tIns="0" bIns="0" anchor="ctr">
            <a:spAutoFit/>
          </a:bodyPr>
          <a:lstStyle/>
          <a:p>
            <a:pPr algn="ctr">
              <a:lnSpc>
                <a:spcPct val="100000"/>
              </a:lnSpc>
            </a:pPr>
            <a:r>
              <a:rPr sz="1050" b="0" i="0" u="none">
                <a:solidFill>
                  <a:srgbClr val="000000"/>
                </a:solidFill>
                <a:latin typeface="Menlo"/>
              </a:rPr>
              <a:t>0.2000</a:t>
            </a:r>
            <a:r>
              <a:rPr sz="850" b="0" i="0" u="none">
                <a:solidFill>
                  <a:srgbClr val="8A8A8A"/>
                </a:solidFill>
                <a:latin typeface="Helvetica Neue"/>
              </a:rPr>
              <a:t>   3rd</a:t>
            </a:r>
          </a:p>
        </p:txBody>
      </p:sp>
      <p:sp>
        <p:nvSpPr>
          <p:cNvPr id="74" name="TextBox 73"/>
          <p:cNvSpPr txBox="1"/>
          <p:nvPr/>
        </p:nvSpPr>
        <p:spPr>
          <a:xfrm>
            <a:off x="9692640" y="3986783"/>
            <a:ext cx="1993392" cy="219456"/>
          </a:xfrm>
          <a:prstGeom prst="rect">
            <a:avLst/>
          </a:prstGeom>
          <a:noFill/>
        </p:spPr>
        <p:txBody>
          <a:bodyPr wrap="square" lIns="0" rIns="0" tIns="0" bIns="0" anchor="ctr">
            <a:spAutoFit/>
          </a:bodyPr>
          <a:lstStyle/>
          <a:p>
            <a:pPr algn="ctr">
              <a:lnSpc>
                <a:spcPct val="100000"/>
              </a:lnSpc>
            </a:pPr>
            <a:r>
              <a:rPr sz="1050" b="0" i="0" u="sng">
                <a:solidFill>
                  <a:srgbClr val="000000"/>
                </a:solidFill>
                <a:latin typeface="Menlo"/>
              </a:rPr>
              <a:t>0.0286</a:t>
            </a:r>
            <a:r>
              <a:rPr sz="850" b="0" i="0" u="none">
                <a:solidFill>
                  <a:srgbClr val="8A8A8A"/>
                </a:solidFill>
                <a:latin typeface="Helvetica Neue"/>
              </a:rPr>
              <a:t>   2nd</a:t>
            </a:r>
          </a:p>
        </p:txBody>
      </p:sp>
      <p:cxnSp>
        <p:nvCxnSpPr>
          <p:cNvPr id="75" name="Connector 74"/>
          <p:cNvCxnSpPr/>
          <p:nvPr/>
        </p:nvCxnSpPr>
        <p:spPr>
          <a:xfrm>
            <a:off x="502920" y="4233671"/>
            <a:ext cx="11183112" cy="0"/>
          </a:xfrm>
          <a:prstGeom prst="line">
            <a:avLst/>
          </a:prstGeom>
          <a:ln w="6350">
            <a:solidFill>
              <a:srgbClr val="8A8A8A"/>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502920" y="4261103"/>
            <a:ext cx="1234440" cy="219456"/>
          </a:xfrm>
          <a:prstGeom prst="rect">
            <a:avLst/>
          </a:prstGeom>
          <a:noFill/>
        </p:spPr>
        <p:txBody>
          <a:bodyPr wrap="square" lIns="0" rIns="0" tIns="0" bIns="0" anchor="ctr">
            <a:spAutoFit/>
          </a:bodyPr>
          <a:lstStyle/>
          <a:p>
            <a:pPr algn="l"/>
            <a:r>
              <a:rPr sz="1050" b="1" i="0" u="none">
                <a:solidFill>
                  <a:srgbClr val="000000"/>
                </a:solidFill>
                <a:latin typeface="Helvetica Neue"/>
              </a:rPr>
              <a:t>Reasoning</a:t>
            </a:r>
          </a:p>
        </p:txBody>
      </p:sp>
      <p:sp>
        <p:nvSpPr>
          <p:cNvPr id="77" name="TextBox 76"/>
          <p:cNvSpPr txBox="1"/>
          <p:nvPr/>
        </p:nvSpPr>
        <p:spPr>
          <a:xfrm>
            <a:off x="1737360" y="4261103"/>
            <a:ext cx="2331720" cy="219456"/>
          </a:xfrm>
          <a:prstGeom prst="rect">
            <a:avLst/>
          </a:prstGeom>
          <a:noFill/>
        </p:spPr>
        <p:txBody>
          <a:bodyPr wrap="square" lIns="0" rIns="0" tIns="0" bIns="0" anchor="ctr">
            <a:spAutoFit/>
          </a:bodyPr>
          <a:lstStyle/>
          <a:p>
            <a:pPr algn="l"/>
            <a:r>
              <a:rPr sz="950" b="0" i="0" u="none">
                <a:solidFill>
                  <a:srgbClr val="3A3A3A"/>
                </a:solidFill>
                <a:latin typeface="Helvetica Neue"/>
              </a:rPr>
              <a:t>P5 / reasoning error ↓</a:t>
            </a:r>
          </a:p>
        </p:txBody>
      </p:sp>
      <p:sp>
        <p:nvSpPr>
          <p:cNvPr id="78" name="TextBox 77"/>
          <p:cNvSpPr txBox="1"/>
          <p:nvPr/>
        </p:nvSpPr>
        <p:spPr>
          <a:xfrm>
            <a:off x="4069080" y="4261103"/>
            <a:ext cx="1874519" cy="219456"/>
          </a:xfrm>
          <a:prstGeom prst="rect">
            <a:avLst/>
          </a:prstGeom>
          <a:noFill/>
        </p:spPr>
        <p:txBody>
          <a:bodyPr wrap="square" lIns="0" rIns="0" tIns="0" bIns="0" anchor="ctr">
            <a:spAutoFit/>
          </a:bodyPr>
          <a:lstStyle/>
          <a:p>
            <a:pPr algn="ctr">
              <a:lnSpc>
                <a:spcPct val="100000"/>
              </a:lnSpc>
            </a:pPr>
            <a:r>
              <a:rPr sz="1050" b="0" i="0" u="none">
                <a:solidFill>
                  <a:srgbClr val="000000"/>
                </a:solidFill>
                <a:latin typeface="Menlo"/>
              </a:rPr>
              <a:t>0.4000</a:t>
            </a:r>
            <a:r>
              <a:rPr sz="850" b="0" i="0" u="none">
                <a:solidFill>
                  <a:srgbClr val="8A8A8A"/>
                </a:solidFill>
                <a:latin typeface="Helvetica Neue"/>
              </a:rPr>
              <a:t>   5th</a:t>
            </a:r>
          </a:p>
        </p:txBody>
      </p:sp>
      <p:sp>
        <p:nvSpPr>
          <p:cNvPr id="79" name="TextBox 78"/>
          <p:cNvSpPr txBox="1"/>
          <p:nvPr/>
        </p:nvSpPr>
        <p:spPr>
          <a:xfrm>
            <a:off x="5943600" y="4261103"/>
            <a:ext cx="1874519" cy="219456"/>
          </a:xfrm>
          <a:prstGeom prst="rect">
            <a:avLst/>
          </a:prstGeom>
          <a:noFill/>
        </p:spPr>
        <p:txBody>
          <a:bodyPr wrap="square" lIns="0" rIns="0" tIns="0" bIns="0" anchor="ctr">
            <a:spAutoFit/>
          </a:bodyPr>
          <a:lstStyle/>
          <a:p>
            <a:pPr algn="ctr">
              <a:lnSpc>
                <a:spcPct val="100000"/>
              </a:lnSpc>
            </a:pPr>
            <a:r>
              <a:rPr sz="1050" b="0" i="0" u="none">
                <a:solidFill>
                  <a:srgbClr val="000000"/>
                </a:solidFill>
                <a:latin typeface="Menlo"/>
              </a:rPr>
              <a:t>0.2240</a:t>
            </a:r>
            <a:r>
              <a:rPr sz="850" b="0" i="0" u="none">
                <a:solidFill>
                  <a:srgbClr val="8A8A8A"/>
                </a:solidFill>
                <a:latin typeface="Helvetica Neue"/>
              </a:rPr>
              <a:t>   5th</a:t>
            </a:r>
          </a:p>
        </p:txBody>
      </p:sp>
      <p:sp>
        <p:nvSpPr>
          <p:cNvPr id="80" name="TextBox 79"/>
          <p:cNvSpPr txBox="1"/>
          <p:nvPr/>
        </p:nvSpPr>
        <p:spPr>
          <a:xfrm>
            <a:off x="7818120" y="4261103"/>
            <a:ext cx="1874519"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0.3440</a:t>
            </a:r>
            <a:r>
              <a:rPr sz="850" b="0" i="0" u="none">
                <a:solidFill>
                  <a:srgbClr val="8A8A8A"/>
                </a:solidFill>
                <a:latin typeface="Helvetica Neue"/>
              </a:rPr>
              <a:t>   1st</a:t>
            </a:r>
          </a:p>
        </p:txBody>
      </p:sp>
      <p:sp>
        <p:nvSpPr>
          <p:cNvPr id="81" name="TextBox 80"/>
          <p:cNvSpPr txBox="1"/>
          <p:nvPr/>
        </p:nvSpPr>
        <p:spPr>
          <a:xfrm>
            <a:off x="9692640" y="4261103"/>
            <a:ext cx="1993392" cy="219456"/>
          </a:xfrm>
          <a:prstGeom prst="rect">
            <a:avLst/>
          </a:prstGeom>
          <a:noFill/>
        </p:spPr>
        <p:txBody>
          <a:bodyPr wrap="square" lIns="0" rIns="0" tIns="0" bIns="0" anchor="ctr">
            <a:spAutoFit/>
          </a:bodyPr>
          <a:lstStyle/>
          <a:p>
            <a:pPr algn="ctr">
              <a:lnSpc>
                <a:spcPct val="100000"/>
              </a:lnSpc>
            </a:pPr>
            <a:r>
              <a:rPr sz="1050" b="0" i="0" u="none">
                <a:solidFill>
                  <a:srgbClr val="000000"/>
                </a:solidFill>
                <a:latin typeface="Menlo"/>
              </a:rPr>
              <a:t>0.1143</a:t>
            </a:r>
            <a:r>
              <a:rPr sz="850" b="0" i="0" u="none">
                <a:solidFill>
                  <a:srgbClr val="8A8A8A"/>
                </a:solidFill>
                <a:latin typeface="Helvetica Neue"/>
              </a:rPr>
              <a:t>   3rd</a:t>
            </a:r>
          </a:p>
        </p:txBody>
      </p:sp>
      <p:cxnSp>
        <p:nvCxnSpPr>
          <p:cNvPr id="82" name="Connector 81"/>
          <p:cNvCxnSpPr/>
          <p:nvPr/>
        </p:nvCxnSpPr>
        <p:spPr>
          <a:xfrm>
            <a:off x="502920" y="4507991"/>
            <a:ext cx="11183112" cy="0"/>
          </a:xfrm>
          <a:prstGeom prst="line">
            <a:avLst/>
          </a:prstGeom>
          <a:ln w="6350">
            <a:solidFill>
              <a:srgbClr val="8A8A8A"/>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502920" y="4535423"/>
            <a:ext cx="1234440" cy="219456"/>
          </a:xfrm>
          <a:prstGeom prst="rect">
            <a:avLst/>
          </a:prstGeom>
          <a:noFill/>
        </p:spPr>
        <p:txBody>
          <a:bodyPr wrap="square" lIns="0" rIns="0" tIns="0" bIns="0" anchor="ctr">
            <a:spAutoFit/>
          </a:bodyPr>
          <a:lstStyle/>
          <a:p>
            <a:pPr algn="l"/>
            <a:r>
              <a:rPr sz="1050" b="1" i="0" u="none">
                <a:solidFill>
                  <a:srgbClr val="000000"/>
                </a:solidFill>
                <a:latin typeface="Helvetica Neue"/>
              </a:rPr>
              <a:t>Outcome</a:t>
            </a:r>
          </a:p>
        </p:txBody>
      </p:sp>
      <p:sp>
        <p:nvSpPr>
          <p:cNvPr id="84" name="TextBox 83"/>
          <p:cNvSpPr txBox="1"/>
          <p:nvPr/>
        </p:nvSpPr>
        <p:spPr>
          <a:xfrm>
            <a:off x="1737360" y="4535423"/>
            <a:ext cx="2331720" cy="219456"/>
          </a:xfrm>
          <a:prstGeom prst="rect">
            <a:avLst/>
          </a:prstGeom>
          <a:noFill/>
        </p:spPr>
        <p:txBody>
          <a:bodyPr wrap="square" lIns="0" rIns="0" tIns="0" bIns="0" anchor="ctr">
            <a:spAutoFit/>
          </a:bodyPr>
          <a:lstStyle/>
          <a:p>
            <a:pPr algn="l"/>
            <a:r>
              <a:rPr sz="950" b="0" i="0" u="none">
                <a:solidFill>
                  <a:srgbClr val="3A3A3A"/>
                </a:solidFill>
                <a:latin typeface="Helvetica Neue"/>
              </a:rPr>
              <a:t>QA accuracy / correct ↑</a:t>
            </a:r>
          </a:p>
        </p:txBody>
      </p:sp>
      <p:sp>
        <p:nvSpPr>
          <p:cNvPr id="85" name="TextBox 84"/>
          <p:cNvSpPr txBox="1"/>
          <p:nvPr/>
        </p:nvSpPr>
        <p:spPr>
          <a:xfrm>
            <a:off x="4069080" y="4535423"/>
            <a:ext cx="1874519"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0.6000</a:t>
            </a:r>
            <a:r>
              <a:rPr sz="850" b="0" i="0" u="none">
                <a:solidFill>
                  <a:srgbClr val="8A8A8A"/>
                </a:solidFill>
                <a:latin typeface="Helvetica Neue"/>
              </a:rPr>
              <a:t>   1st</a:t>
            </a:r>
          </a:p>
        </p:txBody>
      </p:sp>
      <p:sp>
        <p:nvSpPr>
          <p:cNvPr id="86" name="TextBox 85"/>
          <p:cNvSpPr txBox="1"/>
          <p:nvPr/>
        </p:nvSpPr>
        <p:spPr>
          <a:xfrm>
            <a:off x="5943600" y="4535423"/>
            <a:ext cx="1874519"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0.6432</a:t>
            </a:r>
            <a:r>
              <a:rPr sz="850" b="0" i="0" u="none">
                <a:solidFill>
                  <a:srgbClr val="8A8A8A"/>
                </a:solidFill>
                <a:latin typeface="Helvetica Neue"/>
              </a:rPr>
              <a:t>   1st</a:t>
            </a:r>
          </a:p>
        </p:txBody>
      </p:sp>
      <p:sp>
        <p:nvSpPr>
          <p:cNvPr id="87" name="TextBox 86"/>
          <p:cNvSpPr txBox="1"/>
          <p:nvPr/>
        </p:nvSpPr>
        <p:spPr>
          <a:xfrm>
            <a:off x="7818120" y="4535423"/>
            <a:ext cx="1874519"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0.5305</a:t>
            </a:r>
            <a:r>
              <a:rPr sz="850" b="0" i="0" u="none">
                <a:solidFill>
                  <a:srgbClr val="8A8A8A"/>
                </a:solidFill>
                <a:latin typeface="Helvetica Neue"/>
              </a:rPr>
              <a:t>   1st</a:t>
            </a:r>
          </a:p>
        </p:txBody>
      </p:sp>
      <p:sp>
        <p:nvSpPr>
          <p:cNvPr id="88" name="TextBox 87"/>
          <p:cNvSpPr txBox="1"/>
          <p:nvPr/>
        </p:nvSpPr>
        <p:spPr>
          <a:xfrm>
            <a:off x="9692640" y="4535423"/>
            <a:ext cx="1993392" cy="219456"/>
          </a:xfrm>
          <a:prstGeom prst="rect">
            <a:avLst/>
          </a:prstGeom>
          <a:noFill/>
        </p:spPr>
        <p:txBody>
          <a:bodyPr wrap="square" lIns="0" rIns="0" tIns="0" bIns="0" anchor="ctr">
            <a:spAutoFit/>
          </a:bodyPr>
          <a:lstStyle/>
          <a:p>
            <a:pPr algn="ctr">
              <a:lnSpc>
                <a:spcPct val="100000"/>
              </a:lnSpc>
            </a:pPr>
            <a:r>
              <a:rPr sz="1050" b="1" i="0" u="none">
                <a:solidFill>
                  <a:srgbClr val="000000"/>
                </a:solidFill>
                <a:latin typeface="Menlo"/>
              </a:rPr>
              <a:t>0.8571</a:t>
            </a:r>
            <a:r>
              <a:rPr sz="850" b="0" i="0" u="none">
                <a:solidFill>
                  <a:srgbClr val="8A8A8A"/>
                </a:solidFill>
                <a:latin typeface="Helvetica Neue"/>
              </a:rPr>
              <a:t>   1st</a:t>
            </a:r>
          </a:p>
        </p:txBody>
      </p:sp>
      <p:cxnSp>
        <p:nvCxnSpPr>
          <p:cNvPr id="89" name="Connector 88"/>
          <p:cNvCxnSpPr/>
          <p:nvPr/>
        </p:nvCxnSpPr>
        <p:spPr>
          <a:xfrm>
            <a:off x="502920" y="4809743"/>
            <a:ext cx="11183112" cy="0"/>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02920" y="4956047"/>
            <a:ext cx="11155680" cy="292608"/>
          </a:xfrm>
          <a:prstGeom prst="rect">
            <a:avLst/>
          </a:prstGeom>
          <a:noFill/>
        </p:spPr>
        <p:txBody>
          <a:bodyPr wrap="square" lIns="0" rIns="0" tIns="0" bIns="0" anchor="ctr">
            <a:spAutoFit/>
          </a:bodyPr>
          <a:lstStyle/>
          <a:p>
            <a:pPr algn="l">
              <a:lnSpc>
                <a:spcPct val="110000"/>
              </a:lnSpc>
            </a:pPr>
            <a:r>
              <a:rPr sz="900" b="1" i="0" u="none">
                <a:solidFill>
                  <a:srgbClr val="000000"/>
                </a:solidFill>
                <a:latin typeface="Helvetica Neue"/>
              </a:rPr>
              <a:t>Write and read are settled.  </a:t>
            </a:r>
            <a:r>
              <a:rPr sz="900" b="0" i="0" u="none">
                <a:solidFill>
                  <a:srgbClr val="3A3A3A"/>
                </a:solidFill>
                <a:latin typeface="Helvetica Neue"/>
              </a:rPr>
              <a:t>P1 takes first on LongMemEval, LoCoMo and MemFail and second on HaluMem (mean rank 1.25), with extraction F1 first on both benchmarks that report it. P4 is first on LongMemEval, second on MemFail and third on LoCoMo and HaluMem (mean rank 2.25), never more than 0.114 behind the leader. What the store should hold it holds, and what the query should surface it surfaces.</a:t>
            </a:r>
          </a:p>
        </p:txBody>
      </p:sp>
      <p:sp>
        <p:nvSpPr>
          <p:cNvPr id="91" name="TextBox 90"/>
          <p:cNvSpPr txBox="1"/>
          <p:nvPr/>
        </p:nvSpPr>
        <p:spPr>
          <a:xfrm>
            <a:off x="502920" y="5303519"/>
            <a:ext cx="11155680" cy="292608"/>
          </a:xfrm>
          <a:prstGeom prst="rect">
            <a:avLst/>
          </a:prstGeom>
          <a:noFill/>
        </p:spPr>
        <p:txBody>
          <a:bodyPr wrap="square" lIns="0" rIns="0" tIns="0" bIns="0" anchor="ctr">
            <a:spAutoFit/>
          </a:bodyPr>
          <a:lstStyle/>
          <a:p>
            <a:pPr algn="l">
              <a:lnSpc>
                <a:spcPct val="110000"/>
              </a:lnSpc>
            </a:pPr>
            <a:r>
              <a:rPr sz="900" b="1" i="0" u="none">
                <a:solidFill>
                  <a:srgbClr val="000000"/>
                </a:solidFill>
                <a:latin typeface="Helvetica Neue"/>
              </a:rPr>
              <a:t>Storage is the one phase where StructMem never leads the metric that counts.  </a:t>
            </a:r>
            <a:r>
              <a:rPr sz="900" b="0" i="0" u="none">
                <a:solidFill>
                  <a:srgbClr val="3A3A3A"/>
                </a:solidFill>
                <a:latin typeface="Helvetica Neue"/>
              </a:rPr>
              <a:t>3rd on HaluMem memory_update (0.7183 against A-MEM's 0.8060), 2nd on LongMemEval knowledge-update and on memory-conflict QA, 0 of 6 on dynamic-update QA. Even its win proves the point: LoCoMo temporal 0.3514 is 6.5x the runner-up, and still two questions in three wrong.</a:t>
            </a:r>
          </a:p>
        </p:txBody>
      </p:sp>
      <p:sp>
        <p:nvSpPr>
          <p:cNvPr id="92" name="TextBox 91"/>
          <p:cNvSpPr txBox="1"/>
          <p:nvPr/>
        </p:nvSpPr>
        <p:spPr>
          <a:xfrm>
            <a:off x="502920" y="5650991"/>
            <a:ext cx="11155680" cy="292608"/>
          </a:xfrm>
          <a:prstGeom prst="rect">
            <a:avLst/>
          </a:prstGeom>
          <a:noFill/>
        </p:spPr>
        <p:txBody>
          <a:bodyPr wrap="square" lIns="0" rIns="0" tIns="0" bIns="0" anchor="ctr">
            <a:spAutoFit/>
          </a:bodyPr>
          <a:lstStyle/>
          <a:p>
            <a:pPr algn="l">
              <a:lnSpc>
                <a:spcPct val="110000"/>
              </a:lnSpc>
            </a:pPr>
            <a:r>
              <a:rPr sz="900" b="1" i="0" u="none">
                <a:solidFill>
                  <a:srgbClr val="000000"/>
                </a:solidFill>
                <a:latin typeface="Helvetica Neue"/>
              </a:rPr>
              <a:t>Reasoning is where that gap surfaces, not a separate weakness.  </a:t>
            </a:r>
            <a:r>
              <a:rPr sz="900" b="0" i="0" u="none">
                <a:solidFill>
                  <a:srgbClr val="3A3A3A"/>
                </a:solidFill>
                <a:latin typeface="Helvetica Neue"/>
              </a:rPr>
              <a:t>P5 is last of five on LongMemEval (0.4000) and LoCoMo (0.2240) while P4 on those runs is 0.0000 and 0.0521: the evidence arrives, and what arrives beside it is the problem. StructMem writes 1.85 entries per LoCoMo turn against 0.06 to 1.00 and retires none of them.</a:t>
            </a:r>
          </a:p>
        </p:txBody>
      </p:sp>
      <p:sp>
        <p:nvSpPr>
          <p:cNvPr id="93" name="TextBox 92"/>
          <p:cNvSpPr txBox="1"/>
          <p:nvPr/>
        </p:nvSpPr>
        <p:spPr>
          <a:xfrm>
            <a:off x="502920" y="5998463"/>
            <a:ext cx="11155680" cy="292608"/>
          </a:xfrm>
          <a:prstGeom prst="rect">
            <a:avLst/>
          </a:prstGeom>
          <a:noFill/>
        </p:spPr>
        <p:txBody>
          <a:bodyPr wrap="square" lIns="0" rIns="0" tIns="0" bIns="0" anchor="ctr">
            <a:spAutoFit/>
          </a:bodyPr>
          <a:lstStyle/>
          <a:p>
            <a:pPr algn="l">
              <a:lnSpc>
                <a:spcPct val="110000"/>
              </a:lnSpc>
            </a:pPr>
            <a:r>
              <a:rPr sz="900" b="1" i="0" u="none">
                <a:solidFill>
                  <a:srgbClr val="000000"/>
                </a:solidFill>
                <a:latin typeface="Helvetica Neue"/>
              </a:rPr>
              <a:t>Therefore.  </a:t>
            </a:r>
            <a:r>
              <a:rPr sz="900" b="0" i="0" u="none">
                <a:solidFill>
                  <a:srgbClr val="3A3A3A"/>
                </a:solidFill>
                <a:latin typeface="Helvetica Neue"/>
              </a:rPr>
              <a:t>The timestamp that orders those two entries is already on every StructMem payload and is never consulted at update time. M1 marks the old entry superseded instead of deleting it, so the extraction lead above is not traded away; M3 keeps summaries in step; M4 uses the labels at read time.</a:t>
            </a:r>
          </a:p>
        </p:txBody>
      </p:sp>
      <p:sp>
        <p:nvSpPr>
          <p:cNvPr id="94" name="TextBox 93"/>
          <p:cNvSpPr txBox="1"/>
          <p:nvPr/>
        </p:nvSpPr>
        <p:spPr>
          <a:xfrm>
            <a:off x="502920" y="6419088"/>
            <a:ext cx="11155680" cy="365760"/>
          </a:xfrm>
          <a:prstGeom prst="rect">
            <a:avLst/>
          </a:prstGeom>
          <a:noFill/>
        </p:spPr>
        <p:txBody>
          <a:bodyPr wrap="square" lIns="0" rIns="0" tIns="0" bIns="0" anchor="ctr">
            <a:spAutoFit/>
          </a:bodyPr>
          <a:lstStyle/>
          <a:p>
            <a:pPr algn="l"/>
            <a:r>
              <a:rPr sz="850" b="0" i="1" u="none">
                <a:solidFill>
                  <a:srgbClr val="8A8A8A"/>
                </a:solidFill>
                <a:latin typeface="Helvetica Neue"/>
              </a:rPr>
              <a:t>Note. ↑ higher is better; ↓ lower is better. Best results are bold; second-best results are underlined; ties share the better rank. Dashes mark metrics the benchmark does not define. Update accuracy is each benchmark's own update metric: LongMemEval knowledge-update, LoCoMo temporal, HaluMem memory_update, MemFail coexisting_facts. StructMem's LongMemEval run covers only the 5-question knowledge-update subset, so its LongMemEval QA and KU accuracy are the same 0.6000; the Storage slide's 0.4000 is a transcription error and is corrected here.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