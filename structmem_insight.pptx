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74519"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Problem &amp; Motivation</a:t>
            </a:r>
          </a:p>
        </p:txBody>
      </p:sp>
      <p:sp>
        <p:nvSpPr>
          <p:cNvPr id="3" name="Rectangle 2"/>
          <p:cNvSpPr/>
          <p:nvPr/>
        </p:nvSpPr>
        <p:spPr>
          <a:xfrm>
            <a:off x="1874519" y="0"/>
            <a:ext cx="1051560"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RQ</a:t>
            </a:r>
          </a:p>
        </p:txBody>
      </p:sp>
      <p:sp>
        <p:nvSpPr>
          <p:cNvPr id="4" name="Rectangle 3"/>
          <p:cNvSpPr/>
          <p:nvPr/>
        </p:nvSpPr>
        <p:spPr>
          <a:xfrm>
            <a:off x="2926079" y="0"/>
            <a:ext cx="2560320"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Methodology</a:t>
            </a:r>
          </a:p>
        </p:txBody>
      </p:sp>
      <p:sp>
        <p:nvSpPr>
          <p:cNvPr id="5" name="Rectangle 4"/>
          <p:cNvSpPr/>
          <p:nvPr/>
        </p:nvSpPr>
        <p:spPr>
          <a:xfrm>
            <a:off x="5486400" y="0"/>
            <a:ext cx="2103120" cy="274320"/>
          </a:xfrm>
          <a:prstGeom prst="rect">
            <a:avLst/>
          </a:prstGeom>
          <a:solidFill>
            <a:srgbClr val="8AA9F7"/>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Experimental Results &amp; Analysis</a:t>
            </a:r>
          </a:p>
        </p:txBody>
      </p:sp>
      <p:sp>
        <p:nvSpPr>
          <p:cNvPr id="6" name="Rectangle 5"/>
          <p:cNvSpPr/>
          <p:nvPr/>
        </p:nvSpPr>
        <p:spPr>
          <a:xfrm>
            <a:off x="7589520" y="0"/>
            <a:ext cx="2423160"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Proposed Improvements</a:t>
            </a:r>
          </a:p>
        </p:txBody>
      </p:sp>
      <p:sp>
        <p:nvSpPr>
          <p:cNvPr id="7" name="Rectangle 6"/>
          <p:cNvSpPr/>
          <p:nvPr/>
        </p:nvSpPr>
        <p:spPr>
          <a:xfrm>
            <a:off x="10012680" y="0"/>
            <a:ext cx="2176272"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Validation &amp; Conclusions</a:t>
            </a:r>
          </a:p>
        </p:txBody>
      </p:sp>
      <p:sp>
        <p:nvSpPr>
          <p:cNvPr id="8" name="TextBox 7"/>
          <p:cNvSpPr txBox="1"/>
          <p:nvPr/>
        </p:nvSpPr>
        <p:spPr>
          <a:xfrm>
            <a:off x="502920" y="457200"/>
            <a:ext cx="11155680" cy="420624"/>
          </a:xfrm>
          <a:prstGeom prst="rect">
            <a:avLst/>
          </a:prstGeom>
          <a:noFill/>
        </p:spPr>
        <p:txBody>
          <a:bodyPr wrap="square" lIns="0" rIns="0" tIns="0" bIns="0" anchor="ctr">
            <a:spAutoFit/>
          </a:bodyPr>
          <a:lstStyle/>
          <a:p>
            <a:pPr algn="l"/>
            <a:r>
              <a:rPr sz="2300" b="1" i="0">
                <a:solidFill>
                  <a:srgbClr val="141E27"/>
                </a:solidFill>
                <a:latin typeface="Helvetica Neue"/>
              </a:rPr>
              <a:t>StructMem: Strong at Both Ends, Losing in the Middle</a:t>
            </a:r>
          </a:p>
        </p:txBody>
      </p:sp>
      <p:sp>
        <p:nvSpPr>
          <p:cNvPr id="9" name="TextBox 8"/>
          <p:cNvSpPr txBox="1"/>
          <p:nvPr/>
        </p:nvSpPr>
        <p:spPr>
          <a:xfrm>
            <a:off x="502920" y="896112"/>
            <a:ext cx="11155680" cy="237744"/>
          </a:xfrm>
          <a:prstGeom prst="rect">
            <a:avLst/>
          </a:prstGeom>
          <a:noFill/>
        </p:spPr>
        <p:txBody>
          <a:bodyPr wrap="square" lIns="0" rIns="0" tIns="0" bIns="0" anchor="ctr">
            <a:spAutoFit/>
          </a:bodyPr>
          <a:lstStyle/>
          <a:p>
            <a:pPr algn="l"/>
            <a:r>
              <a:rPr sz="1150" b="0" i="1">
                <a:solidFill>
                  <a:srgbClr val="7E8D9B"/>
                </a:solidFill>
                <a:latin typeface="Helvetica Neue"/>
              </a:rPr>
              <a:t>Stage-level outcomes against the other four architectures on identical samples; the gap is confined to storage and its downstream effect on retrieval</a:t>
            </a:r>
          </a:p>
        </p:txBody>
      </p:sp>
      <p:sp>
        <p:nvSpPr>
          <p:cNvPr id="10" name="TextBox 9"/>
          <p:cNvSpPr txBox="1"/>
          <p:nvPr/>
        </p:nvSpPr>
        <p:spPr>
          <a:xfrm>
            <a:off x="502920" y="1207008"/>
            <a:ext cx="7315200" cy="201168"/>
          </a:xfrm>
          <a:prstGeom prst="rect">
            <a:avLst/>
          </a:prstGeom>
          <a:noFill/>
        </p:spPr>
        <p:txBody>
          <a:bodyPr wrap="square" lIns="0" rIns="0" tIns="0" bIns="0" anchor="ctr">
            <a:spAutoFit/>
          </a:bodyPr>
          <a:lstStyle/>
          <a:p>
            <a:pPr algn="l"/>
            <a:r>
              <a:rPr sz="1050" b="1" i="0">
                <a:solidFill>
                  <a:srgbClr val="4C5C6B"/>
                </a:solidFill>
                <a:latin typeface="Helvetica Neue"/>
              </a:rPr>
              <a:t>Table 1.  StructMem versus the field, by failure stage</a:t>
            </a:r>
          </a:p>
        </p:txBody>
      </p:sp>
      <p:cxnSp>
        <p:nvCxnSpPr>
          <p:cNvPr id="11" name="Connector 10"/>
          <p:cNvCxnSpPr/>
          <p:nvPr/>
        </p:nvCxnSpPr>
        <p:spPr>
          <a:xfrm>
            <a:off x="502920" y="1444752"/>
            <a:ext cx="10058400" cy="0"/>
          </a:xfrm>
          <a:prstGeom prst="line">
            <a:avLst/>
          </a:prstGeom>
          <a:ln w="22225">
            <a:solidFill>
              <a:srgbClr val="141E2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920" y="1517904"/>
            <a:ext cx="1005840" cy="182880"/>
          </a:xfrm>
          <a:prstGeom prst="rect">
            <a:avLst/>
          </a:prstGeom>
          <a:noFill/>
        </p:spPr>
        <p:txBody>
          <a:bodyPr wrap="square" lIns="0" rIns="0" tIns="0" bIns="0" anchor="ctr">
            <a:spAutoFit/>
          </a:bodyPr>
          <a:lstStyle/>
          <a:p>
            <a:pPr algn="l"/>
            <a:r>
              <a:rPr sz="950" b="1" i="0">
                <a:solidFill>
                  <a:srgbClr val="4C5C6B"/>
                </a:solidFill>
                <a:latin typeface="Helvetica Neue"/>
              </a:rPr>
              <a:t>Stage</a:t>
            </a:r>
          </a:p>
        </p:txBody>
      </p:sp>
      <p:sp>
        <p:nvSpPr>
          <p:cNvPr id="13" name="TextBox 12"/>
          <p:cNvSpPr txBox="1"/>
          <p:nvPr/>
        </p:nvSpPr>
        <p:spPr>
          <a:xfrm>
            <a:off x="1508760" y="1517904"/>
            <a:ext cx="2697480" cy="182880"/>
          </a:xfrm>
          <a:prstGeom prst="rect">
            <a:avLst/>
          </a:prstGeom>
          <a:noFill/>
        </p:spPr>
        <p:txBody>
          <a:bodyPr wrap="square" lIns="0" rIns="0" tIns="0" bIns="0" anchor="ctr">
            <a:spAutoFit/>
          </a:bodyPr>
          <a:lstStyle/>
          <a:p>
            <a:pPr algn="l"/>
            <a:r>
              <a:rPr sz="950" b="1" i="0">
                <a:solidFill>
                  <a:srgbClr val="4C5C6B"/>
                </a:solidFill>
                <a:latin typeface="Helvetica Neue"/>
              </a:rPr>
              <a:t>Metric</a:t>
            </a:r>
          </a:p>
        </p:txBody>
      </p:sp>
      <p:sp>
        <p:nvSpPr>
          <p:cNvPr id="14" name="TextBox 13"/>
          <p:cNvSpPr txBox="1"/>
          <p:nvPr/>
        </p:nvSpPr>
        <p:spPr>
          <a:xfrm>
            <a:off x="4206240" y="1517904"/>
            <a:ext cx="1143000" cy="182880"/>
          </a:xfrm>
          <a:prstGeom prst="rect">
            <a:avLst/>
          </a:prstGeom>
          <a:noFill/>
        </p:spPr>
        <p:txBody>
          <a:bodyPr wrap="square" lIns="0" rIns="0" tIns="0" bIns="0" anchor="ctr">
            <a:spAutoFit/>
          </a:bodyPr>
          <a:lstStyle/>
          <a:p>
            <a:pPr algn="ctr"/>
            <a:r>
              <a:rPr sz="950" b="1" i="0">
                <a:solidFill>
                  <a:srgbClr val="141E27"/>
                </a:solidFill>
                <a:latin typeface="Helvetica Neue"/>
              </a:rPr>
              <a:t>StructMem</a:t>
            </a:r>
          </a:p>
        </p:txBody>
      </p:sp>
      <p:sp>
        <p:nvSpPr>
          <p:cNvPr id="15" name="TextBox 14"/>
          <p:cNvSpPr txBox="1"/>
          <p:nvPr/>
        </p:nvSpPr>
        <p:spPr>
          <a:xfrm>
            <a:off x="5349240" y="1517904"/>
            <a:ext cx="1005840" cy="182880"/>
          </a:xfrm>
          <a:prstGeom prst="rect">
            <a:avLst/>
          </a:prstGeom>
          <a:noFill/>
        </p:spPr>
        <p:txBody>
          <a:bodyPr wrap="square" lIns="0" rIns="0" tIns="0" bIns="0" anchor="ctr">
            <a:spAutoFit/>
          </a:bodyPr>
          <a:lstStyle/>
          <a:p>
            <a:pPr algn="ctr"/>
            <a:r>
              <a:rPr sz="950" b="1" i="0">
                <a:solidFill>
                  <a:srgbClr val="4C5C6B"/>
                </a:solidFill>
                <a:latin typeface="Helvetica Neue"/>
              </a:rPr>
              <a:t>Mem0 v1</a:t>
            </a:r>
          </a:p>
        </p:txBody>
      </p:sp>
      <p:sp>
        <p:nvSpPr>
          <p:cNvPr id="16" name="TextBox 15"/>
          <p:cNvSpPr txBox="1"/>
          <p:nvPr/>
        </p:nvSpPr>
        <p:spPr>
          <a:xfrm>
            <a:off x="6355080" y="1517904"/>
            <a:ext cx="1005840" cy="182880"/>
          </a:xfrm>
          <a:prstGeom prst="rect">
            <a:avLst/>
          </a:prstGeom>
          <a:noFill/>
        </p:spPr>
        <p:txBody>
          <a:bodyPr wrap="square" lIns="0" rIns="0" tIns="0" bIns="0" anchor="ctr">
            <a:spAutoFit/>
          </a:bodyPr>
          <a:lstStyle/>
          <a:p>
            <a:pPr algn="ctr"/>
            <a:r>
              <a:rPr sz="950" b="1" i="0">
                <a:solidFill>
                  <a:srgbClr val="4C5C6B"/>
                </a:solidFill>
                <a:latin typeface="Helvetica Neue"/>
              </a:rPr>
              <a:t>Mem0 v2</a:t>
            </a:r>
          </a:p>
        </p:txBody>
      </p:sp>
      <p:sp>
        <p:nvSpPr>
          <p:cNvPr id="17" name="TextBox 16"/>
          <p:cNvSpPr txBox="1"/>
          <p:nvPr/>
        </p:nvSpPr>
        <p:spPr>
          <a:xfrm>
            <a:off x="7360920" y="1517904"/>
            <a:ext cx="1005840" cy="182880"/>
          </a:xfrm>
          <a:prstGeom prst="rect">
            <a:avLst/>
          </a:prstGeom>
          <a:noFill/>
        </p:spPr>
        <p:txBody>
          <a:bodyPr wrap="square" lIns="0" rIns="0" tIns="0" bIns="0" anchor="ctr">
            <a:spAutoFit/>
          </a:bodyPr>
          <a:lstStyle/>
          <a:p>
            <a:pPr algn="ctr"/>
            <a:r>
              <a:rPr sz="950" b="1" i="0">
                <a:solidFill>
                  <a:srgbClr val="4C5C6B"/>
                </a:solidFill>
                <a:latin typeface="Helvetica Neue"/>
              </a:rPr>
              <a:t>A-MEM</a:t>
            </a:r>
          </a:p>
        </p:txBody>
      </p:sp>
      <p:sp>
        <p:nvSpPr>
          <p:cNvPr id="18" name="TextBox 17"/>
          <p:cNvSpPr txBox="1"/>
          <p:nvPr/>
        </p:nvSpPr>
        <p:spPr>
          <a:xfrm>
            <a:off x="8366760" y="1517904"/>
            <a:ext cx="1005840" cy="182880"/>
          </a:xfrm>
          <a:prstGeom prst="rect">
            <a:avLst/>
          </a:prstGeom>
          <a:noFill/>
        </p:spPr>
        <p:txBody>
          <a:bodyPr wrap="square" lIns="0" rIns="0" tIns="0" bIns="0" anchor="ctr">
            <a:spAutoFit/>
          </a:bodyPr>
          <a:lstStyle/>
          <a:p>
            <a:pPr algn="ctr"/>
            <a:r>
              <a:rPr sz="950" b="1" i="0">
                <a:solidFill>
                  <a:srgbClr val="4C5C6B"/>
                </a:solidFill>
                <a:latin typeface="Helvetica Neue"/>
              </a:rPr>
              <a:t>Letta</a:t>
            </a:r>
          </a:p>
        </p:txBody>
      </p:sp>
      <p:sp>
        <p:nvSpPr>
          <p:cNvPr id="19" name="TextBox 18"/>
          <p:cNvSpPr txBox="1"/>
          <p:nvPr/>
        </p:nvSpPr>
        <p:spPr>
          <a:xfrm>
            <a:off x="9372600" y="1517904"/>
            <a:ext cx="1188720" cy="182880"/>
          </a:xfrm>
          <a:prstGeom prst="rect">
            <a:avLst/>
          </a:prstGeom>
          <a:noFill/>
        </p:spPr>
        <p:txBody>
          <a:bodyPr wrap="square" lIns="0" rIns="0" tIns="0" bIns="0" anchor="ctr">
            <a:spAutoFit/>
          </a:bodyPr>
          <a:lstStyle/>
          <a:p>
            <a:pPr algn="ctr"/>
            <a:r>
              <a:rPr sz="950" b="1" i="0">
                <a:solidFill>
                  <a:srgbClr val="4C5C6B"/>
                </a:solidFill>
                <a:latin typeface="Helvetica Neue"/>
              </a:rPr>
              <a:t>Rank</a:t>
            </a:r>
          </a:p>
        </p:txBody>
      </p:sp>
      <p:cxnSp>
        <p:nvCxnSpPr>
          <p:cNvPr id="20" name="Connector 19"/>
          <p:cNvCxnSpPr/>
          <p:nvPr/>
        </p:nvCxnSpPr>
        <p:spPr>
          <a:xfrm>
            <a:off x="502920" y="1755648"/>
            <a:ext cx="10058400" cy="0"/>
          </a:xfrm>
          <a:prstGeom prst="line">
            <a:avLst/>
          </a:prstGeom>
          <a:ln w="11430">
            <a:solidFill>
              <a:srgbClr val="141E2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02920" y="1787652"/>
            <a:ext cx="1005840" cy="201168"/>
          </a:xfrm>
          <a:prstGeom prst="rect">
            <a:avLst/>
          </a:prstGeom>
          <a:noFill/>
        </p:spPr>
        <p:txBody>
          <a:bodyPr wrap="square" lIns="0" rIns="0" tIns="0" bIns="0" anchor="ctr">
            <a:spAutoFit/>
          </a:bodyPr>
          <a:lstStyle/>
          <a:p>
            <a:pPr algn="l"/>
            <a:r>
              <a:rPr sz="950" b="1" i="0">
                <a:solidFill>
                  <a:srgbClr val="4C5C6B"/>
                </a:solidFill>
                <a:latin typeface="Helvetica Neue"/>
              </a:rPr>
              <a:t>Summary</a:t>
            </a:r>
          </a:p>
        </p:txBody>
      </p:sp>
      <p:sp>
        <p:nvSpPr>
          <p:cNvPr id="22" name="TextBox 21"/>
          <p:cNvSpPr txBox="1"/>
          <p:nvPr/>
        </p:nvSpPr>
        <p:spPr>
          <a:xfrm>
            <a:off x="1508760" y="1787652"/>
            <a:ext cx="2697480" cy="201168"/>
          </a:xfrm>
          <a:prstGeom prst="rect">
            <a:avLst/>
          </a:prstGeom>
          <a:noFill/>
        </p:spPr>
        <p:txBody>
          <a:bodyPr wrap="square" lIns="0" rIns="0" tIns="0" bIns="0" anchor="ctr">
            <a:spAutoFit/>
          </a:bodyPr>
          <a:lstStyle/>
          <a:p>
            <a:pPr algn="l"/>
            <a:r>
              <a:rPr sz="950" b="0" i="0">
                <a:solidFill>
                  <a:srgbClr val="141E27"/>
                </a:solidFill>
                <a:latin typeface="Helvetica Neue"/>
              </a:rPr>
              <a:t>HaluMem extraction F1</a:t>
            </a:r>
          </a:p>
        </p:txBody>
      </p:sp>
      <p:sp>
        <p:nvSpPr>
          <p:cNvPr id="23" name="TextBox 22"/>
          <p:cNvSpPr txBox="1"/>
          <p:nvPr/>
        </p:nvSpPr>
        <p:spPr>
          <a:xfrm>
            <a:off x="4206240" y="1787652"/>
            <a:ext cx="1143000" cy="201168"/>
          </a:xfrm>
          <a:prstGeom prst="rect">
            <a:avLst/>
          </a:prstGeom>
          <a:noFill/>
        </p:spPr>
        <p:txBody>
          <a:bodyPr wrap="square" lIns="0" rIns="0" tIns="0" bIns="0" anchor="ctr">
            <a:spAutoFit/>
          </a:bodyPr>
          <a:lstStyle/>
          <a:p>
            <a:pPr algn="ctr"/>
            <a:r>
              <a:rPr sz="950" b="1" i="0">
                <a:solidFill>
                  <a:srgbClr val="16685A"/>
                </a:solidFill>
                <a:latin typeface="Menlo"/>
              </a:rPr>
              <a:t>0.8926</a:t>
            </a:r>
          </a:p>
        </p:txBody>
      </p:sp>
      <p:sp>
        <p:nvSpPr>
          <p:cNvPr id="24" name="TextBox 23"/>
          <p:cNvSpPr txBox="1"/>
          <p:nvPr/>
        </p:nvSpPr>
        <p:spPr>
          <a:xfrm>
            <a:off x="5349240" y="1787652"/>
            <a:ext cx="1005840" cy="201168"/>
          </a:xfrm>
          <a:prstGeom prst="rect">
            <a:avLst/>
          </a:prstGeom>
          <a:noFill/>
        </p:spPr>
        <p:txBody>
          <a:bodyPr wrap="square" lIns="0" rIns="0" tIns="0" bIns="0" anchor="ctr">
            <a:spAutoFit/>
          </a:bodyPr>
          <a:lstStyle/>
          <a:p>
            <a:pPr algn="ctr"/>
            <a:r>
              <a:rPr sz="950" b="0" i="0">
                <a:solidFill>
                  <a:srgbClr val="7E8D9B"/>
                </a:solidFill>
                <a:latin typeface="Menlo"/>
              </a:rPr>
              <a:t>0.6536</a:t>
            </a:r>
          </a:p>
        </p:txBody>
      </p:sp>
      <p:sp>
        <p:nvSpPr>
          <p:cNvPr id="25" name="TextBox 24"/>
          <p:cNvSpPr txBox="1"/>
          <p:nvPr/>
        </p:nvSpPr>
        <p:spPr>
          <a:xfrm>
            <a:off x="6355080" y="1787652"/>
            <a:ext cx="1005840" cy="201168"/>
          </a:xfrm>
          <a:prstGeom prst="rect">
            <a:avLst/>
          </a:prstGeom>
          <a:noFill/>
        </p:spPr>
        <p:txBody>
          <a:bodyPr wrap="square" lIns="0" rIns="0" tIns="0" bIns="0" anchor="ctr">
            <a:spAutoFit/>
          </a:bodyPr>
          <a:lstStyle/>
          <a:p>
            <a:pPr algn="ctr"/>
            <a:r>
              <a:rPr sz="950" b="0" i="0">
                <a:solidFill>
                  <a:srgbClr val="7E8D9B"/>
                </a:solidFill>
                <a:latin typeface="Menlo"/>
              </a:rPr>
              <a:t>0.8425</a:t>
            </a:r>
          </a:p>
        </p:txBody>
      </p:sp>
      <p:sp>
        <p:nvSpPr>
          <p:cNvPr id="26" name="TextBox 25"/>
          <p:cNvSpPr txBox="1"/>
          <p:nvPr/>
        </p:nvSpPr>
        <p:spPr>
          <a:xfrm>
            <a:off x="7360920" y="1787652"/>
            <a:ext cx="1005840" cy="201168"/>
          </a:xfrm>
          <a:prstGeom prst="rect">
            <a:avLst/>
          </a:prstGeom>
          <a:noFill/>
        </p:spPr>
        <p:txBody>
          <a:bodyPr wrap="square" lIns="0" rIns="0" tIns="0" bIns="0" anchor="ctr">
            <a:spAutoFit/>
          </a:bodyPr>
          <a:lstStyle/>
          <a:p>
            <a:pPr algn="ctr"/>
            <a:r>
              <a:rPr sz="950" b="0" i="0">
                <a:solidFill>
                  <a:srgbClr val="7E8D9B"/>
                </a:solidFill>
                <a:latin typeface="Menlo"/>
              </a:rPr>
              <a:t>0.8891</a:t>
            </a:r>
          </a:p>
        </p:txBody>
      </p:sp>
      <p:sp>
        <p:nvSpPr>
          <p:cNvPr id="27" name="TextBox 26"/>
          <p:cNvSpPr txBox="1"/>
          <p:nvPr/>
        </p:nvSpPr>
        <p:spPr>
          <a:xfrm>
            <a:off x="8366760" y="1787652"/>
            <a:ext cx="1005840" cy="201168"/>
          </a:xfrm>
          <a:prstGeom prst="rect">
            <a:avLst/>
          </a:prstGeom>
          <a:noFill/>
        </p:spPr>
        <p:txBody>
          <a:bodyPr wrap="square" lIns="0" rIns="0" tIns="0" bIns="0" anchor="ctr">
            <a:spAutoFit/>
          </a:bodyPr>
          <a:lstStyle/>
          <a:p>
            <a:pPr algn="ctr"/>
            <a:r>
              <a:rPr sz="950" b="0" i="0">
                <a:solidFill>
                  <a:srgbClr val="7E8D9B"/>
                </a:solidFill>
                <a:latin typeface="Menlo"/>
              </a:rPr>
              <a:t>0.7961</a:t>
            </a:r>
          </a:p>
        </p:txBody>
      </p:sp>
      <p:sp>
        <p:nvSpPr>
          <p:cNvPr id="28" name="TextBox 27"/>
          <p:cNvSpPr txBox="1"/>
          <p:nvPr/>
        </p:nvSpPr>
        <p:spPr>
          <a:xfrm>
            <a:off x="9372600" y="1787652"/>
            <a:ext cx="1188720" cy="201168"/>
          </a:xfrm>
          <a:prstGeom prst="rect">
            <a:avLst/>
          </a:prstGeom>
          <a:noFill/>
        </p:spPr>
        <p:txBody>
          <a:bodyPr wrap="square" lIns="0" rIns="0" tIns="0" bIns="0" anchor="ctr">
            <a:spAutoFit/>
          </a:bodyPr>
          <a:lstStyle/>
          <a:p>
            <a:pPr algn="ctr"/>
            <a:r>
              <a:rPr sz="900" b="1" i="0">
                <a:solidFill>
                  <a:srgbClr val="16685A"/>
                </a:solidFill>
                <a:latin typeface="Helvetica Neue"/>
              </a:rPr>
              <a:t>1 of 5</a:t>
            </a:r>
          </a:p>
        </p:txBody>
      </p:sp>
      <p:sp>
        <p:nvSpPr>
          <p:cNvPr id="29" name="TextBox 28"/>
          <p:cNvSpPr txBox="1"/>
          <p:nvPr/>
        </p:nvSpPr>
        <p:spPr>
          <a:xfrm>
            <a:off x="1508760" y="2025396"/>
            <a:ext cx="2697480" cy="201168"/>
          </a:xfrm>
          <a:prstGeom prst="rect">
            <a:avLst/>
          </a:prstGeom>
          <a:noFill/>
        </p:spPr>
        <p:txBody>
          <a:bodyPr wrap="square" lIns="0" rIns="0" tIns="0" bIns="0" anchor="ctr">
            <a:spAutoFit/>
          </a:bodyPr>
          <a:lstStyle/>
          <a:p>
            <a:pPr algn="l"/>
            <a:r>
              <a:rPr sz="950" b="0" i="0">
                <a:solidFill>
                  <a:srgbClr val="141E27"/>
                </a:solidFill>
                <a:latin typeface="Helvetica Neue"/>
              </a:rPr>
              <a:t>LoCoMo extraction F1</a:t>
            </a:r>
          </a:p>
        </p:txBody>
      </p:sp>
      <p:sp>
        <p:nvSpPr>
          <p:cNvPr id="30" name="TextBox 29"/>
          <p:cNvSpPr txBox="1"/>
          <p:nvPr/>
        </p:nvSpPr>
        <p:spPr>
          <a:xfrm>
            <a:off x="4206240" y="2025396"/>
            <a:ext cx="1143000" cy="201168"/>
          </a:xfrm>
          <a:prstGeom prst="rect">
            <a:avLst/>
          </a:prstGeom>
          <a:noFill/>
        </p:spPr>
        <p:txBody>
          <a:bodyPr wrap="square" lIns="0" rIns="0" tIns="0" bIns="0" anchor="ctr">
            <a:spAutoFit/>
          </a:bodyPr>
          <a:lstStyle/>
          <a:p>
            <a:pPr algn="ctr"/>
            <a:r>
              <a:rPr sz="950" b="1" i="0">
                <a:solidFill>
                  <a:srgbClr val="16685A"/>
                </a:solidFill>
                <a:latin typeface="Menlo"/>
              </a:rPr>
              <a:t>0.8160</a:t>
            </a:r>
          </a:p>
        </p:txBody>
      </p:sp>
      <p:sp>
        <p:nvSpPr>
          <p:cNvPr id="31" name="TextBox 30"/>
          <p:cNvSpPr txBox="1"/>
          <p:nvPr/>
        </p:nvSpPr>
        <p:spPr>
          <a:xfrm>
            <a:off x="5349240" y="2025396"/>
            <a:ext cx="1005840" cy="201168"/>
          </a:xfrm>
          <a:prstGeom prst="rect">
            <a:avLst/>
          </a:prstGeom>
          <a:noFill/>
        </p:spPr>
        <p:txBody>
          <a:bodyPr wrap="square" lIns="0" rIns="0" tIns="0" bIns="0" anchor="ctr">
            <a:spAutoFit/>
          </a:bodyPr>
          <a:lstStyle/>
          <a:p>
            <a:pPr algn="ctr"/>
            <a:r>
              <a:rPr sz="950" b="0" i="0">
                <a:solidFill>
                  <a:srgbClr val="7E8D9B"/>
                </a:solidFill>
                <a:latin typeface="Menlo"/>
              </a:rPr>
              <a:t>0.6425</a:t>
            </a:r>
          </a:p>
        </p:txBody>
      </p:sp>
      <p:sp>
        <p:nvSpPr>
          <p:cNvPr id="32" name="TextBox 31"/>
          <p:cNvSpPr txBox="1"/>
          <p:nvPr/>
        </p:nvSpPr>
        <p:spPr>
          <a:xfrm>
            <a:off x="6355080" y="2025396"/>
            <a:ext cx="1005840" cy="201168"/>
          </a:xfrm>
          <a:prstGeom prst="rect">
            <a:avLst/>
          </a:prstGeom>
          <a:noFill/>
        </p:spPr>
        <p:txBody>
          <a:bodyPr wrap="square" lIns="0" rIns="0" tIns="0" bIns="0" anchor="ctr">
            <a:spAutoFit/>
          </a:bodyPr>
          <a:lstStyle/>
          <a:p>
            <a:pPr algn="ctr"/>
            <a:r>
              <a:rPr sz="950" b="0" i="0">
                <a:solidFill>
                  <a:srgbClr val="7E8D9B"/>
                </a:solidFill>
                <a:latin typeface="Menlo"/>
              </a:rPr>
              <a:t>0.7502</a:t>
            </a:r>
          </a:p>
        </p:txBody>
      </p:sp>
      <p:sp>
        <p:nvSpPr>
          <p:cNvPr id="33" name="TextBox 32"/>
          <p:cNvSpPr txBox="1"/>
          <p:nvPr/>
        </p:nvSpPr>
        <p:spPr>
          <a:xfrm>
            <a:off x="7360920" y="2025396"/>
            <a:ext cx="1005840" cy="201168"/>
          </a:xfrm>
          <a:prstGeom prst="rect">
            <a:avLst/>
          </a:prstGeom>
          <a:noFill/>
        </p:spPr>
        <p:txBody>
          <a:bodyPr wrap="square" lIns="0" rIns="0" tIns="0" bIns="0" anchor="ctr">
            <a:spAutoFit/>
          </a:bodyPr>
          <a:lstStyle/>
          <a:p>
            <a:pPr algn="ctr"/>
            <a:r>
              <a:rPr sz="950" b="0" i="0">
                <a:solidFill>
                  <a:srgbClr val="7E8D9B"/>
                </a:solidFill>
                <a:latin typeface="Menlo"/>
              </a:rPr>
              <a:t>0.7592</a:t>
            </a:r>
          </a:p>
        </p:txBody>
      </p:sp>
      <p:sp>
        <p:nvSpPr>
          <p:cNvPr id="34" name="TextBox 33"/>
          <p:cNvSpPr txBox="1"/>
          <p:nvPr/>
        </p:nvSpPr>
        <p:spPr>
          <a:xfrm>
            <a:off x="8366760" y="2025396"/>
            <a:ext cx="1005840" cy="201168"/>
          </a:xfrm>
          <a:prstGeom prst="rect">
            <a:avLst/>
          </a:prstGeom>
          <a:noFill/>
        </p:spPr>
        <p:txBody>
          <a:bodyPr wrap="square" lIns="0" rIns="0" tIns="0" bIns="0" anchor="ctr">
            <a:spAutoFit/>
          </a:bodyPr>
          <a:lstStyle/>
          <a:p>
            <a:pPr algn="ctr"/>
            <a:r>
              <a:rPr sz="950" b="0" i="0">
                <a:solidFill>
                  <a:srgbClr val="7E8D9B"/>
                </a:solidFill>
                <a:latin typeface="Menlo"/>
              </a:rPr>
              <a:t>0.7115</a:t>
            </a:r>
          </a:p>
        </p:txBody>
      </p:sp>
      <p:sp>
        <p:nvSpPr>
          <p:cNvPr id="35" name="TextBox 34"/>
          <p:cNvSpPr txBox="1"/>
          <p:nvPr/>
        </p:nvSpPr>
        <p:spPr>
          <a:xfrm>
            <a:off x="9372600" y="2025396"/>
            <a:ext cx="1188720" cy="201168"/>
          </a:xfrm>
          <a:prstGeom prst="rect">
            <a:avLst/>
          </a:prstGeom>
          <a:noFill/>
        </p:spPr>
        <p:txBody>
          <a:bodyPr wrap="square" lIns="0" rIns="0" tIns="0" bIns="0" anchor="ctr">
            <a:spAutoFit/>
          </a:bodyPr>
          <a:lstStyle/>
          <a:p>
            <a:pPr algn="ctr"/>
            <a:r>
              <a:rPr sz="900" b="1" i="0">
                <a:solidFill>
                  <a:srgbClr val="16685A"/>
                </a:solidFill>
                <a:latin typeface="Helvetica Neue"/>
              </a:rPr>
              <a:t>1 of 5</a:t>
            </a:r>
          </a:p>
        </p:txBody>
      </p:sp>
      <p:sp>
        <p:nvSpPr>
          <p:cNvPr id="36" name="TextBox 35"/>
          <p:cNvSpPr txBox="1"/>
          <p:nvPr/>
        </p:nvSpPr>
        <p:spPr>
          <a:xfrm>
            <a:off x="1508760" y="2263140"/>
            <a:ext cx="2697480" cy="201168"/>
          </a:xfrm>
          <a:prstGeom prst="rect">
            <a:avLst/>
          </a:prstGeom>
          <a:noFill/>
        </p:spPr>
        <p:txBody>
          <a:bodyPr wrap="square" lIns="0" rIns="0" tIns="0" bIns="0" anchor="ctr">
            <a:spAutoFit/>
          </a:bodyPr>
          <a:lstStyle/>
          <a:p>
            <a:pPr algn="l"/>
            <a:r>
              <a:rPr sz="950" b="0" i="0">
                <a:solidFill>
                  <a:srgbClr val="141E27"/>
                </a:solidFill>
                <a:latin typeface="Helvetica Neue"/>
              </a:rPr>
              <a:t>MemFail summary error ↓</a:t>
            </a:r>
          </a:p>
        </p:txBody>
      </p:sp>
      <p:sp>
        <p:nvSpPr>
          <p:cNvPr id="37" name="TextBox 36"/>
          <p:cNvSpPr txBox="1"/>
          <p:nvPr/>
        </p:nvSpPr>
        <p:spPr>
          <a:xfrm>
            <a:off x="4206240" y="2263140"/>
            <a:ext cx="1143000" cy="201168"/>
          </a:xfrm>
          <a:prstGeom prst="rect">
            <a:avLst/>
          </a:prstGeom>
          <a:noFill/>
        </p:spPr>
        <p:txBody>
          <a:bodyPr wrap="square" lIns="0" rIns="0" tIns="0" bIns="0" anchor="ctr">
            <a:spAutoFit/>
          </a:bodyPr>
          <a:lstStyle/>
          <a:p>
            <a:pPr algn="ctr"/>
            <a:r>
              <a:rPr sz="950" b="1" i="0">
                <a:solidFill>
                  <a:srgbClr val="141E27"/>
                </a:solidFill>
                <a:latin typeface="Menlo"/>
              </a:rPr>
              <a:t>2 / 35</a:t>
            </a:r>
          </a:p>
        </p:txBody>
      </p:sp>
      <p:sp>
        <p:nvSpPr>
          <p:cNvPr id="38" name="TextBox 37"/>
          <p:cNvSpPr txBox="1"/>
          <p:nvPr/>
        </p:nvSpPr>
        <p:spPr>
          <a:xfrm>
            <a:off x="5349240" y="2263140"/>
            <a:ext cx="1005840" cy="201168"/>
          </a:xfrm>
          <a:prstGeom prst="rect">
            <a:avLst/>
          </a:prstGeom>
          <a:noFill/>
        </p:spPr>
        <p:txBody>
          <a:bodyPr wrap="square" lIns="0" rIns="0" tIns="0" bIns="0" anchor="ctr">
            <a:spAutoFit/>
          </a:bodyPr>
          <a:lstStyle/>
          <a:p>
            <a:pPr algn="ctr"/>
            <a:r>
              <a:rPr sz="950" b="0" i="0">
                <a:solidFill>
                  <a:srgbClr val="7E8D9B"/>
                </a:solidFill>
                <a:latin typeface="Menlo"/>
              </a:rPr>
              <a:t>6 / 35</a:t>
            </a:r>
          </a:p>
        </p:txBody>
      </p:sp>
      <p:sp>
        <p:nvSpPr>
          <p:cNvPr id="39" name="TextBox 38"/>
          <p:cNvSpPr txBox="1"/>
          <p:nvPr/>
        </p:nvSpPr>
        <p:spPr>
          <a:xfrm>
            <a:off x="6355080" y="2263140"/>
            <a:ext cx="1005840" cy="201168"/>
          </a:xfrm>
          <a:prstGeom prst="rect">
            <a:avLst/>
          </a:prstGeom>
          <a:noFill/>
        </p:spPr>
        <p:txBody>
          <a:bodyPr wrap="square" lIns="0" rIns="0" tIns="0" bIns="0" anchor="ctr">
            <a:spAutoFit/>
          </a:bodyPr>
          <a:lstStyle/>
          <a:p>
            <a:pPr algn="ctr"/>
            <a:r>
              <a:rPr sz="950" b="0" i="0">
                <a:solidFill>
                  <a:srgbClr val="7E8D9B"/>
                </a:solidFill>
                <a:latin typeface="Menlo"/>
              </a:rPr>
              <a:t>4 / 35</a:t>
            </a:r>
          </a:p>
        </p:txBody>
      </p:sp>
      <p:sp>
        <p:nvSpPr>
          <p:cNvPr id="40" name="TextBox 39"/>
          <p:cNvSpPr txBox="1"/>
          <p:nvPr/>
        </p:nvSpPr>
        <p:spPr>
          <a:xfrm>
            <a:off x="7360920" y="2263140"/>
            <a:ext cx="1005840" cy="201168"/>
          </a:xfrm>
          <a:prstGeom prst="rect">
            <a:avLst/>
          </a:prstGeom>
          <a:noFill/>
        </p:spPr>
        <p:txBody>
          <a:bodyPr wrap="square" lIns="0" rIns="0" tIns="0" bIns="0" anchor="ctr">
            <a:spAutoFit/>
          </a:bodyPr>
          <a:lstStyle/>
          <a:p>
            <a:pPr algn="ctr"/>
            <a:r>
              <a:rPr sz="950" b="0" i="0">
                <a:solidFill>
                  <a:srgbClr val="7E8D9B"/>
                </a:solidFill>
                <a:latin typeface="Menlo"/>
              </a:rPr>
              <a:t>0 / 35</a:t>
            </a:r>
          </a:p>
        </p:txBody>
      </p:sp>
      <p:sp>
        <p:nvSpPr>
          <p:cNvPr id="41" name="TextBox 40"/>
          <p:cNvSpPr txBox="1"/>
          <p:nvPr/>
        </p:nvSpPr>
        <p:spPr>
          <a:xfrm>
            <a:off x="8366760" y="2263140"/>
            <a:ext cx="1005840" cy="201168"/>
          </a:xfrm>
          <a:prstGeom prst="rect">
            <a:avLst/>
          </a:prstGeom>
          <a:noFill/>
        </p:spPr>
        <p:txBody>
          <a:bodyPr wrap="square" lIns="0" rIns="0" tIns="0" bIns="0" anchor="ctr">
            <a:spAutoFit/>
          </a:bodyPr>
          <a:lstStyle/>
          <a:p>
            <a:pPr algn="ctr"/>
            <a:r>
              <a:rPr sz="950" b="0" i="0">
                <a:solidFill>
                  <a:srgbClr val="7E8D9B"/>
                </a:solidFill>
                <a:latin typeface="Menlo"/>
              </a:rPr>
              <a:t>6 / 35</a:t>
            </a:r>
          </a:p>
        </p:txBody>
      </p:sp>
      <p:sp>
        <p:nvSpPr>
          <p:cNvPr id="42" name="TextBox 41"/>
          <p:cNvSpPr txBox="1"/>
          <p:nvPr/>
        </p:nvSpPr>
        <p:spPr>
          <a:xfrm>
            <a:off x="9372600" y="2263140"/>
            <a:ext cx="1188720" cy="201168"/>
          </a:xfrm>
          <a:prstGeom prst="rect">
            <a:avLst/>
          </a:prstGeom>
          <a:noFill/>
        </p:spPr>
        <p:txBody>
          <a:bodyPr wrap="square" lIns="0" rIns="0" tIns="0" bIns="0" anchor="ctr">
            <a:spAutoFit/>
          </a:bodyPr>
          <a:lstStyle/>
          <a:p>
            <a:pPr algn="ctr"/>
            <a:r>
              <a:rPr sz="900" b="0" i="0">
                <a:solidFill>
                  <a:srgbClr val="141E27"/>
                </a:solidFill>
                <a:latin typeface="Helvetica Neue"/>
              </a:rPr>
              <a:t>2 of 5</a:t>
            </a:r>
          </a:p>
        </p:txBody>
      </p:sp>
      <p:cxnSp>
        <p:nvCxnSpPr>
          <p:cNvPr id="43" name="Connector 42"/>
          <p:cNvCxnSpPr/>
          <p:nvPr/>
        </p:nvCxnSpPr>
        <p:spPr>
          <a:xfrm>
            <a:off x="502920" y="2482596"/>
            <a:ext cx="10058400" cy="0"/>
          </a:xfrm>
          <a:prstGeom prst="line">
            <a:avLst/>
          </a:prstGeom>
          <a:ln w="6350">
            <a:solidFill>
              <a:srgbClr val="DBE2E9"/>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02920" y="2500884"/>
            <a:ext cx="1005840" cy="201168"/>
          </a:xfrm>
          <a:prstGeom prst="rect">
            <a:avLst/>
          </a:prstGeom>
          <a:noFill/>
        </p:spPr>
        <p:txBody>
          <a:bodyPr wrap="square" lIns="0" rIns="0" tIns="0" bIns="0" anchor="ctr">
            <a:spAutoFit/>
          </a:bodyPr>
          <a:lstStyle/>
          <a:p>
            <a:pPr algn="l"/>
            <a:r>
              <a:rPr sz="950" b="1" i="0">
                <a:solidFill>
                  <a:srgbClr val="4C5C6B"/>
                </a:solidFill>
                <a:latin typeface="Helvetica Neue"/>
              </a:rPr>
              <a:t>Storage</a:t>
            </a:r>
          </a:p>
        </p:txBody>
      </p:sp>
      <p:sp>
        <p:nvSpPr>
          <p:cNvPr id="45" name="TextBox 44"/>
          <p:cNvSpPr txBox="1"/>
          <p:nvPr/>
        </p:nvSpPr>
        <p:spPr>
          <a:xfrm>
            <a:off x="1508760" y="2500884"/>
            <a:ext cx="2697480" cy="201168"/>
          </a:xfrm>
          <a:prstGeom prst="rect">
            <a:avLst/>
          </a:prstGeom>
          <a:noFill/>
        </p:spPr>
        <p:txBody>
          <a:bodyPr wrap="square" lIns="0" rIns="0" tIns="0" bIns="0" anchor="ctr">
            <a:spAutoFit/>
          </a:bodyPr>
          <a:lstStyle/>
          <a:p>
            <a:pPr algn="l"/>
            <a:r>
              <a:rPr sz="950" b="0" i="0">
                <a:solidFill>
                  <a:srgbClr val="141E27"/>
                </a:solidFill>
                <a:latin typeface="Helvetica Neue"/>
              </a:rPr>
              <a:t>HaluMem memory_update</a:t>
            </a:r>
          </a:p>
        </p:txBody>
      </p:sp>
      <p:sp>
        <p:nvSpPr>
          <p:cNvPr id="46" name="TextBox 45"/>
          <p:cNvSpPr txBox="1"/>
          <p:nvPr/>
        </p:nvSpPr>
        <p:spPr>
          <a:xfrm>
            <a:off x="4206240" y="2500884"/>
            <a:ext cx="1143000" cy="201168"/>
          </a:xfrm>
          <a:prstGeom prst="rect">
            <a:avLst/>
          </a:prstGeom>
          <a:noFill/>
        </p:spPr>
        <p:txBody>
          <a:bodyPr wrap="square" lIns="0" rIns="0" tIns="0" bIns="0" anchor="ctr">
            <a:spAutoFit/>
          </a:bodyPr>
          <a:lstStyle/>
          <a:p>
            <a:pPr algn="ctr"/>
            <a:r>
              <a:rPr sz="950" b="1" i="0">
                <a:solidFill>
                  <a:srgbClr val="9C4221"/>
                </a:solidFill>
                <a:latin typeface="Menlo"/>
              </a:rPr>
              <a:t>0.5247</a:t>
            </a:r>
          </a:p>
        </p:txBody>
      </p:sp>
      <p:sp>
        <p:nvSpPr>
          <p:cNvPr id="47" name="TextBox 46"/>
          <p:cNvSpPr txBox="1"/>
          <p:nvPr/>
        </p:nvSpPr>
        <p:spPr>
          <a:xfrm>
            <a:off x="5349240" y="2500884"/>
            <a:ext cx="1005840" cy="201168"/>
          </a:xfrm>
          <a:prstGeom prst="rect">
            <a:avLst/>
          </a:prstGeom>
          <a:noFill/>
        </p:spPr>
        <p:txBody>
          <a:bodyPr wrap="square" lIns="0" rIns="0" tIns="0" bIns="0" anchor="ctr">
            <a:spAutoFit/>
          </a:bodyPr>
          <a:lstStyle/>
          <a:p>
            <a:pPr algn="ctr"/>
            <a:r>
              <a:rPr sz="950" b="0" i="0">
                <a:solidFill>
                  <a:srgbClr val="7E8D9B"/>
                </a:solidFill>
                <a:latin typeface="Menlo"/>
              </a:rPr>
              <a:t>0.3704</a:t>
            </a:r>
          </a:p>
        </p:txBody>
      </p:sp>
      <p:sp>
        <p:nvSpPr>
          <p:cNvPr id="48" name="TextBox 47"/>
          <p:cNvSpPr txBox="1"/>
          <p:nvPr/>
        </p:nvSpPr>
        <p:spPr>
          <a:xfrm>
            <a:off x="6355080" y="2500884"/>
            <a:ext cx="1005840" cy="201168"/>
          </a:xfrm>
          <a:prstGeom prst="rect">
            <a:avLst/>
          </a:prstGeom>
          <a:noFill/>
        </p:spPr>
        <p:txBody>
          <a:bodyPr wrap="square" lIns="0" rIns="0" tIns="0" bIns="0" anchor="ctr">
            <a:spAutoFit/>
          </a:bodyPr>
          <a:lstStyle/>
          <a:p>
            <a:pPr algn="ctr"/>
            <a:r>
              <a:rPr sz="950" b="0" i="0">
                <a:solidFill>
                  <a:srgbClr val="7E8D9B"/>
                </a:solidFill>
                <a:latin typeface="Menlo"/>
              </a:rPr>
              <a:t>0.7160</a:t>
            </a:r>
          </a:p>
        </p:txBody>
      </p:sp>
      <p:sp>
        <p:nvSpPr>
          <p:cNvPr id="49" name="TextBox 48"/>
          <p:cNvSpPr txBox="1"/>
          <p:nvPr/>
        </p:nvSpPr>
        <p:spPr>
          <a:xfrm>
            <a:off x="7360920" y="2500884"/>
            <a:ext cx="1005840" cy="201168"/>
          </a:xfrm>
          <a:prstGeom prst="rect">
            <a:avLst/>
          </a:prstGeom>
          <a:noFill/>
        </p:spPr>
        <p:txBody>
          <a:bodyPr wrap="square" lIns="0" rIns="0" tIns="0" bIns="0" anchor="ctr">
            <a:spAutoFit/>
          </a:bodyPr>
          <a:lstStyle/>
          <a:p>
            <a:pPr algn="ctr"/>
            <a:r>
              <a:rPr sz="950" b="0" i="0">
                <a:solidFill>
                  <a:srgbClr val="7E8D9B"/>
                </a:solidFill>
                <a:latin typeface="Menlo"/>
              </a:rPr>
              <a:t>0.7346</a:t>
            </a:r>
          </a:p>
        </p:txBody>
      </p:sp>
      <p:sp>
        <p:nvSpPr>
          <p:cNvPr id="50" name="TextBox 49"/>
          <p:cNvSpPr txBox="1"/>
          <p:nvPr/>
        </p:nvSpPr>
        <p:spPr>
          <a:xfrm>
            <a:off x="8366760" y="2500884"/>
            <a:ext cx="1005840" cy="201168"/>
          </a:xfrm>
          <a:prstGeom prst="rect">
            <a:avLst/>
          </a:prstGeom>
          <a:noFill/>
        </p:spPr>
        <p:txBody>
          <a:bodyPr wrap="square" lIns="0" rIns="0" tIns="0" bIns="0" anchor="ctr">
            <a:spAutoFit/>
          </a:bodyPr>
          <a:lstStyle/>
          <a:p>
            <a:pPr algn="ctr"/>
            <a:r>
              <a:rPr sz="950" b="0" i="0">
                <a:solidFill>
                  <a:srgbClr val="7E8D9B"/>
                </a:solidFill>
                <a:latin typeface="Menlo"/>
              </a:rPr>
              <a:t>0.5556</a:t>
            </a:r>
          </a:p>
        </p:txBody>
      </p:sp>
      <p:sp>
        <p:nvSpPr>
          <p:cNvPr id="51" name="TextBox 50"/>
          <p:cNvSpPr txBox="1"/>
          <p:nvPr/>
        </p:nvSpPr>
        <p:spPr>
          <a:xfrm>
            <a:off x="9372600" y="2500884"/>
            <a:ext cx="1188720" cy="201168"/>
          </a:xfrm>
          <a:prstGeom prst="rect">
            <a:avLst/>
          </a:prstGeom>
          <a:noFill/>
        </p:spPr>
        <p:txBody>
          <a:bodyPr wrap="square" lIns="0" rIns="0" tIns="0" bIns="0" anchor="ctr">
            <a:spAutoFit/>
          </a:bodyPr>
          <a:lstStyle/>
          <a:p>
            <a:pPr algn="ctr"/>
            <a:r>
              <a:rPr sz="900" b="1" i="0">
                <a:solidFill>
                  <a:srgbClr val="9C4221"/>
                </a:solidFill>
                <a:latin typeface="Helvetica Neue"/>
              </a:rPr>
              <a:t>4 of 5</a:t>
            </a:r>
          </a:p>
        </p:txBody>
      </p:sp>
      <p:sp>
        <p:nvSpPr>
          <p:cNvPr id="52" name="TextBox 51"/>
          <p:cNvSpPr txBox="1"/>
          <p:nvPr/>
        </p:nvSpPr>
        <p:spPr>
          <a:xfrm>
            <a:off x="1508760" y="2738628"/>
            <a:ext cx="2697480" cy="201168"/>
          </a:xfrm>
          <a:prstGeom prst="rect">
            <a:avLst/>
          </a:prstGeom>
          <a:noFill/>
        </p:spPr>
        <p:txBody>
          <a:bodyPr wrap="square" lIns="0" rIns="0" tIns="0" bIns="0" anchor="ctr">
            <a:spAutoFit/>
          </a:bodyPr>
          <a:lstStyle/>
          <a:p>
            <a:pPr algn="l"/>
            <a:r>
              <a:rPr sz="950" b="0" i="0">
                <a:solidFill>
                  <a:srgbClr val="141E27"/>
                </a:solidFill>
                <a:latin typeface="Helvetica Neue"/>
              </a:rPr>
              <a:t>HaluMem Memory Conflict OK</a:t>
            </a:r>
          </a:p>
        </p:txBody>
      </p:sp>
      <p:sp>
        <p:nvSpPr>
          <p:cNvPr id="53" name="TextBox 52"/>
          <p:cNvSpPr txBox="1"/>
          <p:nvPr/>
        </p:nvSpPr>
        <p:spPr>
          <a:xfrm>
            <a:off x="4206240" y="2738628"/>
            <a:ext cx="1143000" cy="201168"/>
          </a:xfrm>
          <a:prstGeom prst="rect">
            <a:avLst/>
          </a:prstGeom>
          <a:noFill/>
        </p:spPr>
        <p:txBody>
          <a:bodyPr wrap="square" lIns="0" rIns="0" tIns="0" bIns="0" anchor="ctr">
            <a:spAutoFit/>
          </a:bodyPr>
          <a:lstStyle/>
          <a:p>
            <a:pPr algn="ctr"/>
            <a:r>
              <a:rPr sz="950" b="1" i="0">
                <a:solidFill>
                  <a:srgbClr val="141E27"/>
                </a:solidFill>
                <a:latin typeface="Menlo"/>
              </a:rPr>
              <a:t>13 / 40</a:t>
            </a:r>
          </a:p>
        </p:txBody>
      </p:sp>
      <p:sp>
        <p:nvSpPr>
          <p:cNvPr id="54" name="TextBox 53"/>
          <p:cNvSpPr txBox="1"/>
          <p:nvPr/>
        </p:nvSpPr>
        <p:spPr>
          <a:xfrm>
            <a:off x="5349240" y="2738628"/>
            <a:ext cx="1005840" cy="201168"/>
          </a:xfrm>
          <a:prstGeom prst="rect">
            <a:avLst/>
          </a:prstGeom>
          <a:noFill/>
        </p:spPr>
        <p:txBody>
          <a:bodyPr wrap="square" lIns="0" rIns="0" tIns="0" bIns="0" anchor="ctr">
            <a:spAutoFit/>
          </a:bodyPr>
          <a:lstStyle/>
          <a:p>
            <a:pPr algn="ctr"/>
            <a:r>
              <a:rPr sz="950" b="0" i="0">
                <a:solidFill>
                  <a:srgbClr val="7E8D9B"/>
                </a:solidFill>
                <a:latin typeface="Menlo"/>
              </a:rPr>
              <a:t>8 / 40</a:t>
            </a:r>
          </a:p>
        </p:txBody>
      </p:sp>
      <p:sp>
        <p:nvSpPr>
          <p:cNvPr id="55" name="TextBox 54"/>
          <p:cNvSpPr txBox="1"/>
          <p:nvPr/>
        </p:nvSpPr>
        <p:spPr>
          <a:xfrm>
            <a:off x="6355080" y="2738628"/>
            <a:ext cx="1005840" cy="201168"/>
          </a:xfrm>
          <a:prstGeom prst="rect">
            <a:avLst/>
          </a:prstGeom>
          <a:noFill/>
        </p:spPr>
        <p:txBody>
          <a:bodyPr wrap="square" lIns="0" rIns="0" tIns="0" bIns="0" anchor="ctr">
            <a:spAutoFit/>
          </a:bodyPr>
          <a:lstStyle/>
          <a:p>
            <a:pPr algn="ctr"/>
            <a:r>
              <a:rPr sz="950" b="0" i="0">
                <a:solidFill>
                  <a:srgbClr val="7E8D9B"/>
                </a:solidFill>
                <a:latin typeface="Menlo"/>
              </a:rPr>
              <a:t>8 / 40</a:t>
            </a:r>
          </a:p>
        </p:txBody>
      </p:sp>
      <p:sp>
        <p:nvSpPr>
          <p:cNvPr id="56" name="TextBox 55"/>
          <p:cNvSpPr txBox="1"/>
          <p:nvPr/>
        </p:nvSpPr>
        <p:spPr>
          <a:xfrm>
            <a:off x="7360920" y="2738628"/>
            <a:ext cx="1005840" cy="201168"/>
          </a:xfrm>
          <a:prstGeom prst="rect">
            <a:avLst/>
          </a:prstGeom>
          <a:noFill/>
        </p:spPr>
        <p:txBody>
          <a:bodyPr wrap="square" lIns="0" rIns="0" tIns="0" bIns="0" anchor="ctr">
            <a:spAutoFit/>
          </a:bodyPr>
          <a:lstStyle/>
          <a:p>
            <a:pPr algn="ctr"/>
            <a:r>
              <a:rPr sz="950" b="0" i="0">
                <a:solidFill>
                  <a:srgbClr val="7E8D9B"/>
                </a:solidFill>
                <a:latin typeface="Menlo"/>
              </a:rPr>
              <a:t>29 / 40</a:t>
            </a:r>
          </a:p>
        </p:txBody>
      </p:sp>
      <p:sp>
        <p:nvSpPr>
          <p:cNvPr id="57" name="TextBox 56"/>
          <p:cNvSpPr txBox="1"/>
          <p:nvPr/>
        </p:nvSpPr>
        <p:spPr>
          <a:xfrm>
            <a:off x="8366760" y="2738628"/>
            <a:ext cx="1005840" cy="201168"/>
          </a:xfrm>
          <a:prstGeom prst="rect">
            <a:avLst/>
          </a:prstGeom>
          <a:noFill/>
        </p:spPr>
        <p:txBody>
          <a:bodyPr wrap="square" lIns="0" rIns="0" tIns="0" bIns="0" anchor="ctr">
            <a:spAutoFit/>
          </a:bodyPr>
          <a:lstStyle/>
          <a:p>
            <a:pPr algn="ctr"/>
            <a:r>
              <a:rPr sz="950" b="0" i="0">
                <a:solidFill>
                  <a:srgbClr val="7E8D9B"/>
                </a:solidFill>
                <a:latin typeface="Menlo"/>
              </a:rPr>
              <a:t>9 / 40</a:t>
            </a:r>
          </a:p>
        </p:txBody>
      </p:sp>
      <p:sp>
        <p:nvSpPr>
          <p:cNvPr id="58" name="TextBox 57"/>
          <p:cNvSpPr txBox="1"/>
          <p:nvPr/>
        </p:nvSpPr>
        <p:spPr>
          <a:xfrm>
            <a:off x="9372600" y="2738628"/>
            <a:ext cx="1188720" cy="201168"/>
          </a:xfrm>
          <a:prstGeom prst="rect">
            <a:avLst/>
          </a:prstGeom>
          <a:noFill/>
        </p:spPr>
        <p:txBody>
          <a:bodyPr wrap="square" lIns="0" rIns="0" tIns="0" bIns="0" anchor="ctr">
            <a:spAutoFit/>
          </a:bodyPr>
          <a:lstStyle/>
          <a:p>
            <a:pPr algn="ctr"/>
            <a:r>
              <a:rPr sz="900" b="0" i="0">
                <a:solidFill>
                  <a:srgbClr val="141E27"/>
                </a:solidFill>
                <a:latin typeface="Helvetica Neue"/>
              </a:rPr>
              <a:t>2 of 5</a:t>
            </a:r>
          </a:p>
        </p:txBody>
      </p:sp>
      <p:cxnSp>
        <p:nvCxnSpPr>
          <p:cNvPr id="59" name="Connector 58"/>
          <p:cNvCxnSpPr/>
          <p:nvPr/>
        </p:nvCxnSpPr>
        <p:spPr>
          <a:xfrm>
            <a:off x="502920" y="2958084"/>
            <a:ext cx="10058400" cy="0"/>
          </a:xfrm>
          <a:prstGeom prst="line">
            <a:avLst/>
          </a:prstGeom>
          <a:ln w="6350">
            <a:solidFill>
              <a:srgbClr val="DBE2E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02920" y="2976372"/>
            <a:ext cx="1005840" cy="201168"/>
          </a:xfrm>
          <a:prstGeom prst="rect">
            <a:avLst/>
          </a:prstGeom>
          <a:noFill/>
        </p:spPr>
        <p:txBody>
          <a:bodyPr wrap="square" lIns="0" rIns="0" tIns="0" bIns="0" anchor="ctr">
            <a:spAutoFit/>
          </a:bodyPr>
          <a:lstStyle/>
          <a:p>
            <a:pPr algn="l"/>
            <a:r>
              <a:rPr sz="950" b="1" i="0">
                <a:solidFill>
                  <a:srgbClr val="4C5C6B"/>
                </a:solidFill>
                <a:latin typeface="Helvetica Neue"/>
              </a:rPr>
              <a:t>Retrieval</a:t>
            </a:r>
          </a:p>
        </p:txBody>
      </p:sp>
      <p:sp>
        <p:nvSpPr>
          <p:cNvPr id="61" name="TextBox 60"/>
          <p:cNvSpPr txBox="1"/>
          <p:nvPr/>
        </p:nvSpPr>
        <p:spPr>
          <a:xfrm>
            <a:off x="1508760" y="2976372"/>
            <a:ext cx="2697480" cy="201168"/>
          </a:xfrm>
          <a:prstGeom prst="rect">
            <a:avLst/>
          </a:prstGeom>
          <a:noFill/>
        </p:spPr>
        <p:txBody>
          <a:bodyPr wrap="square" lIns="0" rIns="0" tIns="0" bIns="0" anchor="ctr">
            <a:spAutoFit/>
          </a:bodyPr>
          <a:lstStyle/>
          <a:p>
            <a:pPr algn="l"/>
            <a:r>
              <a:rPr sz="950" b="0" i="0">
                <a:solidFill>
                  <a:srgbClr val="141E27"/>
                </a:solidFill>
                <a:latin typeface="Helvetica Neue"/>
              </a:rPr>
              <a:t>HaluMem P4 sufficiency</a:t>
            </a:r>
          </a:p>
        </p:txBody>
      </p:sp>
      <p:sp>
        <p:nvSpPr>
          <p:cNvPr id="62" name="TextBox 61"/>
          <p:cNvSpPr txBox="1"/>
          <p:nvPr/>
        </p:nvSpPr>
        <p:spPr>
          <a:xfrm>
            <a:off x="4206240" y="2976372"/>
            <a:ext cx="1143000" cy="201168"/>
          </a:xfrm>
          <a:prstGeom prst="rect">
            <a:avLst/>
          </a:prstGeom>
          <a:noFill/>
        </p:spPr>
        <p:txBody>
          <a:bodyPr wrap="square" lIns="0" rIns="0" tIns="0" bIns="0" anchor="ctr">
            <a:spAutoFit/>
          </a:bodyPr>
          <a:lstStyle/>
          <a:p>
            <a:pPr algn="ctr"/>
            <a:r>
              <a:rPr sz="950" b="1" i="0">
                <a:solidFill>
                  <a:srgbClr val="9C4221"/>
                </a:solidFill>
                <a:latin typeface="Menlo"/>
              </a:rPr>
              <a:t>0.2214</a:t>
            </a:r>
          </a:p>
        </p:txBody>
      </p:sp>
      <p:sp>
        <p:nvSpPr>
          <p:cNvPr id="63" name="TextBox 62"/>
          <p:cNvSpPr txBox="1"/>
          <p:nvPr/>
        </p:nvSpPr>
        <p:spPr>
          <a:xfrm>
            <a:off x="5349240" y="2976372"/>
            <a:ext cx="1005840" cy="201168"/>
          </a:xfrm>
          <a:prstGeom prst="rect">
            <a:avLst/>
          </a:prstGeom>
          <a:noFill/>
        </p:spPr>
        <p:txBody>
          <a:bodyPr wrap="square" lIns="0" rIns="0" tIns="0" bIns="0" anchor="ctr">
            <a:spAutoFit/>
          </a:bodyPr>
          <a:lstStyle/>
          <a:p>
            <a:pPr algn="ctr"/>
            <a:r>
              <a:rPr sz="950" b="0" i="0">
                <a:solidFill>
                  <a:srgbClr val="7E8D9B"/>
                </a:solidFill>
                <a:latin typeface="Menlo"/>
              </a:rPr>
              <a:t>0.3525</a:t>
            </a:r>
          </a:p>
        </p:txBody>
      </p:sp>
      <p:sp>
        <p:nvSpPr>
          <p:cNvPr id="64" name="TextBox 63"/>
          <p:cNvSpPr txBox="1"/>
          <p:nvPr/>
        </p:nvSpPr>
        <p:spPr>
          <a:xfrm>
            <a:off x="6355080" y="2976372"/>
            <a:ext cx="1005840" cy="201168"/>
          </a:xfrm>
          <a:prstGeom prst="rect">
            <a:avLst/>
          </a:prstGeom>
          <a:noFill/>
        </p:spPr>
        <p:txBody>
          <a:bodyPr wrap="square" lIns="0" rIns="0" tIns="0" bIns="0" anchor="ctr">
            <a:spAutoFit/>
          </a:bodyPr>
          <a:lstStyle/>
          <a:p>
            <a:pPr algn="ctr"/>
            <a:r>
              <a:rPr sz="950" b="0" i="0">
                <a:solidFill>
                  <a:srgbClr val="7E8D9B"/>
                </a:solidFill>
                <a:latin typeface="Menlo"/>
              </a:rPr>
              <a:t>0.3542</a:t>
            </a:r>
          </a:p>
        </p:txBody>
      </p:sp>
      <p:sp>
        <p:nvSpPr>
          <p:cNvPr id="65" name="TextBox 64"/>
          <p:cNvSpPr txBox="1"/>
          <p:nvPr/>
        </p:nvSpPr>
        <p:spPr>
          <a:xfrm>
            <a:off x="7360920" y="2976372"/>
            <a:ext cx="1005840" cy="201168"/>
          </a:xfrm>
          <a:prstGeom prst="rect">
            <a:avLst/>
          </a:prstGeom>
          <a:noFill/>
        </p:spPr>
        <p:txBody>
          <a:bodyPr wrap="square" lIns="0" rIns="0" tIns="0" bIns="0" anchor="ctr">
            <a:spAutoFit/>
          </a:bodyPr>
          <a:lstStyle/>
          <a:p>
            <a:pPr algn="ctr"/>
            <a:r>
              <a:rPr sz="950" b="0" i="0">
                <a:solidFill>
                  <a:srgbClr val="7E8D9B"/>
                </a:solidFill>
                <a:latin typeface="Menlo"/>
              </a:rPr>
              <a:t>0.6879</a:t>
            </a:r>
          </a:p>
        </p:txBody>
      </p:sp>
      <p:sp>
        <p:nvSpPr>
          <p:cNvPr id="66" name="TextBox 65"/>
          <p:cNvSpPr txBox="1"/>
          <p:nvPr/>
        </p:nvSpPr>
        <p:spPr>
          <a:xfrm>
            <a:off x="8366760" y="2976372"/>
            <a:ext cx="1005840" cy="201168"/>
          </a:xfrm>
          <a:prstGeom prst="rect">
            <a:avLst/>
          </a:prstGeom>
          <a:noFill/>
        </p:spPr>
        <p:txBody>
          <a:bodyPr wrap="square" lIns="0" rIns="0" tIns="0" bIns="0" anchor="ctr">
            <a:spAutoFit/>
          </a:bodyPr>
          <a:lstStyle/>
          <a:p>
            <a:pPr algn="ctr"/>
            <a:r>
              <a:rPr sz="950" b="0" i="0">
                <a:solidFill>
                  <a:srgbClr val="7E8D9B"/>
                </a:solidFill>
                <a:latin typeface="Menlo"/>
              </a:rPr>
              <a:t>0.3111</a:t>
            </a:r>
          </a:p>
        </p:txBody>
      </p:sp>
      <p:sp>
        <p:nvSpPr>
          <p:cNvPr id="67" name="TextBox 66"/>
          <p:cNvSpPr txBox="1"/>
          <p:nvPr/>
        </p:nvSpPr>
        <p:spPr>
          <a:xfrm>
            <a:off x="9372600" y="2976372"/>
            <a:ext cx="1188720" cy="201168"/>
          </a:xfrm>
          <a:prstGeom prst="rect">
            <a:avLst/>
          </a:prstGeom>
          <a:noFill/>
        </p:spPr>
        <p:txBody>
          <a:bodyPr wrap="square" lIns="0" rIns="0" tIns="0" bIns="0" anchor="ctr">
            <a:spAutoFit/>
          </a:bodyPr>
          <a:lstStyle/>
          <a:p>
            <a:pPr algn="ctr"/>
            <a:r>
              <a:rPr sz="900" b="1" i="0">
                <a:solidFill>
                  <a:srgbClr val="9C4221"/>
                </a:solidFill>
                <a:latin typeface="Helvetica Neue"/>
              </a:rPr>
              <a:t>5 of 5</a:t>
            </a:r>
          </a:p>
        </p:txBody>
      </p:sp>
      <p:sp>
        <p:nvSpPr>
          <p:cNvPr id="68" name="TextBox 67"/>
          <p:cNvSpPr txBox="1"/>
          <p:nvPr/>
        </p:nvSpPr>
        <p:spPr>
          <a:xfrm>
            <a:off x="1508760" y="3214116"/>
            <a:ext cx="2697480" cy="201168"/>
          </a:xfrm>
          <a:prstGeom prst="rect">
            <a:avLst/>
          </a:prstGeom>
          <a:noFill/>
        </p:spPr>
        <p:txBody>
          <a:bodyPr wrap="square" lIns="0" rIns="0" tIns="0" bIns="0" anchor="ctr">
            <a:spAutoFit/>
          </a:bodyPr>
          <a:lstStyle/>
          <a:p>
            <a:pPr algn="l"/>
            <a:r>
              <a:rPr sz="950" b="0" i="0">
                <a:solidFill>
                  <a:srgbClr val="141E27"/>
                </a:solidFill>
                <a:latin typeface="Helvetica Neue"/>
              </a:rPr>
              <a:t>LoCoMo P4 sufficiency</a:t>
            </a:r>
          </a:p>
        </p:txBody>
      </p:sp>
      <p:sp>
        <p:nvSpPr>
          <p:cNvPr id="69" name="TextBox 68"/>
          <p:cNvSpPr txBox="1"/>
          <p:nvPr/>
        </p:nvSpPr>
        <p:spPr>
          <a:xfrm>
            <a:off x="4206240" y="3214116"/>
            <a:ext cx="1143000" cy="201168"/>
          </a:xfrm>
          <a:prstGeom prst="rect">
            <a:avLst/>
          </a:prstGeom>
          <a:noFill/>
        </p:spPr>
        <p:txBody>
          <a:bodyPr wrap="square" lIns="0" rIns="0" tIns="0" bIns="0" anchor="ctr">
            <a:spAutoFit/>
          </a:bodyPr>
          <a:lstStyle/>
          <a:p>
            <a:pPr algn="ctr"/>
            <a:r>
              <a:rPr sz="950" b="1" i="0">
                <a:solidFill>
                  <a:srgbClr val="16685A"/>
                </a:solidFill>
                <a:latin typeface="Menlo"/>
              </a:rPr>
              <a:t>0.7039</a:t>
            </a:r>
          </a:p>
        </p:txBody>
      </p:sp>
      <p:sp>
        <p:nvSpPr>
          <p:cNvPr id="70" name="TextBox 69"/>
          <p:cNvSpPr txBox="1"/>
          <p:nvPr/>
        </p:nvSpPr>
        <p:spPr>
          <a:xfrm>
            <a:off x="5349240" y="3214116"/>
            <a:ext cx="1005840" cy="201168"/>
          </a:xfrm>
          <a:prstGeom prst="rect">
            <a:avLst/>
          </a:prstGeom>
          <a:noFill/>
        </p:spPr>
        <p:txBody>
          <a:bodyPr wrap="square" lIns="0" rIns="0" tIns="0" bIns="0" anchor="ctr">
            <a:spAutoFit/>
          </a:bodyPr>
          <a:lstStyle/>
          <a:p>
            <a:pPr algn="ctr"/>
            <a:r>
              <a:rPr sz="950" b="0" i="0">
                <a:solidFill>
                  <a:srgbClr val="7E8D9B"/>
                </a:solidFill>
                <a:latin typeface="Menlo"/>
              </a:rPr>
              <a:t>0.4803</a:t>
            </a:r>
          </a:p>
        </p:txBody>
      </p:sp>
      <p:sp>
        <p:nvSpPr>
          <p:cNvPr id="71" name="TextBox 70"/>
          <p:cNvSpPr txBox="1"/>
          <p:nvPr/>
        </p:nvSpPr>
        <p:spPr>
          <a:xfrm>
            <a:off x="6355080" y="3214116"/>
            <a:ext cx="1005840" cy="201168"/>
          </a:xfrm>
          <a:prstGeom prst="rect">
            <a:avLst/>
          </a:prstGeom>
          <a:noFill/>
        </p:spPr>
        <p:txBody>
          <a:bodyPr wrap="square" lIns="0" rIns="0" tIns="0" bIns="0" anchor="ctr">
            <a:spAutoFit/>
          </a:bodyPr>
          <a:lstStyle/>
          <a:p>
            <a:pPr algn="ctr"/>
            <a:r>
              <a:rPr sz="950" b="0" i="0">
                <a:solidFill>
                  <a:srgbClr val="7E8D9B"/>
                </a:solidFill>
                <a:latin typeface="Menlo"/>
              </a:rPr>
              <a:t>0.5987</a:t>
            </a:r>
          </a:p>
        </p:txBody>
      </p:sp>
      <p:sp>
        <p:nvSpPr>
          <p:cNvPr id="72" name="TextBox 71"/>
          <p:cNvSpPr txBox="1"/>
          <p:nvPr/>
        </p:nvSpPr>
        <p:spPr>
          <a:xfrm>
            <a:off x="7360920" y="3214116"/>
            <a:ext cx="1005840" cy="201168"/>
          </a:xfrm>
          <a:prstGeom prst="rect">
            <a:avLst/>
          </a:prstGeom>
          <a:noFill/>
        </p:spPr>
        <p:txBody>
          <a:bodyPr wrap="square" lIns="0" rIns="0" tIns="0" bIns="0" anchor="ctr">
            <a:spAutoFit/>
          </a:bodyPr>
          <a:lstStyle/>
          <a:p>
            <a:pPr algn="ctr"/>
            <a:r>
              <a:rPr sz="950" b="0" i="0">
                <a:solidFill>
                  <a:srgbClr val="7E8D9B"/>
                </a:solidFill>
                <a:latin typeface="Menlo"/>
              </a:rPr>
              <a:t>0.5197</a:t>
            </a:r>
          </a:p>
        </p:txBody>
      </p:sp>
      <p:sp>
        <p:nvSpPr>
          <p:cNvPr id="73" name="TextBox 72"/>
          <p:cNvSpPr txBox="1"/>
          <p:nvPr/>
        </p:nvSpPr>
        <p:spPr>
          <a:xfrm>
            <a:off x="8366760" y="3214116"/>
            <a:ext cx="1005840" cy="201168"/>
          </a:xfrm>
          <a:prstGeom prst="rect">
            <a:avLst/>
          </a:prstGeom>
          <a:noFill/>
        </p:spPr>
        <p:txBody>
          <a:bodyPr wrap="square" lIns="0" rIns="0" tIns="0" bIns="0" anchor="ctr">
            <a:spAutoFit/>
          </a:bodyPr>
          <a:lstStyle/>
          <a:p>
            <a:pPr algn="ctr"/>
            <a:r>
              <a:rPr sz="950" b="0" i="0">
                <a:solidFill>
                  <a:srgbClr val="7E8D9B"/>
                </a:solidFill>
                <a:latin typeface="Menlo"/>
              </a:rPr>
              <a:t>0.5395</a:t>
            </a:r>
          </a:p>
        </p:txBody>
      </p:sp>
      <p:sp>
        <p:nvSpPr>
          <p:cNvPr id="74" name="TextBox 73"/>
          <p:cNvSpPr txBox="1"/>
          <p:nvPr/>
        </p:nvSpPr>
        <p:spPr>
          <a:xfrm>
            <a:off x="9372600" y="3214116"/>
            <a:ext cx="1188720" cy="201168"/>
          </a:xfrm>
          <a:prstGeom prst="rect">
            <a:avLst/>
          </a:prstGeom>
          <a:noFill/>
        </p:spPr>
        <p:txBody>
          <a:bodyPr wrap="square" lIns="0" rIns="0" tIns="0" bIns="0" anchor="ctr">
            <a:spAutoFit/>
          </a:bodyPr>
          <a:lstStyle/>
          <a:p>
            <a:pPr algn="ctr"/>
            <a:r>
              <a:rPr sz="900" b="1" i="0">
                <a:solidFill>
                  <a:srgbClr val="16685A"/>
                </a:solidFill>
                <a:latin typeface="Helvetica Neue"/>
              </a:rPr>
              <a:t>1 of 5</a:t>
            </a:r>
          </a:p>
        </p:txBody>
      </p:sp>
      <p:cxnSp>
        <p:nvCxnSpPr>
          <p:cNvPr id="75" name="Connector 74"/>
          <p:cNvCxnSpPr/>
          <p:nvPr/>
        </p:nvCxnSpPr>
        <p:spPr>
          <a:xfrm>
            <a:off x="502920" y="3433572"/>
            <a:ext cx="10058400" cy="0"/>
          </a:xfrm>
          <a:prstGeom prst="line">
            <a:avLst/>
          </a:prstGeom>
          <a:ln w="6350">
            <a:solidFill>
              <a:srgbClr val="DBE2E9"/>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502920" y="3451860"/>
            <a:ext cx="1005840" cy="201168"/>
          </a:xfrm>
          <a:prstGeom prst="rect">
            <a:avLst/>
          </a:prstGeom>
          <a:noFill/>
        </p:spPr>
        <p:txBody>
          <a:bodyPr wrap="square" lIns="0" rIns="0" tIns="0" bIns="0" anchor="ctr">
            <a:spAutoFit/>
          </a:bodyPr>
          <a:lstStyle/>
          <a:p>
            <a:pPr algn="l"/>
            <a:r>
              <a:rPr sz="950" b="1" i="0">
                <a:solidFill>
                  <a:srgbClr val="4C5C6B"/>
                </a:solidFill>
                <a:latin typeface="Helvetica Neue"/>
              </a:rPr>
              <a:t>Reasoning</a:t>
            </a:r>
          </a:p>
        </p:txBody>
      </p:sp>
      <p:sp>
        <p:nvSpPr>
          <p:cNvPr id="77" name="TextBox 76"/>
          <p:cNvSpPr txBox="1"/>
          <p:nvPr/>
        </p:nvSpPr>
        <p:spPr>
          <a:xfrm>
            <a:off x="1508760" y="3451860"/>
            <a:ext cx="2697480" cy="201168"/>
          </a:xfrm>
          <a:prstGeom prst="rect">
            <a:avLst/>
          </a:prstGeom>
          <a:noFill/>
        </p:spPr>
        <p:txBody>
          <a:bodyPr wrap="square" lIns="0" rIns="0" tIns="0" bIns="0" anchor="ctr">
            <a:spAutoFit/>
          </a:bodyPr>
          <a:lstStyle/>
          <a:p>
            <a:pPr algn="l"/>
            <a:r>
              <a:rPr sz="950" b="0" i="0">
                <a:solidFill>
                  <a:srgbClr val="141E27"/>
                </a:solidFill>
                <a:latin typeface="Helvetica Neue"/>
              </a:rPr>
              <a:t>HaluMem P5 failure ↓</a:t>
            </a:r>
          </a:p>
        </p:txBody>
      </p:sp>
      <p:sp>
        <p:nvSpPr>
          <p:cNvPr id="78" name="TextBox 77"/>
          <p:cNvSpPr txBox="1"/>
          <p:nvPr/>
        </p:nvSpPr>
        <p:spPr>
          <a:xfrm>
            <a:off x="4206240" y="3451860"/>
            <a:ext cx="1143000" cy="201168"/>
          </a:xfrm>
          <a:prstGeom prst="rect">
            <a:avLst/>
          </a:prstGeom>
          <a:noFill/>
        </p:spPr>
        <p:txBody>
          <a:bodyPr wrap="square" lIns="0" rIns="0" tIns="0" bIns="0" anchor="ctr">
            <a:spAutoFit/>
          </a:bodyPr>
          <a:lstStyle/>
          <a:p>
            <a:pPr algn="ctr"/>
            <a:r>
              <a:rPr sz="950" b="1" i="0">
                <a:solidFill>
                  <a:srgbClr val="16685A"/>
                </a:solidFill>
                <a:latin typeface="Menlo"/>
              </a:rPr>
              <a:t>0.2903</a:t>
            </a:r>
          </a:p>
        </p:txBody>
      </p:sp>
      <p:sp>
        <p:nvSpPr>
          <p:cNvPr id="79" name="TextBox 78"/>
          <p:cNvSpPr txBox="1"/>
          <p:nvPr/>
        </p:nvSpPr>
        <p:spPr>
          <a:xfrm>
            <a:off x="5349240" y="3451860"/>
            <a:ext cx="1005840" cy="201168"/>
          </a:xfrm>
          <a:prstGeom prst="rect">
            <a:avLst/>
          </a:prstGeom>
          <a:noFill/>
        </p:spPr>
        <p:txBody>
          <a:bodyPr wrap="square" lIns="0" rIns="0" tIns="0" bIns="0" anchor="ctr">
            <a:spAutoFit/>
          </a:bodyPr>
          <a:lstStyle/>
          <a:p>
            <a:pPr algn="ctr"/>
            <a:r>
              <a:rPr sz="950" b="0" i="0">
                <a:solidFill>
                  <a:srgbClr val="7E8D9B"/>
                </a:solidFill>
                <a:latin typeface="Menlo"/>
              </a:rPr>
              <a:t>0.6531</a:t>
            </a:r>
          </a:p>
        </p:txBody>
      </p:sp>
      <p:sp>
        <p:nvSpPr>
          <p:cNvPr id="80" name="TextBox 79"/>
          <p:cNvSpPr txBox="1"/>
          <p:nvPr/>
        </p:nvSpPr>
        <p:spPr>
          <a:xfrm>
            <a:off x="6355080" y="3451860"/>
            <a:ext cx="1005840" cy="201168"/>
          </a:xfrm>
          <a:prstGeom prst="rect">
            <a:avLst/>
          </a:prstGeom>
          <a:noFill/>
        </p:spPr>
        <p:txBody>
          <a:bodyPr wrap="square" lIns="0" rIns="0" tIns="0" bIns="0" anchor="ctr">
            <a:spAutoFit/>
          </a:bodyPr>
          <a:lstStyle/>
          <a:p>
            <a:pPr algn="ctr"/>
            <a:r>
              <a:rPr sz="950" b="0" i="0">
                <a:solidFill>
                  <a:srgbClr val="7E8D9B"/>
                </a:solidFill>
                <a:latin typeface="Menlo"/>
              </a:rPr>
              <a:t>0.6471</a:t>
            </a:r>
          </a:p>
        </p:txBody>
      </p:sp>
      <p:sp>
        <p:nvSpPr>
          <p:cNvPr id="81" name="TextBox 80"/>
          <p:cNvSpPr txBox="1"/>
          <p:nvPr/>
        </p:nvSpPr>
        <p:spPr>
          <a:xfrm>
            <a:off x="7360920" y="3451860"/>
            <a:ext cx="1005840" cy="201168"/>
          </a:xfrm>
          <a:prstGeom prst="rect">
            <a:avLst/>
          </a:prstGeom>
          <a:noFill/>
        </p:spPr>
        <p:txBody>
          <a:bodyPr wrap="square" lIns="0" rIns="0" tIns="0" bIns="0" anchor="ctr">
            <a:spAutoFit/>
          </a:bodyPr>
          <a:lstStyle/>
          <a:p>
            <a:pPr algn="ctr"/>
            <a:r>
              <a:rPr sz="950" b="0" i="0">
                <a:solidFill>
                  <a:srgbClr val="7E8D9B"/>
                </a:solidFill>
                <a:latin typeface="Menlo"/>
              </a:rPr>
              <a:t>0.3299</a:t>
            </a:r>
          </a:p>
        </p:txBody>
      </p:sp>
      <p:sp>
        <p:nvSpPr>
          <p:cNvPr id="82" name="TextBox 81"/>
          <p:cNvSpPr txBox="1"/>
          <p:nvPr/>
        </p:nvSpPr>
        <p:spPr>
          <a:xfrm>
            <a:off x="8366760" y="3451860"/>
            <a:ext cx="1005840" cy="201168"/>
          </a:xfrm>
          <a:prstGeom prst="rect">
            <a:avLst/>
          </a:prstGeom>
          <a:noFill/>
        </p:spPr>
        <p:txBody>
          <a:bodyPr wrap="square" lIns="0" rIns="0" tIns="0" bIns="0" anchor="ctr">
            <a:spAutoFit/>
          </a:bodyPr>
          <a:lstStyle/>
          <a:p>
            <a:pPr algn="ctr"/>
            <a:r>
              <a:rPr sz="950" b="0" i="0">
                <a:solidFill>
                  <a:srgbClr val="7E8D9B"/>
                </a:solidFill>
                <a:latin typeface="Menlo"/>
              </a:rPr>
              <a:t>0.5238</a:t>
            </a:r>
          </a:p>
        </p:txBody>
      </p:sp>
      <p:sp>
        <p:nvSpPr>
          <p:cNvPr id="83" name="TextBox 82"/>
          <p:cNvSpPr txBox="1"/>
          <p:nvPr/>
        </p:nvSpPr>
        <p:spPr>
          <a:xfrm>
            <a:off x="9372600" y="3451860"/>
            <a:ext cx="1188720" cy="201168"/>
          </a:xfrm>
          <a:prstGeom prst="rect">
            <a:avLst/>
          </a:prstGeom>
          <a:noFill/>
        </p:spPr>
        <p:txBody>
          <a:bodyPr wrap="square" lIns="0" rIns="0" tIns="0" bIns="0" anchor="ctr">
            <a:spAutoFit/>
          </a:bodyPr>
          <a:lstStyle/>
          <a:p>
            <a:pPr algn="ctr"/>
            <a:r>
              <a:rPr sz="900" b="1" i="0">
                <a:solidFill>
                  <a:srgbClr val="16685A"/>
                </a:solidFill>
                <a:latin typeface="Helvetica Neue"/>
              </a:rPr>
              <a:t>1 of 5</a:t>
            </a:r>
          </a:p>
        </p:txBody>
      </p:sp>
      <p:sp>
        <p:nvSpPr>
          <p:cNvPr id="84" name="TextBox 83"/>
          <p:cNvSpPr txBox="1"/>
          <p:nvPr/>
        </p:nvSpPr>
        <p:spPr>
          <a:xfrm>
            <a:off x="1508760" y="3689604"/>
            <a:ext cx="2697480" cy="201168"/>
          </a:xfrm>
          <a:prstGeom prst="rect">
            <a:avLst/>
          </a:prstGeom>
          <a:noFill/>
        </p:spPr>
        <p:txBody>
          <a:bodyPr wrap="square" lIns="0" rIns="0" tIns="0" bIns="0" anchor="ctr">
            <a:spAutoFit/>
          </a:bodyPr>
          <a:lstStyle/>
          <a:p>
            <a:pPr algn="l"/>
            <a:r>
              <a:rPr sz="950" b="0" i="0">
                <a:solidFill>
                  <a:srgbClr val="141E27"/>
                </a:solidFill>
                <a:latin typeface="Helvetica Neue"/>
              </a:rPr>
              <a:t>LoCoMo P5 failure ↓</a:t>
            </a:r>
          </a:p>
        </p:txBody>
      </p:sp>
      <p:sp>
        <p:nvSpPr>
          <p:cNvPr id="85" name="TextBox 84"/>
          <p:cNvSpPr txBox="1"/>
          <p:nvPr/>
        </p:nvSpPr>
        <p:spPr>
          <a:xfrm>
            <a:off x="4206240" y="3689604"/>
            <a:ext cx="1143000" cy="201168"/>
          </a:xfrm>
          <a:prstGeom prst="rect">
            <a:avLst/>
          </a:prstGeom>
          <a:noFill/>
        </p:spPr>
        <p:txBody>
          <a:bodyPr wrap="square" lIns="0" rIns="0" tIns="0" bIns="0" anchor="ctr">
            <a:spAutoFit/>
          </a:bodyPr>
          <a:lstStyle/>
          <a:p>
            <a:pPr algn="ctr"/>
            <a:r>
              <a:rPr sz="950" b="1" i="0">
                <a:solidFill>
                  <a:srgbClr val="141E27"/>
                </a:solidFill>
                <a:latin typeface="Menlo"/>
              </a:rPr>
              <a:t>0.2243</a:t>
            </a:r>
          </a:p>
        </p:txBody>
      </p:sp>
      <p:sp>
        <p:nvSpPr>
          <p:cNvPr id="86" name="TextBox 85"/>
          <p:cNvSpPr txBox="1"/>
          <p:nvPr/>
        </p:nvSpPr>
        <p:spPr>
          <a:xfrm>
            <a:off x="5349240" y="3689604"/>
            <a:ext cx="1005840" cy="201168"/>
          </a:xfrm>
          <a:prstGeom prst="rect">
            <a:avLst/>
          </a:prstGeom>
          <a:noFill/>
        </p:spPr>
        <p:txBody>
          <a:bodyPr wrap="square" lIns="0" rIns="0" tIns="0" bIns="0" anchor="ctr">
            <a:spAutoFit/>
          </a:bodyPr>
          <a:lstStyle/>
          <a:p>
            <a:pPr algn="ctr"/>
            <a:r>
              <a:rPr sz="950" b="0" i="0">
                <a:solidFill>
                  <a:srgbClr val="7E8D9B"/>
                </a:solidFill>
                <a:latin typeface="Menlo"/>
              </a:rPr>
              <a:t>0.3836</a:t>
            </a:r>
          </a:p>
        </p:txBody>
      </p:sp>
      <p:sp>
        <p:nvSpPr>
          <p:cNvPr id="87" name="TextBox 86"/>
          <p:cNvSpPr txBox="1"/>
          <p:nvPr/>
        </p:nvSpPr>
        <p:spPr>
          <a:xfrm>
            <a:off x="6355080" y="3689604"/>
            <a:ext cx="1005840" cy="201168"/>
          </a:xfrm>
          <a:prstGeom prst="rect">
            <a:avLst/>
          </a:prstGeom>
          <a:noFill/>
        </p:spPr>
        <p:txBody>
          <a:bodyPr wrap="square" lIns="0" rIns="0" tIns="0" bIns="0" anchor="ctr">
            <a:spAutoFit/>
          </a:bodyPr>
          <a:lstStyle/>
          <a:p>
            <a:pPr algn="ctr"/>
            <a:r>
              <a:rPr sz="950" b="0" i="0">
                <a:solidFill>
                  <a:srgbClr val="7E8D9B"/>
                </a:solidFill>
                <a:latin typeface="Menlo"/>
              </a:rPr>
              <a:t>0.1978</a:t>
            </a:r>
          </a:p>
        </p:txBody>
      </p:sp>
      <p:sp>
        <p:nvSpPr>
          <p:cNvPr id="88" name="TextBox 87"/>
          <p:cNvSpPr txBox="1"/>
          <p:nvPr/>
        </p:nvSpPr>
        <p:spPr>
          <a:xfrm>
            <a:off x="7360920" y="3689604"/>
            <a:ext cx="1005840" cy="201168"/>
          </a:xfrm>
          <a:prstGeom prst="rect">
            <a:avLst/>
          </a:prstGeom>
          <a:noFill/>
        </p:spPr>
        <p:txBody>
          <a:bodyPr wrap="square" lIns="0" rIns="0" tIns="0" bIns="0" anchor="ctr">
            <a:spAutoFit/>
          </a:bodyPr>
          <a:lstStyle/>
          <a:p>
            <a:pPr algn="ctr"/>
            <a:r>
              <a:rPr sz="950" b="0" i="0">
                <a:solidFill>
                  <a:srgbClr val="7E8D9B"/>
                </a:solidFill>
                <a:latin typeface="Menlo"/>
              </a:rPr>
              <a:t>0.3671</a:t>
            </a:r>
          </a:p>
        </p:txBody>
      </p:sp>
      <p:sp>
        <p:nvSpPr>
          <p:cNvPr id="89" name="TextBox 88"/>
          <p:cNvSpPr txBox="1"/>
          <p:nvPr/>
        </p:nvSpPr>
        <p:spPr>
          <a:xfrm>
            <a:off x="8366760" y="3689604"/>
            <a:ext cx="1005840" cy="201168"/>
          </a:xfrm>
          <a:prstGeom prst="rect">
            <a:avLst/>
          </a:prstGeom>
          <a:noFill/>
        </p:spPr>
        <p:txBody>
          <a:bodyPr wrap="square" lIns="0" rIns="0" tIns="0" bIns="0" anchor="ctr">
            <a:spAutoFit/>
          </a:bodyPr>
          <a:lstStyle/>
          <a:p>
            <a:pPr algn="ctr"/>
            <a:r>
              <a:rPr sz="950" b="0" i="0">
                <a:solidFill>
                  <a:srgbClr val="7E8D9B"/>
                </a:solidFill>
                <a:latin typeface="Menlo"/>
              </a:rPr>
              <a:t>0.3537</a:t>
            </a:r>
          </a:p>
        </p:txBody>
      </p:sp>
      <p:sp>
        <p:nvSpPr>
          <p:cNvPr id="90" name="TextBox 89"/>
          <p:cNvSpPr txBox="1"/>
          <p:nvPr/>
        </p:nvSpPr>
        <p:spPr>
          <a:xfrm>
            <a:off x="9372600" y="3689604"/>
            <a:ext cx="1188720" cy="201168"/>
          </a:xfrm>
          <a:prstGeom prst="rect">
            <a:avLst/>
          </a:prstGeom>
          <a:noFill/>
        </p:spPr>
        <p:txBody>
          <a:bodyPr wrap="square" lIns="0" rIns="0" tIns="0" bIns="0" anchor="ctr">
            <a:spAutoFit/>
          </a:bodyPr>
          <a:lstStyle/>
          <a:p>
            <a:pPr algn="ctr"/>
            <a:r>
              <a:rPr sz="900" b="0" i="0">
                <a:solidFill>
                  <a:srgbClr val="141E27"/>
                </a:solidFill>
                <a:latin typeface="Helvetica Neue"/>
              </a:rPr>
              <a:t>2 of 5</a:t>
            </a:r>
          </a:p>
        </p:txBody>
      </p:sp>
      <p:cxnSp>
        <p:nvCxnSpPr>
          <p:cNvPr id="91" name="Connector 90"/>
          <p:cNvCxnSpPr/>
          <p:nvPr/>
        </p:nvCxnSpPr>
        <p:spPr>
          <a:xfrm>
            <a:off x="502920" y="3909060"/>
            <a:ext cx="10058400" cy="0"/>
          </a:xfrm>
          <a:prstGeom prst="line">
            <a:avLst/>
          </a:prstGeom>
          <a:ln w="6350">
            <a:solidFill>
              <a:srgbClr val="DBE2E9"/>
            </a:solidFill>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502920" y="3927348"/>
            <a:ext cx="1005840" cy="201168"/>
          </a:xfrm>
          <a:prstGeom prst="rect">
            <a:avLst/>
          </a:prstGeom>
          <a:noFill/>
        </p:spPr>
        <p:txBody>
          <a:bodyPr wrap="square" lIns="0" rIns="0" tIns="0" bIns="0" anchor="ctr">
            <a:spAutoFit/>
          </a:bodyPr>
          <a:lstStyle/>
          <a:p>
            <a:pPr algn="l"/>
            <a:r>
              <a:rPr sz="950" b="1" i="0">
                <a:solidFill>
                  <a:srgbClr val="4C5C6B"/>
                </a:solidFill>
                <a:latin typeface="Helvetica Neue"/>
              </a:rPr>
              <a:t>End to end</a:t>
            </a:r>
          </a:p>
        </p:txBody>
      </p:sp>
      <p:sp>
        <p:nvSpPr>
          <p:cNvPr id="93" name="TextBox 92"/>
          <p:cNvSpPr txBox="1"/>
          <p:nvPr/>
        </p:nvSpPr>
        <p:spPr>
          <a:xfrm>
            <a:off x="1508760" y="3927348"/>
            <a:ext cx="2697480" cy="201168"/>
          </a:xfrm>
          <a:prstGeom prst="rect">
            <a:avLst/>
          </a:prstGeom>
          <a:noFill/>
        </p:spPr>
        <p:txBody>
          <a:bodyPr wrap="square" lIns="0" rIns="0" tIns="0" bIns="0" anchor="ctr">
            <a:spAutoFit/>
          </a:bodyPr>
          <a:lstStyle/>
          <a:p>
            <a:pPr algn="l"/>
            <a:r>
              <a:rPr sz="950" b="0" i="0">
                <a:solidFill>
                  <a:srgbClr val="141E27"/>
                </a:solidFill>
                <a:latin typeface="Helvetica Neue"/>
              </a:rPr>
              <a:t>HaluMem QA correct</a:t>
            </a:r>
          </a:p>
        </p:txBody>
      </p:sp>
      <p:sp>
        <p:nvSpPr>
          <p:cNvPr id="94" name="TextBox 93"/>
          <p:cNvSpPr txBox="1"/>
          <p:nvPr/>
        </p:nvSpPr>
        <p:spPr>
          <a:xfrm>
            <a:off x="4206240" y="3927348"/>
            <a:ext cx="1143000" cy="201168"/>
          </a:xfrm>
          <a:prstGeom prst="rect">
            <a:avLst/>
          </a:prstGeom>
          <a:noFill/>
        </p:spPr>
        <p:txBody>
          <a:bodyPr wrap="square" lIns="0" rIns="0" tIns="0" bIns="0" anchor="ctr">
            <a:spAutoFit/>
          </a:bodyPr>
          <a:lstStyle/>
          <a:p>
            <a:pPr algn="ctr"/>
            <a:r>
              <a:rPr sz="950" b="1" i="0">
                <a:solidFill>
                  <a:srgbClr val="141E27"/>
                </a:solidFill>
                <a:latin typeface="Menlo"/>
              </a:rPr>
              <a:t>0.4734</a:t>
            </a:r>
          </a:p>
        </p:txBody>
      </p:sp>
      <p:sp>
        <p:nvSpPr>
          <p:cNvPr id="95" name="TextBox 94"/>
          <p:cNvSpPr txBox="1"/>
          <p:nvPr/>
        </p:nvSpPr>
        <p:spPr>
          <a:xfrm>
            <a:off x="5349240" y="3927348"/>
            <a:ext cx="1005840" cy="201168"/>
          </a:xfrm>
          <a:prstGeom prst="rect">
            <a:avLst/>
          </a:prstGeom>
          <a:noFill/>
        </p:spPr>
        <p:txBody>
          <a:bodyPr wrap="square" lIns="0" rIns="0" tIns="0" bIns="0" anchor="ctr">
            <a:spAutoFit/>
          </a:bodyPr>
          <a:lstStyle/>
          <a:p>
            <a:pPr algn="ctr"/>
            <a:r>
              <a:rPr sz="950" b="0" i="0">
                <a:solidFill>
                  <a:srgbClr val="7E8D9B"/>
                </a:solidFill>
                <a:latin typeface="Menlo"/>
              </a:rPr>
              <a:t>0.3723</a:t>
            </a:r>
          </a:p>
        </p:txBody>
      </p:sp>
      <p:sp>
        <p:nvSpPr>
          <p:cNvPr id="96" name="TextBox 95"/>
          <p:cNvSpPr txBox="1"/>
          <p:nvPr/>
        </p:nvSpPr>
        <p:spPr>
          <a:xfrm>
            <a:off x="6355080" y="3927348"/>
            <a:ext cx="1005840" cy="201168"/>
          </a:xfrm>
          <a:prstGeom prst="rect">
            <a:avLst/>
          </a:prstGeom>
          <a:noFill/>
        </p:spPr>
        <p:txBody>
          <a:bodyPr wrap="square" lIns="0" rIns="0" tIns="0" bIns="0" anchor="ctr">
            <a:spAutoFit/>
          </a:bodyPr>
          <a:lstStyle/>
          <a:p>
            <a:pPr algn="ctr"/>
            <a:r>
              <a:rPr sz="950" b="0" i="0">
                <a:solidFill>
                  <a:srgbClr val="7E8D9B"/>
                </a:solidFill>
                <a:latin typeface="Menlo"/>
              </a:rPr>
              <a:t>0.3511</a:t>
            </a:r>
          </a:p>
        </p:txBody>
      </p:sp>
      <p:sp>
        <p:nvSpPr>
          <p:cNvPr id="97" name="TextBox 96"/>
          <p:cNvSpPr txBox="1"/>
          <p:nvPr/>
        </p:nvSpPr>
        <p:spPr>
          <a:xfrm>
            <a:off x="7360920" y="3927348"/>
            <a:ext cx="1005840" cy="201168"/>
          </a:xfrm>
          <a:prstGeom prst="rect">
            <a:avLst/>
          </a:prstGeom>
          <a:noFill/>
        </p:spPr>
        <p:txBody>
          <a:bodyPr wrap="square" lIns="0" rIns="0" tIns="0" bIns="0" anchor="ctr">
            <a:spAutoFit/>
          </a:bodyPr>
          <a:lstStyle/>
          <a:p>
            <a:pPr algn="ctr"/>
            <a:r>
              <a:rPr sz="950" b="0" i="0">
                <a:solidFill>
                  <a:srgbClr val="7E8D9B"/>
                </a:solidFill>
                <a:latin typeface="Menlo"/>
              </a:rPr>
              <a:t>0.5532</a:t>
            </a:r>
          </a:p>
        </p:txBody>
      </p:sp>
      <p:sp>
        <p:nvSpPr>
          <p:cNvPr id="98" name="TextBox 97"/>
          <p:cNvSpPr txBox="1"/>
          <p:nvPr/>
        </p:nvSpPr>
        <p:spPr>
          <a:xfrm>
            <a:off x="8366760" y="3927348"/>
            <a:ext cx="1005840" cy="201168"/>
          </a:xfrm>
          <a:prstGeom prst="rect">
            <a:avLst/>
          </a:prstGeom>
          <a:noFill/>
        </p:spPr>
        <p:txBody>
          <a:bodyPr wrap="square" lIns="0" rIns="0" tIns="0" bIns="0" anchor="ctr">
            <a:spAutoFit/>
          </a:bodyPr>
          <a:lstStyle/>
          <a:p>
            <a:pPr algn="ctr"/>
            <a:r>
              <a:rPr sz="950" b="0" i="0">
                <a:solidFill>
                  <a:srgbClr val="7E8D9B"/>
                </a:solidFill>
                <a:latin typeface="Menlo"/>
              </a:rPr>
              <a:t>0.5798</a:t>
            </a:r>
          </a:p>
        </p:txBody>
      </p:sp>
      <p:sp>
        <p:nvSpPr>
          <p:cNvPr id="99" name="TextBox 98"/>
          <p:cNvSpPr txBox="1"/>
          <p:nvPr/>
        </p:nvSpPr>
        <p:spPr>
          <a:xfrm>
            <a:off x="9372600" y="3927348"/>
            <a:ext cx="1188720" cy="201168"/>
          </a:xfrm>
          <a:prstGeom prst="rect">
            <a:avLst/>
          </a:prstGeom>
          <a:noFill/>
        </p:spPr>
        <p:txBody>
          <a:bodyPr wrap="square" lIns="0" rIns="0" tIns="0" bIns="0" anchor="ctr">
            <a:spAutoFit/>
          </a:bodyPr>
          <a:lstStyle/>
          <a:p>
            <a:pPr algn="ctr"/>
            <a:r>
              <a:rPr sz="900" b="0" i="0">
                <a:solidFill>
                  <a:srgbClr val="141E27"/>
                </a:solidFill>
                <a:latin typeface="Helvetica Neue"/>
              </a:rPr>
              <a:t>3 of 5</a:t>
            </a:r>
          </a:p>
        </p:txBody>
      </p:sp>
      <p:sp>
        <p:nvSpPr>
          <p:cNvPr id="100" name="TextBox 99"/>
          <p:cNvSpPr txBox="1"/>
          <p:nvPr/>
        </p:nvSpPr>
        <p:spPr>
          <a:xfrm>
            <a:off x="1508760" y="4165092"/>
            <a:ext cx="2697480" cy="201168"/>
          </a:xfrm>
          <a:prstGeom prst="rect">
            <a:avLst/>
          </a:prstGeom>
          <a:noFill/>
        </p:spPr>
        <p:txBody>
          <a:bodyPr wrap="square" lIns="0" rIns="0" tIns="0" bIns="0" anchor="ctr">
            <a:spAutoFit/>
          </a:bodyPr>
          <a:lstStyle/>
          <a:p>
            <a:pPr algn="l"/>
            <a:r>
              <a:rPr sz="950" b="0" i="0">
                <a:solidFill>
                  <a:srgbClr val="141E27"/>
                </a:solidFill>
                <a:latin typeface="Helvetica Neue"/>
              </a:rPr>
              <a:t>LoCoMo QA accuracy</a:t>
            </a:r>
          </a:p>
        </p:txBody>
      </p:sp>
      <p:sp>
        <p:nvSpPr>
          <p:cNvPr id="101" name="TextBox 100"/>
          <p:cNvSpPr txBox="1"/>
          <p:nvPr/>
        </p:nvSpPr>
        <p:spPr>
          <a:xfrm>
            <a:off x="4206240" y="4165092"/>
            <a:ext cx="1143000" cy="201168"/>
          </a:xfrm>
          <a:prstGeom prst="rect">
            <a:avLst/>
          </a:prstGeom>
          <a:noFill/>
        </p:spPr>
        <p:txBody>
          <a:bodyPr wrap="square" lIns="0" rIns="0" tIns="0" bIns="0" anchor="ctr">
            <a:spAutoFit/>
          </a:bodyPr>
          <a:lstStyle/>
          <a:p>
            <a:pPr algn="ctr"/>
            <a:r>
              <a:rPr sz="950" b="1" i="0">
                <a:solidFill>
                  <a:srgbClr val="16685A"/>
                </a:solidFill>
                <a:latin typeface="Menlo"/>
              </a:rPr>
              <a:t>0.6734</a:t>
            </a:r>
          </a:p>
        </p:txBody>
      </p:sp>
      <p:sp>
        <p:nvSpPr>
          <p:cNvPr id="102" name="TextBox 101"/>
          <p:cNvSpPr txBox="1"/>
          <p:nvPr/>
        </p:nvSpPr>
        <p:spPr>
          <a:xfrm>
            <a:off x="5349240" y="4165092"/>
            <a:ext cx="1005840" cy="201168"/>
          </a:xfrm>
          <a:prstGeom prst="rect">
            <a:avLst/>
          </a:prstGeom>
          <a:noFill/>
        </p:spPr>
        <p:txBody>
          <a:bodyPr wrap="square" lIns="0" rIns="0" tIns="0" bIns="0" anchor="ctr">
            <a:spAutoFit/>
          </a:bodyPr>
          <a:lstStyle/>
          <a:p>
            <a:pPr algn="ctr"/>
            <a:r>
              <a:rPr sz="950" b="0" i="0">
                <a:solidFill>
                  <a:srgbClr val="7E8D9B"/>
                </a:solidFill>
                <a:latin typeface="Menlo"/>
              </a:rPr>
              <a:t>0.4573</a:t>
            </a:r>
          </a:p>
        </p:txBody>
      </p:sp>
      <p:sp>
        <p:nvSpPr>
          <p:cNvPr id="103" name="TextBox 102"/>
          <p:cNvSpPr txBox="1"/>
          <p:nvPr/>
        </p:nvSpPr>
        <p:spPr>
          <a:xfrm>
            <a:off x="6355080" y="4165092"/>
            <a:ext cx="1005840" cy="201168"/>
          </a:xfrm>
          <a:prstGeom prst="rect">
            <a:avLst/>
          </a:prstGeom>
          <a:noFill/>
        </p:spPr>
        <p:txBody>
          <a:bodyPr wrap="square" lIns="0" rIns="0" tIns="0" bIns="0" anchor="ctr">
            <a:spAutoFit/>
          </a:bodyPr>
          <a:lstStyle/>
          <a:p>
            <a:pPr algn="ctr"/>
            <a:r>
              <a:rPr sz="950" b="0" i="0">
                <a:solidFill>
                  <a:srgbClr val="7E8D9B"/>
                </a:solidFill>
                <a:latin typeface="Menlo"/>
              </a:rPr>
              <a:t>0.6131</a:t>
            </a:r>
          </a:p>
        </p:txBody>
      </p:sp>
      <p:sp>
        <p:nvSpPr>
          <p:cNvPr id="104" name="TextBox 103"/>
          <p:cNvSpPr txBox="1"/>
          <p:nvPr/>
        </p:nvSpPr>
        <p:spPr>
          <a:xfrm>
            <a:off x="7360920" y="4165092"/>
            <a:ext cx="1005840" cy="201168"/>
          </a:xfrm>
          <a:prstGeom prst="rect">
            <a:avLst/>
          </a:prstGeom>
          <a:noFill/>
        </p:spPr>
        <p:txBody>
          <a:bodyPr wrap="square" lIns="0" rIns="0" tIns="0" bIns="0" anchor="ctr">
            <a:spAutoFit/>
          </a:bodyPr>
          <a:lstStyle/>
          <a:p>
            <a:pPr algn="ctr"/>
            <a:r>
              <a:rPr sz="950" b="0" i="0">
                <a:solidFill>
                  <a:srgbClr val="7E8D9B"/>
                </a:solidFill>
                <a:latin typeface="Menlo"/>
              </a:rPr>
              <a:t>0.4824</a:t>
            </a:r>
          </a:p>
        </p:txBody>
      </p:sp>
      <p:sp>
        <p:nvSpPr>
          <p:cNvPr id="105" name="TextBox 104"/>
          <p:cNvSpPr txBox="1"/>
          <p:nvPr/>
        </p:nvSpPr>
        <p:spPr>
          <a:xfrm>
            <a:off x="8366760" y="4165092"/>
            <a:ext cx="1005840" cy="201168"/>
          </a:xfrm>
          <a:prstGeom prst="rect">
            <a:avLst/>
          </a:prstGeom>
          <a:noFill/>
        </p:spPr>
        <p:txBody>
          <a:bodyPr wrap="square" lIns="0" rIns="0" tIns="0" bIns="0" anchor="ctr">
            <a:spAutoFit/>
          </a:bodyPr>
          <a:lstStyle/>
          <a:p>
            <a:pPr algn="ctr"/>
            <a:r>
              <a:rPr sz="950" b="0" i="0">
                <a:solidFill>
                  <a:srgbClr val="7E8D9B"/>
                </a:solidFill>
                <a:latin typeface="Menlo"/>
              </a:rPr>
              <a:t>0.5879</a:t>
            </a:r>
          </a:p>
        </p:txBody>
      </p:sp>
      <p:sp>
        <p:nvSpPr>
          <p:cNvPr id="106" name="TextBox 105"/>
          <p:cNvSpPr txBox="1"/>
          <p:nvPr/>
        </p:nvSpPr>
        <p:spPr>
          <a:xfrm>
            <a:off x="9372600" y="4165092"/>
            <a:ext cx="1188720" cy="201168"/>
          </a:xfrm>
          <a:prstGeom prst="rect">
            <a:avLst/>
          </a:prstGeom>
          <a:noFill/>
        </p:spPr>
        <p:txBody>
          <a:bodyPr wrap="square" lIns="0" rIns="0" tIns="0" bIns="0" anchor="ctr">
            <a:spAutoFit/>
          </a:bodyPr>
          <a:lstStyle/>
          <a:p>
            <a:pPr algn="ctr"/>
            <a:r>
              <a:rPr sz="900" b="1" i="0">
                <a:solidFill>
                  <a:srgbClr val="16685A"/>
                </a:solidFill>
                <a:latin typeface="Helvetica Neue"/>
              </a:rPr>
              <a:t>1 of 5</a:t>
            </a:r>
          </a:p>
        </p:txBody>
      </p:sp>
      <p:cxnSp>
        <p:nvCxnSpPr>
          <p:cNvPr id="107" name="Connector 106"/>
          <p:cNvCxnSpPr/>
          <p:nvPr/>
        </p:nvCxnSpPr>
        <p:spPr>
          <a:xfrm>
            <a:off x="502920" y="4370832"/>
            <a:ext cx="10058400" cy="0"/>
          </a:xfrm>
          <a:prstGeom prst="line">
            <a:avLst/>
          </a:prstGeom>
          <a:ln w="22225">
            <a:solidFill>
              <a:srgbClr val="141E27"/>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502920" y="4434840"/>
            <a:ext cx="10607040" cy="182880"/>
          </a:xfrm>
          <a:prstGeom prst="rect">
            <a:avLst/>
          </a:prstGeom>
          <a:noFill/>
        </p:spPr>
        <p:txBody>
          <a:bodyPr wrap="square" lIns="0" rIns="0" tIns="0" bIns="0" anchor="ctr">
            <a:spAutoFit/>
          </a:bodyPr>
          <a:lstStyle/>
          <a:p>
            <a:pPr algn="l"/>
            <a:r>
              <a:rPr sz="850" b="0" i="1">
                <a:solidFill>
                  <a:srgbClr val="7E8D9B"/>
                </a:solidFill>
                <a:latin typeface="Helvetica Neue"/>
              </a:rPr>
              <a:t>StructMem in bold: green where it ranks first of five, brown where it ranks fourth or fifth. Arrows mark metrics where lower is better. LongMemEval is excluded, both StructMem runs ingested only 490 of 1036 sessions.</a:t>
            </a:r>
          </a:p>
        </p:txBody>
      </p:sp>
      <p:sp>
        <p:nvSpPr>
          <p:cNvPr id="109" name="TextBox 108"/>
          <p:cNvSpPr txBox="1"/>
          <p:nvPr/>
        </p:nvSpPr>
        <p:spPr>
          <a:xfrm>
            <a:off x="502920" y="4791456"/>
            <a:ext cx="5394960" cy="201168"/>
          </a:xfrm>
          <a:prstGeom prst="rect">
            <a:avLst/>
          </a:prstGeom>
          <a:noFill/>
        </p:spPr>
        <p:txBody>
          <a:bodyPr wrap="square" lIns="0" rIns="0" tIns="0" bIns="0" anchor="ctr">
            <a:spAutoFit/>
          </a:bodyPr>
          <a:lstStyle/>
          <a:p>
            <a:pPr algn="l"/>
            <a:r>
              <a:rPr sz="1050" b="1" i="0">
                <a:solidFill>
                  <a:srgbClr val="4C5C6B"/>
                </a:solidFill>
                <a:latin typeface="Helvetica Neue"/>
              </a:rPr>
              <a:t>Key findings</a:t>
            </a:r>
          </a:p>
        </p:txBody>
      </p:sp>
      <p:sp>
        <p:nvSpPr>
          <p:cNvPr id="110" name="TextBox 109"/>
          <p:cNvSpPr txBox="1"/>
          <p:nvPr/>
        </p:nvSpPr>
        <p:spPr>
          <a:xfrm>
            <a:off x="502920" y="5029200"/>
            <a:ext cx="256032" cy="201168"/>
          </a:xfrm>
          <a:prstGeom prst="rect">
            <a:avLst/>
          </a:prstGeom>
          <a:noFill/>
        </p:spPr>
        <p:txBody>
          <a:bodyPr wrap="square" lIns="0" rIns="0" tIns="0" bIns="0" anchor="ctr">
            <a:spAutoFit/>
          </a:bodyPr>
          <a:lstStyle/>
          <a:p>
            <a:pPr algn="l"/>
            <a:r>
              <a:rPr sz="1100" b="1" i="0">
                <a:solidFill>
                  <a:srgbClr val="16685A"/>
                </a:solidFill>
                <a:latin typeface="Helvetica Neue"/>
              </a:rPr>
              <a:t>1</a:t>
            </a:r>
          </a:p>
        </p:txBody>
      </p:sp>
      <p:sp>
        <p:nvSpPr>
          <p:cNvPr id="111" name="TextBox 110"/>
          <p:cNvSpPr txBox="1"/>
          <p:nvPr/>
        </p:nvSpPr>
        <p:spPr>
          <a:xfrm>
            <a:off x="777240" y="5029200"/>
            <a:ext cx="5120640" cy="201168"/>
          </a:xfrm>
          <a:prstGeom prst="rect">
            <a:avLst/>
          </a:prstGeom>
          <a:noFill/>
        </p:spPr>
        <p:txBody>
          <a:bodyPr wrap="square" lIns="0" rIns="0" tIns="0" bIns="0" anchor="ctr">
            <a:spAutoFit/>
          </a:bodyPr>
          <a:lstStyle/>
          <a:p>
            <a:pPr algn="l"/>
            <a:r>
              <a:rPr sz="1019" b="1" i="0">
                <a:solidFill>
                  <a:srgbClr val="141E27"/>
                </a:solidFill>
                <a:latin typeface="Helvetica Neue"/>
              </a:rPr>
              <a:t>StructMem leads the field at both ends of the pipeline.</a:t>
            </a:r>
          </a:p>
        </p:txBody>
      </p:sp>
      <p:sp>
        <p:nvSpPr>
          <p:cNvPr id="112" name="TextBox 111"/>
          <p:cNvSpPr txBox="1"/>
          <p:nvPr/>
        </p:nvSpPr>
        <p:spPr>
          <a:xfrm>
            <a:off x="777240" y="5230368"/>
            <a:ext cx="5120640" cy="566928"/>
          </a:xfrm>
          <a:prstGeom prst="rect">
            <a:avLst/>
          </a:prstGeom>
          <a:noFill/>
        </p:spPr>
        <p:txBody>
          <a:bodyPr wrap="square" lIns="0" rIns="0" tIns="0" bIns="0">
            <a:spAutoFit/>
          </a:bodyPr>
          <a:lstStyle/>
          <a:p>
            <a:pPr>
              <a:lnSpc>
                <a:spcPct val="116000"/>
              </a:lnSpc>
            </a:pPr>
            <a:r>
              <a:rPr sz="919">
                <a:solidFill>
                  <a:srgbClr val="4C5C6B"/>
                </a:solidFill>
                <a:latin typeface="Helvetica Neue"/>
              </a:rPr>
              <a:t>Extraction is first of five on both benchmarks (HaluMem F1 0.8926, LoCoMo 0.8160) and reasoning is the strongest in the set (HaluMem P5 failure 0.2903 against 0.3299 to 0.6531). Neither end explains an end-to-end score of 0.4734.</a:t>
            </a:r>
          </a:p>
        </p:txBody>
      </p:sp>
      <p:sp>
        <p:nvSpPr>
          <p:cNvPr id="113" name="TextBox 112"/>
          <p:cNvSpPr txBox="1"/>
          <p:nvPr/>
        </p:nvSpPr>
        <p:spPr>
          <a:xfrm>
            <a:off x="6263640" y="5029200"/>
            <a:ext cx="256032" cy="201168"/>
          </a:xfrm>
          <a:prstGeom prst="rect">
            <a:avLst/>
          </a:prstGeom>
          <a:noFill/>
        </p:spPr>
        <p:txBody>
          <a:bodyPr wrap="square" lIns="0" rIns="0" tIns="0" bIns="0" anchor="ctr">
            <a:spAutoFit/>
          </a:bodyPr>
          <a:lstStyle/>
          <a:p>
            <a:pPr algn="l"/>
            <a:r>
              <a:rPr sz="1100" b="1" i="0">
                <a:solidFill>
                  <a:srgbClr val="16685A"/>
                </a:solidFill>
                <a:latin typeface="Helvetica Neue"/>
              </a:rPr>
              <a:t>2</a:t>
            </a:r>
          </a:p>
        </p:txBody>
      </p:sp>
      <p:sp>
        <p:nvSpPr>
          <p:cNvPr id="114" name="TextBox 113"/>
          <p:cNvSpPr txBox="1"/>
          <p:nvPr/>
        </p:nvSpPr>
        <p:spPr>
          <a:xfrm>
            <a:off x="6537959" y="5029200"/>
            <a:ext cx="5120640" cy="201168"/>
          </a:xfrm>
          <a:prstGeom prst="rect">
            <a:avLst/>
          </a:prstGeom>
          <a:noFill/>
        </p:spPr>
        <p:txBody>
          <a:bodyPr wrap="square" lIns="0" rIns="0" tIns="0" bIns="0" anchor="ctr">
            <a:spAutoFit/>
          </a:bodyPr>
          <a:lstStyle/>
          <a:p>
            <a:pPr algn="l"/>
            <a:r>
              <a:rPr sz="1019" b="1" i="0">
                <a:solidFill>
                  <a:srgbClr val="141E27"/>
                </a:solidFill>
                <a:latin typeface="Helvetica Neue"/>
              </a:rPr>
              <a:t>It trails the field only in the middle, and only at scale.</a:t>
            </a:r>
          </a:p>
        </p:txBody>
      </p:sp>
      <p:sp>
        <p:nvSpPr>
          <p:cNvPr id="115" name="TextBox 114"/>
          <p:cNvSpPr txBox="1"/>
          <p:nvPr/>
        </p:nvSpPr>
        <p:spPr>
          <a:xfrm>
            <a:off x="6537959" y="5230368"/>
            <a:ext cx="5120640" cy="566928"/>
          </a:xfrm>
          <a:prstGeom prst="rect">
            <a:avLst/>
          </a:prstGeom>
          <a:noFill/>
        </p:spPr>
        <p:txBody>
          <a:bodyPr wrap="square" lIns="0" rIns="0" tIns="0" bIns="0">
            <a:spAutoFit/>
          </a:bodyPr>
          <a:lstStyle/>
          <a:p>
            <a:pPr>
              <a:lnSpc>
                <a:spcPct val="116000"/>
              </a:lnSpc>
            </a:pPr>
            <a:r>
              <a:rPr sz="919">
                <a:solidFill>
                  <a:srgbClr val="4C5C6B"/>
                </a:solidFill>
                <a:latin typeface="Helvetica Neue"/>
              </a:rPr>
              <a:t>HaluMem P4 sufficiency 0.2214 is last of five and a third of A-MEM's 0.6879, yet on LoCoMo the same probe puts StructMem first at 0.7039. The two stores differ by 6.5x: 3,573 entries against 548. The collapse is a function of store size, not of the retriever.</a:t>
            </a:r>
          </a:p>
        </p:txBody>
      </p:sp>
      <p:sp>
        <p:nvSpPr>
          <p:cNvPr id="116" name="TextBox 115"/>
          <p:cNvSpPr txBox="1"/>
          <p:nvPr/>
        </p:nvSpPr>
        <p:spPr>
          <a:xfrm>
            <a:off x="502920" y="5815584"/>
            <a:ext cx="256032" cy="201168"/>
          </a:xfrm>
          <a:prstGeom prst="rect">
            <a:avLst/>
          </a:prstGeom>
          <a:noFill/>
        </p:spPr>
        <p:txBody>
          <a:bodyPr wrap="square" lIns="0" rIns="0" tIns="0" bIns="0" anchor="ctr">
            <a:spAutoFit/>
          </a:bodyPr>
          <a:lstStyle/>
          <a:p>
            <a:pPr algn="l"/>
            <a:r>
              <a:rPr sz="1100" b="1" i="0">
                <a:solidFill>
                  <a:srgbClr val="16685A"/>
                </a:solidFill>
                <a:latin typeface="Helvetica Neue"/>
              </a:rPr>
              <a:t>3</a:t>
            </a:r>
          </a:p>
        </p:txBody>
      </p:sp>
      <p:sp>
        <p:nvSpPr>
          <p:cNvPr id="117" name="TextBox 116"/>
          <p:cNvSpPr txBox="1"/>
          <p:nvPr/>
        </p:nvSpPr>
        <p:spPr>
          <a:xfrm>
            <a:off x="777240" y="5815584"/>
            <a:ext cx="5120640" cy="201168"/>
          </a:xfrm>
          <a:prstGeom prst="rect">
            <a:avLst/>
          </a:prstGeom>
          <a:noFill/>
        </p:spPr>
        <p:txBody>
          <a:bodyPr wrap="square" lIns="0" rIns="0" tIns="0" bIns="0" anchor="ctr">
            <a:spAutoFit/>
          </a:bodyPr>
          <a:lstStyle/>
          <a:p>
            <a:pPr algn="l"/>
            <a:r>
              <a:rPr sz="1019" b="1" i="0">
                <a:solidFill>
                  <a:srgbClr val="141E27"/>
                </a:solidFill>
                <a:latin typeface="Helvetica Neue"/>
              </a:rPr>
              <a:t>The store cannot tell a current value from a stale one.</a:t>
            </a:r>
          </a:p>
        </p:txBody>
      </p:sp>
      <p:sp>
        <p:nvSpPr>
          <p:cNvPr id="118" name="TextBox 117"/>
          <p:cNvSpPr txBox="1"/>
          <p:nvPr/>
        </p:nvSpPr>
        <p:spPr>
          <a:xfrm>
            <a:off x="777240" y="6016752"/>
            <a:ext cx="5120640" cy="566928"/>
          </a:xfrm>
          <a:prstGeom prst="rect">
            <a:avLst/>
          </a:prstGeom>
          <a:noFill/>
        </p:spPr>
        <p:txBody>
          <a:bodyPr wrap="square" lIns="0" rIns="0" tIns="0" bIns="0">
            <a:spAutoFit/>
          </a:bodyPr>
          <a:lstStyle/>
          <a:p>
            <a:pPr>
              <a:lnSpc>
                <a:spcPct val="116000"/>
              </a:lnSpc>
            </a:pPr>
            <a:r>
              <a:rPr sz="919">
                <a:solidFill>
                  <a:srgbClr val="4C5C6B"/>
                </a:solidFill>
                <a:latin typeface="Helvetica Neue"/>
              </a:rPr>
              <a:t>Auditing neighbour pairs at the same 0.9 threshold the baseline already uses: 69% are verbatim duplicates, 29% rewordings, and genuine supersessions under 0.6%. No field distinguishes them, so redundant and superseded entries occupy the top-k as the store grows.</a:t>
            </a:r>
          </a:p>
        </p:txBody>
      </p:sp>
      <p:sp>
        <p:nvSpPr>
          <p:cNvPr id="119" name="TextBox 118"/>
          <p:cNvSpPr txBox="1"/>
          <p:nvPr/>
        </p:nvSpPr>
        <p:spPr>
          <a:xfrm>
            <a:off x="6263640" y="5815584"/>
            <a:ext cx="256032" cy="201168"/>
          </a:xfrm>
          <a:prstGeom prst="rect">
            <a:avLst/>
          </a:prstGeom>
          <a:noFill/>
        </p:spPr>
        <p:txBody>
          <a:bodyPr wrap="square" lIns="0" rIns="0" tIns="0" bIns="0" anchor="ctr">
            <a:spAutoFit/>
          </a:bodyPr>
          <a:lstStyle/>
          <a:p>
            <a:pPr algn="l"/>
            <a:r>
              <a:rPr sz="1100" b="1" i="0">
                <a:solidFill>
                  <a:srgbClr val="16685A"/>
                </a:solidFill>
                <a:latin typeface="Helvetica Neue"/>
              </a:rPr>
              <a:t>4</a:t>
            </a:r>
          </a:p>
        </p:txBody>
      </p:sp>
      <p:sp>
        <p:nvSpPr>
          <p:cNvPr id="120" name="TextBox 119"/>
          <p:cNvSpPr txBox="1"/>
          <p:nvPr/>
        </p:nvSpPr>
        <p:spPr>
          <a:xfrm>
            <a:off x="6537959" y="5815584"/>
            <a:ext cx="5120640" cy="201168"/>
          </a:xfrm>
          <a:prstGeom prst="rect">
            <a:avLst/>
          </a:prstGeom>
          <a:noFill/>
        </p:spPr>
        <p:txBody>
          <a:bodyPr wrap="square" lIns="0" rIns="0" tIns="0" bIns="0" anchor="ctr">
            <a:spAutoFit/>
          </a:bodyPr>
          <a:lstStyle/>
          <a:p>
            <a:pPr algn="l"/>
            <a:r>
              <a:rPr sz="1019" b="1" i="0">
                <a:solidFill>
                  <a:srgbClr val="141E27"/>
                </a:solidFill>
                <a:latin typeface="Helvetica Neue"/>
              </a:rPr>
              <a:t>Therefore the intervention belongs at storage, not retrieval.</a:t>
            </a:r>
          </a:p>
        </p:txBody>
      </p:sp>
      <p:sp>
        <p:nvSpPr>
          <p:cNvPr id="121" name="TextBox 120"/>
          <p:cNvSpPr txBox="1"/>
          <p:nvPr/>
        </p:nvSpPr>
        <p:spPr>
          <a:xfrm>
            <a:off x="6537959" y="6016752"/>
            <a:ext cx="5120640" cy="566928"/>
          </a:xfrm>
          <a:prstGeom prst="rect">
            <a:avLst/>
          </a:prstGeom>
          <a:noFill/>
        </p:spPr>
        <p:txBody>
          <a:bodyPr wrap="square" lIns="0" rIns="0" tIns="0" bIns="0">
            <a:spAutoFit/>
          </a:bodyPr>
          <a:lstStyle/>
          <a:p>
            <a:pPr>
              <a:lnSpc>
                <a:spcPct val="116000"/>
              </a:lnSpc>
            </a:pPr>
            <a:r>
              <a:rPr sz="919">
                <a:solidFill>
                  <a:srgbClr val="4C5C6B"/>
                </a:solidFill>
                <a:latin typeface="Helvetica Neue"/>
              </a:rPr>
              <a:t>M1 adds the missing state to the memory bank (Storage), M3 propagates it into the cross-event summaries (Summary, second order), M4 lets retrieval act on it (Retrieval). M4 depends on M1 because it creates no information of its own.</a:t>
            </a:r>
          </a:p>
        </p:txBody>
      </p:sp>
      <p:cxnSp>
        <p:nvCxnSpPr>
          <p:cNvPr id="122" name="Connector 121"/>
          <p:cNvCxnSpPr/>
          <p:nvPr/>
        </p:nvCxnSpPr>
        <p:spPr>
          <a:xfrm>
            <a:off x="502920" y="6565392"/>
            <a:ext cx="10972800" cy="0"/>
          </a:xfrm>
          <a:prstGeom prst="line">
            <a:avLst/>
          </a:prstGeom>
          <a:ln w="11430">
            <a:solidFill>
              <a:srgbClr val="DBE2E9"/>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502920" y="6638544"/>
            <a:ext cx="868680" cy="201168"/>
          </a:xfrm>
          <a:prstGeom prst="rect">
            <a:avLst/>
          </a:prstGeom>
          <a:noFill/>
        </p:spPr>
        <p:txBody>
          <a:bodyPr wrap="square" lIns="0" rIns="0" tIns="0" bIns="0" anchor="ctr">
            <a:spAutoFit/>
          </a:bodyPr>
          <a:lstStyle/>
          <a:p>
            <a:pPr algn="l"/>
            <a:r>
              <a:rPr sz="950" b="1" i="0">
                <a:solidFill>
                  <a:srgbClr val="9C4221"/>
                </a:solidFill>
                <a:latin typeface="Helvetica Neue"/>
              </a:rPr>
              <a:t>Guardrail</a:t>
            </a:r>
          </a:p>
        </p:txBody>
      </p:sp>
      <p:sp>
        <p:nvSpPr>
          <p:cNvPr id="124" name="TextBox 123"/>
          <p:cNvSpPr txBox="1"/>
          <p:nvPr/>
        </p:nvSpPr>
        <p:spPr>
          <a:xfrm>
            <a:off x="1371600" y="6638544"/>
            <a:ext cx="10058400" cy="201168"/>
          </a:xfrm>
          <a:prstGeom prst="rect">
            <a:avLst/>
          </a:prstGeom>
          <a:noFill/>
        </p:spPr>
        <p:txBody>
          <a:bodyPr wrap="square" lIns="0" rIns="0" tIns="0" bIns="0" anchor="ctr">
            <a:spAutoFit/>
          </a:bodyPr>
          <a:lstStyle/>
          <a:p>
            <a:pPr algn="l"/>
            <a:r>
              <a:rPr sz="919" b="0" i="0">
                <a:solidFill>
                  <a:srgbClr val="4C5C6B"/>
                </a:solidFill>
                <a:latin typeface="Helvetica Neue"/>
              </a:rPr>
              <a:t>LoCoMo temporal reasoning 0.7027 is first of five and the runner-up is 0.0811, so any fix that deletes or unconditionally hides superseded values forfeits StructMem's largest advantage.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