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420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>
                <a:solidFill>
                  <a:srgbClr val="7E8D9B"/>
                </a:solidFill>
                <a:latin typeface="PingFang TC"/>
              </a:rPr>
              <a:t>LAB PROGRESS ・ 歸因能力矩陣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292608"/>
            <a:ext cx="11420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E27"/>
                </a:solidFill>
                <a:latin typeface="PingFang TC"/>
              </a:rPr>
              <a:t>子集 × 探針 × 失效階段：哪一格真的能歸因（1／2）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03504"/>
            <a:ext cx="11420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>
                <a:solidFill>
                  <a:srgbClr val="4C5C6B"/>
                </a:solidFill>
                <a:latin typeface="PingFang TC"/>
              </a:rPr>
              <a:t>歸因能力最高的兩個資料集。HaluMem 是唯一原生支援完整更新漏斗的；LongMemEval 沒有 golden memory，P1 退化成 gold answer 的存在性檢查。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2304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E8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432304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16685A"/>
                </a:solidFill>
                <a:latin typeface="PingFang TC"/>
              </a:rPr>
              <a:t>Summary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9170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89170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2A4A8E"/>
                </a:solidFill>
                <a:latin typeface="PingFang TC"/>
              </a:rPr>
              <a:t>Storage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46036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F8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46036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87590C"/>
                </a:solidFill>
                <a:latin typeface="PingFang TC"/>
              </a:rPr>
              <a:t>Retrieval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2902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F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02902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782D58"/>
                </a:solidFill>
                <a:latin typeface="PingFang TC"/>
              </a:rPr>
              <a:t>Reasoning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078992"/>
            <a:ext cx="11420856" cy="182880"/>
          </a:xfrm>
          <a:prstGeom prst="roundRect">
            <a:avLst>
              <a:gd name="adj" fmla="val 14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5488" y="1113739"/>
            <a:ext cx="1123797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41E27"/>
                </a:solidFill>
                <a:latin typeface="PingFang TC"/>
              </a:rPr>
              <a:t>HaluMem-Medium</a:t>
            </a:r>
            <a:r>
              <a:rPr sz="640" b="0">
                <a:solidFill>
                  <a:srgbClr val="7E8D9B"/>
                </a:solidFill>
                <a:latin typeface="PingFang TC"/>
              </a:rPr>
              <a:t>　20 users ・ 3,467 題 ・ 14,948 原子記憶點 ・ 3,122 個更新對（全附 original_memories，原生 v1／v2）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1289304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6344" y="1335024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Basic Fact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1472184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746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2304" y="128930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14600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P1-Strict〔原子事實〕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146761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evidence 本身即原子 memory_content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9170" y="128930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71466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P1u・P2・P3 ／ P4b 488 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1466" y="146761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65.4% 的題目命中 is_update 記憶點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6036" y="128930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228332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8332" y="146761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evidence 是事實文字，可直接查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2902" y="128930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85198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5198" y="146761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context 有正解仍答錯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1661394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6344" y="1707114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Memory Conflict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1844274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769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32304" y="166139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514600" y="170254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P1-Strict〔原子事實〕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183970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平均 1.72 條 evidence／題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89170" y="166139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71466" y="170254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P1u・P2・P3 ／ P4b 495 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1466" y="183970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64.4% 命中更新點；(b) 並存誤判主場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46036" y="166139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28332" y="170254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2902" y="166139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585198" y="170254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" y="2033484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66344" y="2079204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Generalization &amp; App.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" y="2216364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746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32304" y="203348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514600" y="207463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 × 2.42〔成分〕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221179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多證據點 → 記到 k／N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89170" y="203348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871466" y="207463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P4b 488 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1466" y="2211792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65.4% 命中更新點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46036" y="203348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228332" y="207463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2902" y="2033484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585198" y="2074632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2405575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66344" y="2451295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Multi-hop Inference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" y="2588455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198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32304" y="240557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2514600" y="244672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 × 2.36〔成分〕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89170" y="240557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871466" y="244672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P4b 156 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71466" y="2583883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78.8% 命中更新點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46036" y="240557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228332" y="244672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02902" y="240557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585198" y="244672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4048" y="2777665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66344" y="2823385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Dynamic Update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2960545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180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432304" y="277766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514600" y="281881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P1-Strict〔原子事實〕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9170" y="277766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871466" y="281881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全開 P1u・P2・P3 ／ P4b 146 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71466" y="2955973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81.1% 命中；唯一直接以更新為題旨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146036" y="277766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228332" y="281881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02902" y="2777665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585198" y="2818813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4048" y="3149756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66344" y="3195476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Memory Boundary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344" y="3332636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828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432304" y="314975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2514600" y="319090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14600" y="3328064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無該記之事實（答案就是「沒提過」）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89170" y="314975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871466" y="319090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46036" y="314975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228332" y="319090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8332" y="3328064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evidence 覆蓋率 0%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02902" y="314975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585198" y="319090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 ＋ </a:t>
            </a:r>
            <a:r>
              <a:rPr sz="680" b="1">
                <a:solidFill>
                  <a:srgbClr val="C03030"/>
                </a:solidFill>
                <a:latin typeface="PingFang TC"/>
              </a:rPr>
              <a:t>P5b 拒答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85198" y="3328064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四資料集僅兩個真拒答子集之一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4048" y="3562994"/>
            <a:ext cx="11420856" cy="182880"/>
          </a:xfrm>
          <a:prstGeom prst="roundRect">
            <a:avLst>
              <a:gd name="adj" fmla="val 14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75488" y="3597741"/>
            <a:ext cx="1123797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41E27"/>
                </a:solidFill>
                <a:latin typeface="PingFang TC"/>
              </a:rPr>
              <a:t>LongMemEval-S</a:t>
            </a:r>
            <a:r>
              <a:rPr sz="640" b="0">
                <a:solidFill>
                  <a:srgbClr val="7E8D9B"/>
                </a:solidFill>
                <a:latin typeface="PingFang TC"/>
              </a:rPr>
              <a:t>　500 題 ・ haystack 中位 48 sessions／491 turns ・ has_answer 為逐句旗標，非原子事實 —— 無 golden memory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4048" y="3773306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66344" y="3819026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single-session-user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" y="3956186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64 ＋6abs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432304" y="377330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2514600" y="381445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P1-Strict〔答案〕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14600" y="3951614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提取型 92.2%，gold answer 原文可見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789170" y="377330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871466" y="381445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71466" y="3951614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無更新情境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146036" y="377330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7228332" y="381445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02902" y="3773306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9585198" y="381445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4048" y="4145397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466344" y="4191117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single-session-assistant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6344" y="4328277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56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432304" y="414539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2514600" y="418654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P1-Strict〔答案〕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14600" y="4323705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提取型 85.7%；Summary 壓力最大（證據句中位 1,181 字）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789170" y="414539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4871466" y="418654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146036" y="414539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7228332" y="418654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502902" y="414539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9585198" y="418654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84048" y="4517487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466344" y="4563207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knowledge-update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6344" y="4700367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72 ＋6abs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432304" y="451748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2514600" y="455863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P1-Strict〔答案〕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14600" y="4695795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提取型 75.0%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789170" y="451748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4871466" y="455863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◇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P1u・P2・P3・P4b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71466" y="4695795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100% 恰為 2 個證據 session；LLM 標一次 v1／v2 後全開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146036" y="451748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7228332" y="455863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502902" y="4517487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9585198" y="455863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84048" y="4889578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466344" y="4935298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temporal-reasoning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6344" y="5072458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127 ＋6abs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432304" y="488957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2514600" y="493072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◇　</a:t>
            </a:r>
            <a:r>
              <a:rPr sz="680" b="1">
                <a:solidFill>
                  <a:srgbClr val="C03030"/>
                </a:solidFill>
                <a:latin typeface="PingFang TC"/>
              </a:rPr>
              <a:t>P1t</a:t>
            </a:r>
            <a:r>
              <a:rPr sz="680" b="1">
                <a:solidFill>
                  <a:srgbClr val="16685A"/>
                </a:solidFill>
                <a:latin typeface="PingFang TC"/>
              </a:rPr>
              <a:t>〔時間戳〕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14600" y="5067886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混合 48.8%；日期在 metadata 不在對話文字裡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789170" y="488957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4871466" y="493072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◇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schema 檢查 → (d)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871466" y="5067886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無時間欄位＝結構性喪失；有欄位但空＝抽取時丟掉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146036" y="488957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7228332" y="493072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502902" y="488957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9585198" y="493072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84048" y="5261668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466344" y="5307388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multi-session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6344" y="5444548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121 ＋12abs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432304" y="526166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2514600" y="530281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◇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 × 2–6〔成分〕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514600" y="5439976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推導型 20.7%，答案是算出來的 → 須改查成分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789170" y="526166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871466" y="530281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146036" y="526166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7228332" y="530281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28332" y="5439976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多點 recall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502902" y="5261668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9585198" y="5302816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84048" y="5633759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466344" y="5679479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single-session-preference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6344" y="5816639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30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432304" y="563375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2514600" y="567490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514600" y="5812067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answer 是 377 字 rubric，沒有值可查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789170" y="563375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4871466" y="567490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146036" y="563375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7228332" y="567490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◇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28332" y="5812067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問題無檢索線索，需 LLM judge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502902" y="563375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9585198" y="567490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85198" y="5812067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依 rubric 判定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84048" y="6005849"/>
            <a:ext cx="1993392" cy="346487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6344" y="6051569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abstention（散在上列 4 型）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6344" y="6188729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30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432304" y="600584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0" y="604699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514600" y="6184157"/>
            <a:ext cx="2137410" cy="13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無證據句 → 沒有東西該被記住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789170" y="600584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4871466" y="604699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146036" y="600584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7228332" y="604699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502902" y="6005849"/>
            <a:ext cx="2302002" cy="3464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585198" y="6046997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 ＋ </a:t>
            </a:r>
            <a:r>
              <a:rPr sz="680" b="1">
                <a:solidFill>
                  <a:srgbClr val="C03030"/>
                </a:solidFill>
                <a:latin typeface="PingFang TC"/>
              </a:rPr>
              <a:t>P5b 拒答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6455664"/>
            <a:ext cx="11420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▪ 可歸因：標註足以切下這一刀　　</a:t>
            </a:r>
            <a:r>
              <a:rPr sz="640" b="0">
                <a:solidFill>
                  <a:srgbClr val="4C5C6B"/>
                </a:solidFill>
                <a:latin typeface="PingFang TC"/>
              </a:rPr>
              <a:t>◇ 需改 ground truth 粒度／一次性標註　　</a:t>
            </a:r>
            <a:r>
              <a:rPr sz="640" b="0">
                <a:solidFill>
                  <a:srgbClr val="8B98A4"/>
                </a:solidFill>
                <a:latin typeface="PingFang TC"/>
              </a:rPr>
              <a:t>✕ 不可歸因：標註結構上缺席　　</a:t>
            </a:r>
            <a:r>
              <a:rPr sz="640" b="1">
                <a:solidFill>
                  <a:srgbClr val="C03030"/>
                </a:solidFill>
                <a:latin typeface="PingFang TC"/>
              </a:rPr>
              <a:t>紅字 ＝ 我新增、現有 benchmark 沒有的探針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84048" y="6611112"/>
            <a:ext cx="11420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580" b="0">
                <a:solidFill>
                  <a:srgbClr val="7E8D9B"/>
                </a:solidFill>
                <a:latin typeface="PingFang TC"/>
              </a:rPr>
              <a:t>全表前提：P0 觸發為 session 層級、與子集無關，24 列恆可做（已驗證 Letta 0.124 ／ Graphiti 0.05）。　｜　P1 只保留 Strict；〔〕內為 ground truth 來源，不影響指標定義，四種寫法產出同一個可比的數字。　｜　數量由 HaluMem-Medium.jsonl・longmemeval_s.json・locomo10.json・memfail_experiment/datasets 實際統計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420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>
                <a:solidFill>
                  <a:srgbClr val="7E8D9B"/>
                </a:solidFill>
                <a:latin typeface="PingFang TC"/>
              </a:rPr>
              <a:t>LAB PROGRESS ・ 歸因能力矩陣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292608"/>
            <a:ext cx="11420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E27"/>
                </a:solidFill>
                <a:latin typeface="PingFang TC"/>
              </a:rPr>
              <a:t>子集 × 探針 × 失效階段：哪一格真的能歸因（2／2）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03504"/>
            <a:ext cx="11420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>
                <a:solidFill>
                  <a:srgbClr val="4C5C6B"/>
                </a:solidFill>
                <a:latin typeface="PingFang TC"/>
              </a:rPr>
              <a:t>MemFail 的 ground truth 最乾淨但更新情境被生成 prompt 主動排除；LoCoMo 的 Storage 欄永久卡住，但 Summary 欄在只要 Strict 的前提下是開的。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2304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E8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432304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16685A"/>
                </a:solidFill>
                <a:latin typeface="PingFang TC"/>
              </a:rPr>
              <a:t>Summary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9170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89170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2A4A8E"/>
                </a:solidFill>
                <a:latin typeface="PingFang TC"/>
              </a:rPr>
              <a:t>Storage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46036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F8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46036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87590C"/>
                </a:solidFill>
                <a:latin typeface="PingFang TC"/>
              </a:rPr>
              <a:t>Retrieval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2902" y="822960"/>
            <a:ext cx="2302002" cy="201168"/>
          </a:xfrm>
          <a:prstGeom prst="roundRect">
            <a:avLst>
              <a:gd name="adj" fmla="val 12000"/>
            </a:avLst>
          </a:prstGeom>
          <a:solidFill>
            <a:srgbClr val="F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02902" y="864108"/>
            <a:ext cx="230200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>
                <a:solidFill>
                  <a:srgbClr val="782D58"/>
                </a:solidFill>
                <a:latin typeface="PingFang TC"/>
              </a:rPr>
              <a:t>Reasoning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078992"/>
            <a:ext cx="11420856" cy="182880"/>
          </a:xfrm>
          <a:prstGeom prst="roundRect">
            <a:avLst>
              <a:gd name="adj" fmla="val 14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5488" y="1113739"/>
            <a:ext cx="1123797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41E27"/>
                </a:solidFill>
                <a:latin typeface="PingFang TC"/>
              </a:rPr>
              <a:t>MemFail（合成）</a:t>
            </a:r>
            <a:r>
              <a:rPr sz="640" b="0">
                <a:solidFill>
                  <a:srgbClr val="7E8D9B"/>
                </a:solidFill>
                <a:latin typeface="PingFang TC"/>
              </a:rPr>
              <a:t>　原子事實全知 by construction ・ 四個資料集裡唯一你有生成器控制權的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1289304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6344" y="1335024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conditional_facts easy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1472184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2304" y="1289304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14600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P1-Strict〔原子事實〕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1467612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entity_facts 逐條已知，比對無歧義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9170" y="1289304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71466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1466" y="1467612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無更新情境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6036" y="1289304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228332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2902" y="1289304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85198" y="133045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198" y="1467612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condition_met 標註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1729047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6344" y="1774767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conditional_facts hard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1911927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32304" y="172904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514600" y="177019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P1-Strict〔原子事實〕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1907355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ground truth 最乾淨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9170" y="172904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71466" y="177019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46036" y="172904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228332" y="177019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2902" y="172904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585198" y="177019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5198" y="1907355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condition_met 標註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2168790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66344" y="2214510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coexisting_facts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" y="2351670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100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32304" y="216879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514600" y="220993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 × 3〔成分〕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2347098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preference_facts 三個並存值全知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89170" y="216879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871466" y="220993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◇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僅 (b) 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1466" y="2347098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生成 prompt 明令事實不得矛盾 →（a）(c)(d) 結構性缺席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46036" y="216879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228332" y="220993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8332" y="2347098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3 值 recall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2902" y="216879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585198" y="220993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2608533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66344" y="2654253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custom_persona_retrieval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" y="2791413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300 題／100 實體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32304" y="260853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2514600" y="264968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P1-Strict〔原子事實〕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89170" y="260853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871466" y="264968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46036" y="260853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228332" y="264968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02902" y="260853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585198" y="264968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85198" y="2786841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157 題 misleading 帶 distractor —— 唯一有明確干擾項標註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4048" y="3048277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66344" y="3093997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long_hop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" y="3231157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92 條鏈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432304" y="304827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514600" y="308942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 × N〔鏈上各 hop〕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14600" y="3226585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fact_1..4 ＋ chain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89170" y="304827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871466" y="308942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146036" y="304827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228332" y="308942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 × hop 深度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8332" y="3226585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1／2／3 為自變數 —— 唯一可畫檢索衰減曲線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02902" y="3048277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9585198" y="3089425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85198" y="3226585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5 選 1 MCQ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" y="3488020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66344" y="3533740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C03030"/>
                </a:solidFill>
                <a:latin typeface="PingFang TC"/>
              </a:rPr>
              <a:t>（建議新增）updating_facts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344" y="3670900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—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432304" y="348802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2514600" y="352916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14600" y="3666328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帶 v1／v2 與時序，難度可調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89170" y="348802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4871466" y="352916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2A4A8E"/>
                </a:solidFill>
                <a:latin typeface="PingFang TC"/>
              </a:rPr>
              <a:t>▪　</a:t>
            </a:r>
            <a:r>
              <a:rPr sz="680" b="1">
                <a:solidFill>
                  <a:srgbClr val="2A4A8E"/>
                </a:solidFill>
                <a:latin typeface="PingFang TC"/>
              </a:rPr>
              <a:t>全開 P1u・P2・P3・P4b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71466" y="3666328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唯一能把 Storage 欄補成全開的途徑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146036" y="348802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228332" y="352916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502902" y="348802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9585198" y="352916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4048" y="3968911"/>
            <a:ext cx="11420856" cy="182880"/>
          </a:xfrm>
          <a:prstGeom prst="roundRect">
            <a:avLst>
              <a:gd name="adj" fmla="val 14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475488" y="4003658"/>
            <a:ext cx="1123797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41E27"/>
                </a:solidFill>
                <a:latin typeface="PingFang TC"/>
              </a:rPr>
              <a:t>LoCoMo-10</a:t>
            </a:r>
            <a:r>
              <a:rPr sz="640" b="0">
                <a:solidFill>
                  <a:srgbClr val="7E8D9B"/>
                </a:solidFill>
                <a:latin typeface="PingFang TC"/>
              </a:rPr>
              <a:t>　1,986 QA ・ 1,982 題附 evidence，格式為 turn 指標（"D1:3"）而非事實文字 ・ 完全無更新標註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4048" y="4179223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466344" y="4224943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cat4 single_hop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344" y="4362103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841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432304" y="417922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2514600" y="422037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P1-Strict〔答案〕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14600" y="4357531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提取型 84.2% —— 四資料集最大的 Summary 樣本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789170" y="417922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4871466" y="422037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71466" y="4357531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無 update 標註，也無可推導結構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146036" y="417922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228332" y="422037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502902" y="417922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9585198" y="422037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84048" y="4618966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466344" y="4664686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cat5 adversarial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6344" y="4801846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446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432304" y="461896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2514600" y="466011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▪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P1-Strict〔答案〕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514600" y="4797274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提取型 83.6%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789170" y="461896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4871466" y="466011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71466" y="4797274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此格永久卡住，非待補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146036" y="461896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7228332" y="466011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02902" y="461896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9585198" y="466011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 干擾抉擇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85198" y="4797274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非拒答：446 題僅 2 題為「未提及」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84048" y="5058710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466344" y="5104430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cat1 multi_hop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6344" y="5241590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282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432304" y="505871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2514600" y="509985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◇　</a:t>
            </a:r>
            <a:r>
              <a:rPr sz="680" b="1">
                <a:solidFill>
                  <a:srgbClr val="16685A"/>
                </a:solidFill>
                <a:latin typeface="PingFang TC"/>
              </a:rPr>
              <a:t>P1-Strict × 3.13〔成分〕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514600" y="5237018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混合 60.1%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789170" y="505871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4871466" y="509985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146036" y="505871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28332" y="509985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502902" y="5058710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9585198" y="5099858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84048" y="5498453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466344" y="5544173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cat2 temporal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6344" y="5681333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321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432304" y="549845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2514600" y="553960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16685A"/>
                </a:solidFill>
                <a:latin typeface="PingFang TC"/>
              </a:rPr>
              <a:t>◇　</a:t>
            </a:r>
            <a:r>
              <a:rPr sz="680" b="1">
                <a:solidFill>
                  <a:srgbClr val="C03030"/>
                </a:solidFill>
                <a:latin typeface="PingFang TC"/>
              </a:rPr>
              <a:t>P1t</a:t>
            </a:r>
            <a:r>
              <a:rPr sz="680" b="1">
                <a:solidFill>
                  <a:srgbClr val="16685A"/>
                </a:solidFill>
                <a:latin typeface="PingFang TC"/>
              </a:rPr>
              <a:t>〔時間戳〕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14600" y="5676761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推導型 19.7%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789170" y="549845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4871466" y="553960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146036" y="549845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7228332" y="553960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▪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502902" y="5498453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9585198" y="5539601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84048" y="5938196"/>
            <a:ext cx="1993392" cy="4141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466344" y="5983916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41E27"/>
                </a:solidFill>
                <a:latin typeface="PingFang TC"/>
              </a:rPr>
              <a:t>cat3 open_domain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6344" y="6121076"/>
            <a:ext cx="18288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E8D9B"/>
                </a:solidFill>
                <a:latin typeface="PingFang TC"/>
              </a:rPr>
              <a:t>n ＝ 96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432304" y="593819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2514600" y="597934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514600" y="6116504"/>
            <a:ext cx="2137410" cy="203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90" b="0">
                <a:solidFill>
                  <a:srgbClr val="4C5C6B"/>
                </a:solidFill>
                <a:latin typeface="PingFang TC"/>
              </a:rPr>
              <a:t>答案為外部知識，不是對話裡的事實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789170" y="593819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4871466" y="597934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B98A4"/>
                </a:solidFill>
                <a:latin typeface="PingFang TC"/>
              </a:rPr>
              <a:t>✕　</a:t>
            </a:r>
            <a:r>
              <a:rPr sz="680" b="1">
                <a:solidFill>
                  <a:srgbClr val="8B98A4"/>
                </a:solidFill>
                <a:latin typeface="PingFang TC"/>
              </a:rPr>
              <a:t>—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146036" y="593819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28332" y="597934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87590C"/>
                </a:solidFill>
                <a:latin typeface="PingFang TC"/>
              </a:rPr>
              <a:t>◇　</a:t>
            </a:r>
            <a:r>
              <a:rPr sz="680" b="1">
                <a:solidFill>
                  <a:srgbClr val="87590C"/>
                </a:solidFill>
                <a:latin typeface="PingFang TC"/>
              </a:rPr>
              <a:t>P4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502902" y="5938196"/>
            <a:ext cx="2302002" cy="414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9585198" y="5979344"/>
            <a:ext cx="213741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82D58"/>
                </a:solidFill>
                <a:latin typeface="PingFang TC"/>
              </a:rPr>
              <a:t>▪　</a:t>
            </a:r>
            <a:r>
              <a:rPr sz="680" b="1">
                <a:solidFill>
                  <a:srgbClr val="782D58"/>
                </a:solidFill>
                <a:latin typeface="PingFang TC"/>
              </a:rPr>
              <a:t>P5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84048" y="6455664"/>
            <a:ext cx="11420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5C6B"/>
                </a:solidFill>
                <a:latin typeface="PingFang TC"/>
              </a:rPr>
              <a:t>▪ 可歸因：標註足以切下這一刀　　</a:t>
            </a:r>
            <a:r>
              <a:rPr sz="640" b="0">
                <a:solidFill>
                  <a:srgbClr val="4C5C6B"/>
                </a:solidFill>
                <a:latin typeface="PingFang TC"/>
              </a:rPr>
              <a:t>◇ 需改 ground truth 粒度／一次性標註　　</a:t>
            </a:r>
            <a:r>
              <a:rPr sz="640" b="0">
                <a:solidFill>
                  <a:srgbClr val="8B98A4"/>
                </a:solidFill>
                <a:latin typeface="PingFang TC"/>
              </a:rPr>
              <a:t>✕ 不可歸因：標註結構上缺席　　</a:t>
            </a:r>
            <a:r>
              <a:rPr sz="640" b="1">
                <a:solidFill>
                  <a:srgbClr val="C03030"/>
                </a:solidFill>
                <a:latin typeface="PingFang TC"/>
              </a:rPr>
              <a:t>紅字 ＝ 我新增、現有 benchmark 沒有的探針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4048" y="6611112"/>
            <a:ext cx="11420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580" b="0">
                <a:solidFill>
                  <a:srgbClr val="7E8D9B"/>
                </a:solidFill>
                <a:latin typeface="PingFang TC"/>
              </a:rPr>
              <a:t>全表前提：P0 觸發為 session 層級、與子集無關，24 列恆可做（已驗證 Letta 0.124 ／ Graphiti 0.05）。　｜　P1 只保留 Strict；〔〕內為 ground truth 來源，不影響指標定義，四種寫法產出同一個可比的數字。　｜　數量由 HaluMem-Medium.jsonl・longmemeval_s.json・locomo10.json・memfail_experiment/datasets 實際統計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