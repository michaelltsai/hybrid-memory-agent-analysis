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0F766E"/>
                </a:solidFill>
                <a:latin typeface="Forma DJR Display"/>
              </a:rPr>
              <a:t>M4</a:t>
            </a:r>
            <a:r>
              <a:rPr sz="2900" b="1" i="0">
                <a:solidFill>
                  <a:srgbClr val="141E27"/>
                </a:solidFill>
                <a:latin typeface="Forma DJR Display"/>
              </a:rPr>
              <a:t>  ·  Lexical Query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243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768088"/>
                </a:solidFill>
                <a:latin typeface="Forma DJR Micro"/>
              </a:rPr>
              <a:t>Rules, not a model call: the query names a point of view, and the evidence packet is assembled to match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F766E"/>
                </a:solidFill>
                <a:latin typeface="Forma DJR Micro"/>
              </a:rPr>
              <a:t>PRECEDENCE  ·  first rule that fires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9384"/>
            <a:ext cx="2432303" cy="950976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 w="12700">
            <a:solidFill>
              <a:srgbClr val="9CC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9224" y="2029967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Forma DJR Micr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029967"/>
            <a:ext cx="18836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1E27"/>
                </a:solidFill>
                <a:latin typeface="Forma DJR Micro"/>
              </a:rPr>
              <a:t>Transition interrogative?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32257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how/what/when …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59689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A524C"/>
                </a:solidFill>
                <a:latin typeface="Forma DJR Micro"/>
              </a:rPr>
              <a:t>→ TRANSITION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99232" y="2331720"/>
            <a:ext cx="237744" cy="146304"/>
          </a:xfrm>
          <a:prstGeom prst="rightArrow">
            <a:avLst/>
          </a:prstGeom>
          <a:solidFill>
            <a:srgbClr val="9C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0983" y="1929384"/>
            <a:ext cx="2432303" cy="950976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 w="12700">
            <a:solidFill>
              <a:srgbClr val="9CC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47287" y="2029967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Forma DJR Micr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029967"/>
            <a:ext cx="18836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1E27"/>
                </a:solidFill>
                <a:latin typeface="Forma DJR Micro"/>
              </a:rPr>
              <a:t>Past cue, no current cue?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7" y="232257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before · previously · 以前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259689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A524C"/>
                </a:solidFill>
                <a:latin typeface="Forma DJR Micro"/>
              </a:rPr>
              <a:t>→ HISTORICAL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97296" y="2331720"/>
            <a:ext cx="237744" cy="146304"/>
          </a:xfrm>
          <a:prstGeom prst="rightArrow">
            <a:avLst/>
          </a:prstGeom>
          <a:solidFill>
            <a:srgbClr val="9C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9047" y="1929384"/>
            <a:ext cx="2432303" cy="950976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 w="12700">
            <a:solidFill>
              <a:srgbClr val="9CC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45351" y="2029967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Forma DJR Micr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1" y="2029967"/>
            <a:ext cx="18836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1E27"/>
                </a:solidFill>
                <a:latin typeface="Forma DJR Micro"/>
              </a:rPr>
              <a:t>As-of date, no current cue?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1" y="232257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in 2024 · 2024-03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1" y="259689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A524C"/>
                </a:solidFill>
                <a:latin typeface="Forma DJR Micro"/>
              </a:rPr>
              <a:t>→ HISTORICAL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95359" y="2331720"/>
            <a:ext cx="237744" cy="146304"/>
          </a:xfrm>
          <a:prstGeom prst="rightArrow">
            <a:avLst/>
          </a:prstGeom>
          <a:solidFill>
            <a:srgbClr val="9C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97111" y="1929384"/>
            <a:ext cx="2432303" cy="950976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 w="12700">
            <a:solidFill>
              <a:srgbClr val="9CC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43415" y="2029967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Forma DJR Micr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029967"/>
            <a:ext cx="18836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1E27"/>
                </a:solidFill>
                <a:latin typeface="Forma DJR Micro"/>
              </a:rPr>
              <a:t>Current cue?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5" y="232257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now · currently · 目前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5" y="259689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A524C"/>
                </a:solidFill>
                <a:latin typeface="Forma DJR Micro"/>
              </a:rPr>
              <a:t>→ CURRENT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1393424" y="2331720"/>
            <a:ext cx="237744" cy="146304"/>
          </a:xfrm>
          <a:prstGeom prst="rightArrow">
            <a:avLst/>
          </a:prstGeom>
          <a:solidFill>
            <a:srgbClr val="9C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695176" y="1929384"/>
            <a:ext cx="2432303" cy="950976"/>
          </a:xfrm>
          <a:prstGeom prst="roundRect">
            <a:avLst>
              <a:gd name="adj" fmla="val 6000"/>
            </a:avLst>
          </a:prstGeom>
          <a:solidFill>
            <a:srgbClr val="EAF6F4"/>
          </a:solidFill>
          <a:ln w="12700">
            <a:solidFill>
              <a:srgbClr val="9CC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841480" y="2029967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F766E"/>
                </a:solidFill>
                <a:latin typeface="Forma DJR Micr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15800" y="2029967"/>
            <a:ext cx="18836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1E27"/>
                </a:solidFill>
                <a:latin typeface="Forma DJR Micro"/>
              </a:rPr>
              <a:t>Nothing temporal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41480" y="232257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41480" y="259689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A524C"/>
                </a:solidFill>
                <a:latin typeface="Forma DJR Micro"/>
              </a:rPr>
              <a:t>→ NEUTRAL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2944368"/>
            <a:ext cx="13624559" cy="384048"/>
          </a:xfrm>
          <a:prstGeom prst="roundRect">
            <a:avLst>
              <a:gd name="adj" fmla="val 10000"/>
            </a:avLst>
          </a:prstGeom>
          <a:solidFill>
            <a:srgbClr val="D3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9224" y="3035808"/>
            <a:ext cx="11978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A524C"/>
                </a:solidFill>
                <a:latin typeface="Forma DJR Micro"/>
              </a:rPr>
              <a:t>Query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6544" y="3035808"/>
            <a:ext cx="37581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A524C"/>
                </a:solidFill>
                <a:latin typeface="Forma DJR Micro"/>
              </a:rPr>
              <a:t>Lexical triggers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44183" y="3035808"/>
            <a:ext cx="2569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A524C"/>
                </a:solidFill>
                <a:latin typeface="Forma DJR Micro"/>
              </a:rPr>
              <a:t>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3035808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A524C"/>
                </a:solidFill>
                <a:latin typeface="Forma DJR Micro"/>
              </a:rPr>
              <a:t>Link expansion · 1 hop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76304" y="3035808"/>
            <a:ext cx="24780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A524C"/>
                </a:solidFill>
                <a:latin typeface="Forma DJR Micro"/>
              </a:rPr>
              <a:t>Evidence order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" y="3474720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766E"/>
                </a:solidFill>
                <a:latin typeface="Forma DJR Micro"/>
              </a:rPr>
              <a:t>CURRENT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66544" y="3456432"/>
            <a:ext cx="372160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now · still · today · nowadays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current(ly) · at present · latest · most recent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現在 · 目前 · 當前 · 最新 · 仍然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44183" y="3474720"/>
            <a:ext cx="253288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1">
                <a:solidFill>
                  <a:srgbClr val="141E27"/>
                </a:solidFill>
                <a:latin typeface="Forma DJR Micro"/>
              </a:rPr>
              <a:t>“Where does she live now</a:t>
            </a:r>
          </a:p>
          <a:p>
            <a:pPr algn="l">
              <a:spcAft>
                <a:spcPts val="100"/>
              </a:spcAft>
            </a:pPr>
            <a:r>
              <a:rPr sz="1100" b="0" i="1">
                <a:solidFill>
                  <a:srgbClr val="141E27"/>
                </a:solidFill>
                <a:latin typeface="Forma DJR Micro"/>
              </a:rPr>
              <a:t>after moving?”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3456432"/>
            <a:ext cx="24871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superseded → superseded_by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transition → evolves_to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76304" y="3456432"/>
            <a:ext cx="2441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A524C"/>
                </a:solidFill>
                <a:latin typeface="Forma DJR Micro"/>
              </a:rPr>
              <a:t>CURRENT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TRANSITION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TRANS-LINKED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HISTORICAL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RAW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4334256"/>
            <a:ext cx="13624560" cy="0"/>
          </a:xfrm>
          <a:prstGeom prst="line">
            <a:avLst/>
          </a:prstGeom>
          <a:ln w="9525">
            <a:solidFill>
              <a:srgbClr val="D8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9224" y="4480560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766E"/>
                </a:solidFill>
                <a:latin typeface="Forma DJR Micro"/>
              </a:rPr>
              <a:t>HISTORICAL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66544" y="4462272"/>
            <a:ext cx="372160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before · previously · formerly · earlier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used to · in the past · back then · originally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以前 · 之前 · 原本 · 過去 · 曾經 · 當時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4183" y="4480560"/>
            <a:ext cx="253288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1">
                <a:solidFill>
                  <a:srgbClr val="141E27"/>
                </a:solidFill>
                <a:latin typeface="Forma DJR Micro"/>
              </a:rPr>
              <a:t>“Where did she live</a:t>
            </a:r>
          </a:p>
          <a:p>
            <a:pPr algn="l">
              <a:spcAft>
                <a:spcPts val="100"/>
              </a:spcAft>
            </a:pPr>
            <a:r>
              <a:rPr sz="1100" b="0" i="1">
                <a:solidFill>
                  <a:srgbClr val="141E27"/>
                </a:solidFill>
                <a:latin typeface="Forma DJR Micro"/>
              </a:rPr>
              <a:t>before moving?”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3104" y="4462272"/>
            <a:ext cx="24871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active → supersedes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transition → evolves_from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76304" y="4462272"/>
            <a:ext cx="2441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A524C"/>
                </a:solidFill>
                <a:latin typeface="Forma DJR Micro"/>
              </a:rPr>
              <a:t>HISTORICAL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TRANSITION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TRANS-LINKED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CURRENT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RAW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02920" y="5340096"/>
            <a:ext cx="13624560" cy="0"/>
          </a:xfrm>
          <a:prstGeom prst="line">
            <a:avLst/>
          </a:prstGeom>
          <a:ln w="9525">
            <a:solidFill>
              <a:srgbClr val="D8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49224" y="5486400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766E"/>
                </a:solidFill>
                <a:latin typeface="Forma DJR Micro"/>
              </a:rPr>
              <a:t>TRANSITION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66544" y="5468112"/>
            <a:ext cx="372160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how/what … change · evolve · differ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when … switch · move · relocate · join · quit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from … to · before and after · 如何改變 · 有什麼變化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44183" y="5486400"/>
            <a:ext cx="253288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1">
                <a:solidFill>
                  <a:srgbClr val="141E27"/>
                </a:solidFill>
                <a:latin typeface="Forma DJR Micro"/>
              </a:rPr>
              <a:t>“How did her residence</a:t>
            </a:r>
          </a:p>
          <a:p>
            <a:pPr algn="l">
              <a:spcAft>
                <a:spcPts val="100"/>
              </a:spcAft>
            </a:pPr>
            <a:r>
              <a:rPr sz="1100" b="0" i="1">
                <a:solidFill>
                  <a:srgbClr val="141E27"/>
                </a:solidFill>
                <a:latin typeface="Forma DJR Micro"/>
              </a:rPr>
              <a:t>change after moving?”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33104" y="5468112"/>
            <a:ext cx="24871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all four link types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(supersedes / superseded_by /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  evolves_from / evolves_to)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76304" y="5468112"/>
            <a:ext cx="2441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A524C"/>
                </a:solidFill>
                <a:latin typeface="Forma DJR Micro"/>
              </a:rPr>
              <a:t>TRANSITION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TRANS-LINKED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HISTORICAL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CURRENT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45535D"/>
                </a:solidFill>
                <a:latin typeface="Forma DJR Micro"/>
              </a:rPr>
              <a:t>RAW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6345936"/>
            <a:ext cx="13624560" cy="0"/>
          </a:xfrm>
          <a:prstGeom prst="line">
            <a:avLst/>
          </a:prstGeom>
          <a:ln w="9525">
            <a:solidFill>
              <a:srgbClr val="D8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49224" y="6492240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F766E"/>
                </a:solidFill>
                <a:latin typeface="Forma DJR Micro"/>
              </a:rPr>
              <a:t>NEUTRAL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66544" y="6473951"/>
            <a:ext cx="372160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no temporal cue matched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5535D"/>
                </a:solidFill>
                <a:latin typeface="Courier New"/>
              </a:rPr>
              <a:t>also the fallback on any profiler error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44183" y="6492240"/>
            <a:ext cx="253288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1">
                <a:solidFill>
                  <a:srgbClr val="141E27"/>
                </a:solidFill>
                <a:latin typeface="Forma DJR Micro"/>
              </a:rPr>
              <a:t>“What is her job title?”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33104" y="6473951"/>
            <a:ext cx="24871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5535D"/>
                </a:solidFill>
                <a:latin typeface="Courier New"/>
              </a:rPr>
              <a:t>none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76304" y="6473951"/>
            <a:ext cx="2441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768088"/>
                </a:solidFill>
                <a:latin typeface="Forma DJR Micro"/>
              </a:rPr>
              <a:t>embedding order kept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768088"/>
                </a:solidFill>
                <a:latin typeface="Forma DJR Micro"/>
              </a:rPr>
              <a:t>unchanged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02920" y="7351775"/>
            <a:ext cx="13624560" cy="0"/>
          </a:xfrm>
          <a:prstGeom prst="line">
            <a:avLst/>
          </a:prstGeom>
          <a:ln w="19050">
            <a:solidFill>
              <a:srgbClr val="9CC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02920" y="7534655"/>
            <a:ext cx="136245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768088"/>
                </a:solidFill>
                <a:latin typeface="Forma DJR Micro"/>
              </a:rPr>
              <a:t>Deterministic and LLM-free by design: the view has to be reproducible across runs, and a model call here would enter the per-arm retrieval cost and confound the ablation. Every decision records which rules fired, so profiling is auditable; any failure degrades to NEUTRAL, which expands nothing and leaves the embedding ranking untouched.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