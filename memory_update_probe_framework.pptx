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256032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B6B7A"/>
                </a:solidFill>
                <a:latin typeface="PingFang TC"/>
              </a:rPr>
              <a:t>實驗室進度報告 · MEMORY 架構研究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11338560" cy="4114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933"/>
                </a:solidFill>
                <a:latin typeface="PingFang TC"/>
              </a:rPr>
              <a:t>Memory Update 失敗歸因:探針框架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11338560" cy="27432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B7A"/>
                </a:solidFill>
                <a:latin typeface="PingFang TC"/>
              </a:rPr>
              <a:t>把「更新失敗」拆成一條可量測的管線 —— </a:t>
            </a:r>
            <a:r>
              <a:rPr sz="1250" b="1">
                <a:solidFill>
                  <a:srgbClr val="1F2933"/>
                </a:solidFill>
                <a:latin typeface="PingFang TC"/>
              </a:rPr>
              <a:t>同樣是 update 失敗,不同架構斷在不同關卡;歸因 = 第一個斷掉的階段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1138428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89888"/>
            <a:ext cx="4572000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933"/>
                </a:solidFill>
                <a:latin typeface="PingFang TC"/>
              </a:rPr>
              <a:t>記憶系統完整流程 × 探針掛載點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417319"/>
            <a:ext cx="6126480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F6E6A"/>
                </a:solidFill>
                <a:latin typeface="PingFang TC"/>
              </a:rPr>
              <a:t>■ </a:t>
            </a:r>
            <a:r>
              <a:rPr sz="1050" b="0">
                <a:solidFill>
                  <a:srgbClr val="5B6B7A"/>
                </a:solidFill>
                <a:latin typeface="PingFang TC"/>
              </a:rPr>
              <a:t>寫入路徑   </a:t>
            </a:r>
            <a:r>
              <a:rPr sz="1100" b="1">
                <a:solidFill>
                  <a:srgbClr val="A85A22"/>
                </a:solidFill>
                <a:latin typeface="PingFang TC"/>
              </a:rPr>
              <a:t>■ </a:t>
            </a:r>
            <a:r>
              <a:rPr sz="1050" b="0">
                <a:solidFill>
                  <a:srgbClr val="5B6B7A"/>
                </a:solidFill>
                <a:latin typeface="PingFang TC"/>
              </a:rPr>
              <a:t>讀取路徑   </a:t>
            </a:r>
            <a:r>
              <a:rPr sz="1050" b="0">
                <a:solidFill>
                  <a:srgbClr val="5B6B7A"/>
                </a:solidFill>
                <a:latin typeface="PingFang TC"/>
              </a:rPr>
              <a:t>實線=已回算   虛線=待補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7"/>
            <a:ext cx="5532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F6E6A"/>
                </a:solidFill>
                <a:latin typeface="PingFang TC"/>
              </a:rPr>
              <a:t>WRITE PATH 寫入路徑(架構決定)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65376"/>
            <a:ext cx="5532120" cy="32004"/>
          </a:xfrm>
          <a:prstGeom prst="rect">
            <a:avLst/>
          </a:prstGeom>
          <a:solidFill>
            <a:srgbClr val="0F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664207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B7A"/>
                </a:solidFill>
                <a:latin typeface="PingFang TC"/>
              </a:rPr>
              <a:t>儲存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0488" y="1865376"/>
            <a:ext cx="960120" cy="32004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664207"/>
            <a:ext cx="306324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A85A22"/>
                </a:solidFill>
                <a:latin typeface="PingFang TC"/>
              </a:rPr>
              <a:t>READ PATH 讀取路徑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865376"/>
            <a:ext cx="3063240" cy="32004"/>
          </a:xfrm>
          <a:prstGeom prst="rect">
            <a:avLst/>
          </a:prstGeom>
          <a:solidFill>
            <a:srgbClr val="A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664207"/>
            <a:ext cx="11887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B7A"/>
                </a:solidFill>
                <a:latin typeface="PingFang TC"/>
              </a:rPr>
              <a:t>輸出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865376"/>
            <a:ext cx="1188720" cy="32004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1956815"/>
            <a:ext cx="1298448" cy="475488"/>
          </a:xfrm>
          <a:prstGeom prst="roundRect">
            <a:avLst>
              <a:gd name="adj" fmla="val 10000"/>
            </a:avLst>
          </a:prstGeom>
          <a:solidFill>
            <a:srgbClr val="E1EFED"/>
          </a:solidFill>
          <a:ln w="12700">
            <a:solidFill>
              <a:srgbClr val="0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6E6A"/>
                </a:solidFill>
                <a:latin typeface="PingFang TC"/>
              </a:rPr>
              <a:t>W1 觸發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0F6E6A"/>
                </a:solidFill>
                <a:latin typeface="PingFang TC"/>
              </a:rPr>
              <a:t>要不要記?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84248" y="1956815"/>
            <a:ext cx="1298448" cy="475488"/>
          </a:xfrm>
          <a:prstGeom prst="roundRect">
            <a:avLst>
              <a:gd name="adj" fmla="val 10000"/>
            </a:avLst>
          </a:prstGeom>
          <a:solidFill>
            <a:srgbClr val="E1EFED"/>
          </a:solidFill>
          <a:ln w="12700">
            <a:solidFill>
              <a:srgbClr val="0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6E6A"/>
                </a:solidFill>
                <a:latin typeface="PingFang TC"/>
              </a:rPr>
              <a:t>W2 抽取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0F6E6A"/>
                </a:solidFill>
                <a:latin typeface="PingFang TC"/>
              </a:rPr>
              <a:t>對話 → 事實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9856" y="1956815"/>
            <a:ext cx="1298448" cy="475488"/>
          </a:xfrm>
          <a:prstGeom prst="roundRect">
            <a:avLst>
              <a:gd name="adj" fmla="val 10000"/>
            </a:avLst>
          </a:prstGeom>
          <a:solidFill>
            <a:srgbClr val="E1EFED"/>
          </a:solidFill>
          <a:ln w="12700">
            <a:solidFill>
              <a:srgbClr val="0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6E6A"/>
                </a:solidFill>
                <a:latin typeface="PingFang TC"/>
              </a:rPr>
              <a:t>W3 對齊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0F6E6A"/>
                </a:solidFill>
                <a:latin typeface="PingFang TC"/>
              </a:rPr>
              <a:t>新舊同一件事?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5464" y="1956815"/>
            <a:ext cx="1225296" cy="475488"/>
          </a:xfrm>
          <a:prstGeom prst="roundRect">
            <a:avLst>
              <a:gd name="adj" fmla="val 10000"/>
            </a:avLst>
          </a:prstGeom>
          <a:solidFill>
            <a:srgbClr val="E1EFED"/>
          </a:solidFill>
          <a:ln w="12700">
            <a:solidFill>
              <a:srgbClr val="0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0F6E6A"/>
                </a:solidFill>
                <a:latin typeface="PingFang TC"/>
              </a:rPr>
              <a:t>W4′ 決議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0F6E6A"/>
                </a:solidFill>
                <a:latin typeface="PingFang TC"/>
              </a:rPr>
              <a:t>舊值怎麼處理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956815"/>
            <a:ext cx="960120" cy="475488"/>
          </a:xfrm>
          <a:prstGeom prst="roundRect">
            <a:avLst>
              <a:gd name="adj" fmla="val 10000"/>
            </a:avLst>
          </a:prstGeom>
          <a:solidFill>
            <a:srgbClr val="2E3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2F5F8"/>
                </a:solidFill>
                <a:latin typeface="PingFang TC"/>
              </a:rPr>
              <a:t>記憶庫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956815"/>
            <a:ext cx="1417320" cy="475488"/>
          </a:xfrm>
          <a:prstGeom prst="roundRect">
            <a:avLst>
              <a:gd name="adj" fmla="val 10000"/>
            </a:avLst>
          </a:prstGeom>
          <a:solidFill>
            <a:srgbClr val="F5EBDF"/>
          </a:solidFill>
          <a:ln w="12700">
            <a:solidFill>
              <a:srgbClr val="A85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A85A22"/>
                </a:solidFill>
                <a:latin typeface="PingFang TC"/>
              </a:rPr>
              <a:t>R1 檢索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A85A22"/>
                </a:solidFill>
                <a:latin typeface="PingFang TC"/>
              </a:rPr>
              <a:t>撈出候選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59" y="1956815"/>
            <a:ext cx="1463040" cy="475488"/>
          </a:xfrm>
          <a:prstGeom prst="roundRect">
            <a:avLst>
              <a:gd name="adj" fmla="val 10000"/>
            </a:avLst>
          </a:prstGeom>
          <a:solidFill>
            <a:srgbClr val="F5EBDF"/>
          </a:solidFill>
          <a:ln w="12700">
            <a:solidFill>
              <a:srgbClr val="A85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A85A22"/>
                </a:solidFill>
                <a:latin typeface="PingFang TC"/>
              </a:rPr>
              <a:t>R2 抉擇</a:t>
            </a:r>
          </a:p>
          <a:p>
            <a:pPr algn="ctr">
              <a:spcAft>
                <a:spcPts val="0"/>
              </a:spcAft>
            </a:pPr>
            <a:r>
              <a:rPr sz="900" b="0">
                <a:solidFill>
                  <a:srgbClr val="A85A22"/>
                </a:solidFill>
                <a:latin typeface="PingFang TC"/>
              </a:rPr>
              <a:t>reader 選值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69880" y="1956815"/>
            <a:ext cx="1188720" cy="475488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5B6B7A"/>
                </a:solidFill>
                <a:latin typeface="PingFang TC"/>
              </a:rPr>
              <a:t>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0128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5736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14432" y="2066543"/>
            <a:ext cx="14630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B7A"/>
                </a:solidFill>
                <a:latin typeface="PingFang TC"/>
              </a:rPr>
              <a:t>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88720" y="2432303"/>
            <a:ext cx="18288" cy="91440"/>
          </a:xfrm>
          <a:prstGeom prst="rect">
            <a:avLst/>
          </a:prstGeom>
          <a:solidFill>
            <a:srgbClr val="0F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2523744"/>
            <a:ext cx="1298448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150"/>
              </a:spcAft>
            </a:pPr>
            <a:r>
              <a:rPr sz="1050" b="1">
                <a:solidFill>
                  <a:srgbClr val="0F6E6A"/>
                </a:solidFill>
                <a:latin typeface="PingFang TC"/>
              </a:rPr>
              <a:t>P0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F2933"/>
                </a:solidFill>
                <a:latin typeface="PingFang TC"/>
              </a:rPr>
              <a:t>觸發率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有啟動寫入動作嗎?</a:t>
            </a:r>
          </a:p>
          <a:p>
            <a:pPr algn="l">
              <a:spcAft>
                <a:spcPts val="150"/>
              </a:spcAft>
            </a:pPr>
            <a:r>
              <a:rPr sz="900" b="1">
                <a:solidFill>
                  <a:srgbClr val="1F2933"/>
                </a:solidFill>
                <a:latin typeface="PingFang TC"/>
              </a:rPr>
              <a:t>Letta 0.14 · Graphiti 0.05
機械式恆 1.0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24328" y="2432303"/>
            <a:ext cx="18288" cy="91440"/>
          </a:xfrm>
          <a:prstGeom prst="rect">
            <a:avLst/>
          </a:prstGeom>
          <a:solidFill>
            <a:srgbClr val="0F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984248" y="2523744"/>
            <a:ext cx="1298448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150"/>
              </a:spcAft>
            </a:pPr>
            <a:r>
              <a:rPr sz="1050" b="1">
                <a:solidFill>
                  <a:srgbClr val="0F6E6A"/>
                </a:solidFill>
                <a:latin typeface="PingFang TC"/>
              </a:rPr>
              <a:t>P1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F2933"/>
                </a:solidFill>
                <a:latin typeface="PingFang TC"/>
              </a:rPr>
              <a:t>捕捉(三層級)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Loose 有記到 / Strict 記得對
Distort 失真率 · P1u 更新版</a:t>
            </a:r>
          </a:p>
          <a:p>
            <a:pPr algn="l">
              <a:spcAft>
                <a:spcPts val="150"/>
              </a:spcAft>
            </a:pPr>
            <a:r>
              <a:rPr sz="900" b="1">
                <a:solidFill>
                  <a:srgbClr val="1F2933"/>
                </a:solidFill>
                <a:latin typeface="PingFang TC"/>
              </a:rPr>
              <a:t>Mem0 P1u 0.90
Letta 0.29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59936" y="2432303"/>
            <a:ext cx="18288" cy="91440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19856" y="2523744"/>
            <a:ext cx="1298448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6B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150"/>
              </a:spcAft>
            </a:pPr>
            <a:r>
              <a:rPr sz="1050" b="1">
                <a:solidFill>
                  <a:srgbClr val="5B6B7A"/>
                </a:solidFill>
                <a:latin typeface="PingFang TC"/>
              </a:rPr>
              <a:t>P2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F2933"/>
                </a:solidFill>
                <a:latin typeface="PingFang TC"/>
              </a:rPr>
              <a:t>對齊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v1/v2 被認出是同一件事嗎?
寫入時檢索失敗 = 永久污染</a:t>
            </a:r>
          </a:p>
          <a:p>
            <a:pPr algn="l">
              <a:spcAft>
                <a:spcPts val="15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需 dump 記憶庫重跑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58968" y="2432303"/>
            <a:ext cx="18288" cy="91440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55464" y="2523744"/>
            <a:ext cx="122529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6B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150"/>
              </a:spcAft>
            </a:pPr>
            <a:r>
              <a:rPr sz="1050" b="1">
                <a:solidFill>
                  <a:srgbClr val="5B6B7A"/>
                </a:solidFill>
                <a:latin typeface="PingFang TC"/>
              </a:rPr>
              <a:t>P3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F2933"/>
                </a:solidFill>
                <a:latin typeface="PingFang TC"/>
              </a:rPr>
              <a:t>決議(四分類)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舊值下場:刪除/標失效/
並存/沒動</a:t>
            </a:r>
          </a:p>
          <a:p>
            <a:pPr algn="l">
              <a:spcAft>
                <a:spcPts val="15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需加儀器重跑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68996" y="2432303"/>
            <a:ext cx="18288" cy="91440"/>
          </a:xfrm>
          <a:prstGeom prst="rect">
            <a:avLst/>
          </a:prstGeom>
          <a:solidFill>
            <a:srgbClr val="A85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69480" y="2523744"/>
            <a:ext cx="141732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A85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150"/>
              </a:spcAft>
            </a:pPr>
            <a:r>
              <a:rPr sz="1050" b="1">
                <a:solidFill>
                  <a:srgbClr val="A85A22"/>
                </a:solidFill>
                <a:latin typeface="PingFang TC"/>
              </a:rPr>
              <a:t>P4·P4b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F2933"/>
                </a:solidFill>
                <a:latin typeface="PingFang TC"/>
              </a:rPr>
              <a:t>新值可檢索 / 舊值污染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新值找得到?context 被
過時值污染?</a:t>
            </a:r>
          </a:p>
          <a:p>
            <a:pPr algn="l">
              <a:spcAft>
                <a:spcPts val="150"/>
              </a:spcAft>
            </a:pPr>
            <a:r>
              <a:rPr sz="900" b="1">
                <a:solidFill>
                  <a:srgbClr val="1F2933"/>
                </a:solidFill>
                <a:latin typeface="PingFang TC"/>
              </a:rPr>
              <a:t>Mem0 NewRet 0.73
Stale 0.31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6" y="2432303"/>
            <a:ext cx="18288" cy="91440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23959" y="2523744"/>
            <a:ext cx="1463040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5B6B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 tIns="36576" bIns="36576"/>
          <a:lstStyle/>
          <a:p>
            <a:pPr algn="l">
              <a:spcAft>
                <a:spcPts val="150"/>
              </a:spcAft>
            </a:pPr>
            <a:r>
              <a:rPr sz="1050" b="1">
                <a:solidFill>
                  <a:srgbClr val="5B6B7A"/>
                </a:solidFill>
                <a:latin typeface="PingFang TC"/>
              </a:rPr>
              <a:t>P5</a:t>
            </a:r>
          </a:p>
          <a:p>
            <a:pPr algn="l">
              <a:spcAft>
                <a:spcPts val="150"/>
              </a:spcAft>
            </a:pPr>
            <a:r>
              <a:rPr sz="1100" b="1">
                <a:solidFill>
                  <a:srgbClr val="1F2933"/>
                </a:solidFill>
                <a:latin typeface="PingFang TC"/>
              </a:rPr>
              <a:t>抉擇</a:t>
            </a:r>
          </a:p>
          <a:p>
            <a:pPr algn="l">
              <a:spcAft>
                <a:spcPts val="15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新舊並存時 reader 挑對嗎?
142 對 v1/v2 × 3 種標註</a:t>
            </a:r>
          </a:p>
          <a:p>
            <a:pPr algn="l">
              <a:spcAft>
                <a:spcPts val="15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待跑(免重跑 backend)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4069080"/>
            <a:ext cx="6537960" cy="24871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160520"/>
            <a:ext cx="6217920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933"/>
                </a:solidFill>
                <a:latin typeface="PingFang TC"/>
              </a:rPr>
              <a:t>更新漏斗 · 已回算數據</a:t>
            </a:r>
            <a:r>
              <a:rPr sz="900" b="0">
                <a:solidFill>
                  <a:srgbClr val="5B6B7A"/>
                </a:solidFill>
                <a:latin typeface="PingFang TC"/>
              </a:rPr>
              <a:t>    HaluMem user1 · 142 更新點(Zep=user0)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489704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架構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489704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P0 觸發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62072" y="4489704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P1 Strict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95344" y="4489704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P1u 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8616" y="4489704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P4 NewRet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4489704"/>
            <a:ext cx="96012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P4b Stale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" y="4700016"/>
            <a:ext cx="6208776" cy="10972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727448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933"/>
                </a:solidFill>
                <a:latin typeface="PingFang TC"/>
              </a:rPr>
              <a:t>Mem0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28800" y="4727448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1.00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62072" y="4727448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0.68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95344" y="4727448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8616" y="4727448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0.73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61888" y="4727448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4974336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933"/>
                </a:solidFill>
                <a:latin typeface="PingFang TC"/>
              </a:rPr>
              <a:t>A-MEM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4974336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1.00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2072" y="4974336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0.57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95344" y="4974336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0.74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28616" y="4974336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0.46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61888" y="4974336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0.32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5221223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933"/>
                </a:solidFill>
                <a:latin typeface="PingFang TC"/>
              </a:rPr>
              <a:t>RAG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221223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1.00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62072" y="5221223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0.57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95344" y="5221223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28616" y="5221223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0.48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61888" y="5221223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5468111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933"/>
                </a:solidFill>
                <a:latin typeface="PingFang TC"/>
              </a:rPr>
              <a:t>Zep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28800" y="5468111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1.00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62072" y="5468111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0.56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95344" y="5468111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0.65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28616" y="5468111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0.39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61888" y="5468111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0.16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5714999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933"/>
                </a:solidFill>
                <a:latin typeface="PingFang TC"/>
              </a:rPr>
              <a:t>Letta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0" y="5714999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0.14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862072" y="5705855"/>
            <a:ext cx="960120" cy="214884"/>
          </a:xfrm>
          <a:prstGeom prst="roundRect">
            <a:avLst>
              <a:gd name="adj" fmla="val 10000"/>
            </a:avLst>
          </a:prstGeom>
          <a:solidFill>
            <a:srgbClr val="F7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862072" y="5714999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3392E"/>
                </a:solidFill>
                <a:latin typeface="PingFang TC"/>
              </a:rPr>
              <a:t>0.41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95344" y="5714999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0.29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28616" y="5714999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61888" y="5714999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0.24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5961887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2933"/>
                </a:solidFill>
                <a:latin typeface="PingFang TC"/>
              </a:rPr>
              <a:t>Graphiti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0" y="5961887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0.05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862072" y="5952743"/>
            <a:ext cx="960120" cy="214884"/>
          </a:xfrm>
          <a:prstGeom prst="roundRect">
            <a:avLst>
              <a:gd name="adj" fmla="val 10000"/>
            </a:avLst>
          </a:prstGeom>
          <a:solidFill>
            <a:srgbClr val="F7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62072" y="5961887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3392E"/>
                </a:solidFill>
                <a:latin typeface="PingFang TC"/>
              </a:rPr>
              <a:t>0.06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95344" y="5952743"/>
            <a:ext cx="960120" cy="214884"/>
          </a:xfrm>
          <a:prstGeom prst="roundRect">
            <a:avLst>
              <a:gd name="adj" fmla="val 10000"/>
            </a:avLst>
          </a:prstGeom>
          <a:solidFill>
            <a:srgbClr val="F7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95344" y="5961887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3392E"/>
                </a:solidFill>
                <a:latin typeface="PingFang TC"/>
              </a:rPr>
              <a:t>0.28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28616" y="5961887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0.09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61888" y="5961887"/>
            <a:ext cx="960120" cy="219456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2933"/>
                </a:solidFill>
                <a:latin typeface="PingFang TC"/>
              </a:rPr>
              <a:t>0.08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6236207"/>
            <a:ext cx="6172200" cy="29260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B3392E"/>
                </a:solidFill>
                <a:latin typeface="PingFang TC"/>
              </a:rPr>
              <a:t>紅色 = 該架構第一個斷點。</a:t>
            </a:r>
            <a:r>
              <a:rPr sz="850" b="0">
                <a:solidFill>
                  <a:srgbClr val="5B6B7A"/>
                </a:solidFill>
                <a:latin typeface="PingFang TC"/>
              </a:rPr>
              <a:t>LongMemEval 獨立驗證:Letta P0 = 0.124(與 HaluMem 0.139 吻合)。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114032" y="4069080"/>
            <a:ext cx="4681728" cy="24871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78624" y="4160520"/>
            <a:ext cx="4352544" cy="2286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933"/>
                </a:solidFill>
                <a:latin typeface="PingFang TC"/>
              </a:rPr>
              <a:t>三個已成立的發現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78624" y="4443984"/>
            <a:ext cx="4352544" cy="4572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B7A"/>
                </a:solidFill>
                <a:latin typeface="PingFang TC"/>
              </a:rPr>
              <a:t>① </a:t>
            </a:r>
            <a:r>
              <a:rPr sz="1000" b="1">
                <a:solidFill>
                  <a:srgbClr val="1F2933"/>
                </a:solidFill>
                <a:latin typeface="PingFang TC"/>
              </a:rPr>
              <a:t>P0 把「自主式 vs 機械式」切開</a:t>
            </a:r>
            <a:r>
              <a:rPr sz="1000" b="0">
                <a:solidFill>
                  <a:srgbClr val="5B6B7A"/>
                </a:solidFill>
                <a:latin typeface="PingFang TC"/>
              </a:rPr>
              <a:t> —— agent 自主寫入在弱模型下失效(Letta 僅 14% session 有寫入),pipeline 架構免疫。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78624" y="4791456"/>
            <a:ext cx="4352544" cy="4572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B7A"/>
                </a:solidFill>
                <a:latin typeface="PingFang TC"/>
              </a:rPr>
              <a:t>② </a:t>
            </a:r>
            <a:r>
              <a:rPr sz="1000" b="1">
                <a:solidFill>
                  <a:srgbClr val="1F2933"/>
                </a:solidFill>
                <a:latin typeface="PingFang TC"/>
              </a:rPr>
              <a:t>Graphiti 斷在最前端</a:t>
            </a:r>
            <a:r>
              <a:rPr sz="1000" b="0">
                <a:solidFill>
                  <a:srgbClr val="5B6B7A"/>
                </a:solidFill>
                <a:latin typeface="PingFang TC"/>
              </a:rPr>
              <a:t> —— 幾乎不寫入(P0 0.05),抽到的內容 6 成失真。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78624" y="5138928"/>
            <a:ext cx="4352544" cy="45720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B7A"/>
                </a:solidFill>
                <a:latin typeface="PingFang TC"/>
              </a:rPr>
              <a:t>③ </a:t>
            </a:r>
            <a:r>
              <a:rPr sz="1000" b="1">
                <a:solidFill>
                  <a:srgbClr val="1F2933"/>
                </a:solidFill>
                <a:latin typeface="PingFang TC"/>
              </a:rPr>
              <a:t>Mem0 寫入全過、斷在最後</a:t>
            </a:r>
            <a:r>
              <a:rPr sz="1000" b="0">
                <a:solidFill>
                  <a:srgbClr val="5B6B7A"/>
                </a:solidFill>
                <a:latin typeface="PingFang TC"/>
              </a:rPr>
              <a:t> —— 新值 80% 已在 context、更新捕捉 0.90,但 know-update 正確率僅 0.20 → 問題在 reader 抉擇(P5)。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278624" y="5504688"/>
            <a:ext cx="4352544" cy="10972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278624" y="5559552"/>
            <a:ext cx="4352544" cy="182880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5B6B7A"/>
                </a:solidFill>
                <a:latin typeface="PingFang TC"/>
              </a:rPr>
              <a:t>下一步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78624" y="5779008"/>
            <a:ext cx="4352544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1. </a:t>
            </a:r>
            <a:r>
              <a:rPr sz="900" b="1">
                <a:solidFill>
                  <a:srgbClr val="1F2933"/>
                </a:solidFill>
                <a:latin typeface="PingFang TC"/>
              </a:rPr>
              <a:t>加儀器重跑</a:t>
            </a:r>
            <a:r>
              <a:rPr sz="900" b="0">
                <a:solidFill>
                  <a:srgbClr val="5B6B7A"/>
                </a:solidFill>
                <a:latin typeface="PingFang TC"/>
              </a:rPr>
              <a:t> → 補齊 P2 對齊 + P3 決議(dump 記憶庫、event log、invalid_at)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78624" y="6025896"/>
            <a:ext cx="4352544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2. </a:t>
            </a:r>
            <a:r>
              <a:rPr sz="900" b="1">
                <a:solidFill>
                  <a:srgbClr val="1F2933"/>
                </a:solidFill>
                <a:latin typeface="PingFang TC"/>
              </a:rPr>
              <a:t>P5 reader 抉擇實驗</a:t>
            </a:r>
            <a:r>
              <a:rPr sz="900" b="0">
                <a:solidFill>
                  <a:srgbClr val="5B6B7A"/>
                </a:solidFill>
                <a:latin typeface="PingFang TC"/>
              </a:rPr>
              <a:t> → 免重跑,驗證時序標註能否修復 Mem0 的 0.80→0.20 落差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78624" y="6272783"/>
            <a:ext cx="4352544" cy="38404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6B7A"/>
                </a:solidFill>
                <a:latin typeface="PingFang TC"/>
              </a:rPr>
              <a:t>3. </a:t>
            </a:r>
            <a:r>
              <a:rPr sz="900" b="1">
                <a:solidFill>
                  <a:srgbClr val="1F2933"/>
                </a:solidFill>
                <a:latin typeface="PingFang TC"/>
              </a:rPr>
              <a:t>產出「情境 × 架構」結論</a:t>
            </a:r>
            <a:r>
              <a:rPr sz="900" b="0">
                <a:solidFill>
                  <a:srgbClr val="5B6B7A"/>
                </a:solidFill>
                <a:latin typeface="PingFang TC"/>
              </a:rPr>
              <a:t> → 哪種更新情境該用哪種記憶架構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592824"/>
            <a:ext cx="11384280" cy="201168"/>
          </a:xfrm>
          <a:prstGeom prst="rect">
            <a:avLst/>
          </a:prstGeom>
          <a:noFill/>
        </p:spPr>
        <p:txBody>
          <a:bodyPr wrap="square" lIns="64008" rIns="64008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B7A"/>
                </a:solidFill>
                <a:latin typeface="PingFang TC"/>
              </a:rPr>
              <a:t>資料:experiment_results.xlsx(HaluMem 22 runs · LongMemEval 9 runs)· 統一 reader:gemma-4-E4B · 2026-08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