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2801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Forma DJR Display"/>
              </a:rPr>
              <a:t>Accuracy by Functional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2801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i="1">
                <a:solidFill>
                  <a:srgbClr val="84909C"/>
                </a:solidFill>
                <a:latin typeface="Forma DJR Micro"/>
              </a:rPr>
              <a:t>Questions pooled across benchmarks by what a correct answer demands of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12280"/>
            <a:ext cx="1362456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i="1">
                <a:solidFill>
                  <a:srgbClr val="84909C"/>
                </a:solidFill>
                <a:latin typeface="Forma DJR Micro"/>
              </a:rPr>
              <a:t>Note. ↑ higher is better. Best in bold, second-best underlined. Batch ⑥: all five backends on gemma-4-31B-it, top-k = 20. Each cell pools every sub-dataset in that group and reports the question-weighted mean, over 168 / 62 / 13 / 40 / 40 / 184 / 109 questions respectively. StructMem's per-subset denominators differ slightly (166 / 60 / 13 / 40 / 35 / 203 / 91), so its cells rest on a marginally different question set.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3661136" cy="4983480"/>
        </p:xfrm>
        <a:graphic>
          <a:graphicData uri="http://schemas.openxmlformats.org/drawingml/2006/table">
            <a:tbl>
              <a:tblPr/>
              <a:tblGrid>
                <a:gridCol w="1691640"/>
                <a:gridCol w="1709928"/>
                <a:gridCol w="1709928"/>
                <a:gridCol w="1709928"/>
                <a:gridCol w="1709928"/>
                <a:gridCol w="1709928"/>
                <a:gridCol w="1709928"/>
                <a:gridCol w="1709928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Backend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Single-point</a:t>
                      </a:r>
                    </a:p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recall ↑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Multi-hop</a:t>
                      </a:r>
                    </a:p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composition ↑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Multi-memory,</a:t>
                      </a:r>
                    </a:p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parallel ↑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Temporal</a:t>
                      </a:r>
                    </a:p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reasoning ↑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Post-update</a:t>
                      </a:r>
                    </a:p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value ↑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Abstention and</a:t>
                      </a:r>
                    </a:p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correction ↑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Application and</a:t>
                      </a:r>
                    </a:p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extrapolation ↑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Mem0 v1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32.7%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33.9%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38.5%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0.0%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23.4%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94.9%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12.8%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Mem0 v2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53.0%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sng">
                          <a:solidFill>
                            <a:srgbClr val="1B2A3A"/>
                          </a:solidFill>
                          <a:latin typeface="Forma DJR Micro"/>
                        </a:rPr>
                        <a:t>38.7%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38.5%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sng">
                          <a:solidFill>
                            <a:srgbClr val="1B2A3A"/>
                          </a:solidFill>
                          <a:latin typeface="Forma DJR Micro"/>
                        </a:rPr>
                        <a:t>7.5%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29.0%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94.9%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21.1%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StructMem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50.0%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38.3%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61.5%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82.5%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29.4%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58.9%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15.4%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A-MEM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59.5%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24.2%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sng">
                          <a:solidFill>
                            <a:srgbClr val="1B2A3A"/>
                          </a:solidFill>
                          <a:latin typeface="Forma DJR Micro"/>
                        </a:rPr>
                        <a:t>53.8%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2.5%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sng">
                          <a:solidFill>
                            <a:srgbClr val="1B2A3A"/>
                          </a:solidFill>
                          <a:latin typeface="Forma DJR Micro"/>
                        </a:rPr>
                        <a:t>51.4%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sng">
                          <a:solidFill>
                            <a:srgbClr val="1B2A3A"/>
                          </a:solidFill>
                          <a:latin typeface="Forma DJR Micro"/>
                        </a:rPr>
                        <a:t>90.6%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25.7%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Letta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sng">
                          <a:solidFill>
                            <a:srgbClr val="1B2A3A"/>
                          </a:solidFill>
                          <a:latin typeface="Forma DJR Micro"/>
                        </a:rPr>
                        <a:t>57.1%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45.2%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15.4%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2.5%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62.6%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94.9%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sng">
                          <a:solidFill>
                            <a:srgbClr val="1B2A3A"/>
                          </a:solidFill>
                          <a:latin typeface="Forma DJR Micro"/>
                        </a:rPr>
                        <a:t>22.9%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2801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Forma DJR Display"/>
              </a:rPr>
              <a:t>Stage Profile Averaged Across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2801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i="1">
                <a:solidFill>
                  <a:srgbClr val="84909C"/>
                </a:solidFill>
                <a:latin typeface="Forma DJR Micro"/>
              </a:rPr>
              <a:t>Where each backend loses its questions, and what it scores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12280"/>
            <a:ext cx="1362456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i="1">
                <a:solidFill>
                  <a:srgbClr val="84909C"/>
                </a:solidFill>
                <a:latin typeface="Forma DJR Micro"/>
              </a:rPr>
              <a:t>Note. ↑ higher is better; ↓ lower is better. Best in bold, second-best underlined. Batch ⑥: all five backends on gemma-4-31B-it, top-k = 20. Each cell is the unweighted mean over LongMemEval (22 questions), LoCoMo (199) and HaluMem (360), so no benchmark dominates by size. Within a benchmark P1 + P4 + P5 sum to the error rate, but the averaged columns need not, because QA is averaged over the same three benchmarks independently. MemFail is excluded: it reports its own official error categories rather than the probes.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25880" y="1783080"/>
          <a:ext cx="11978640" cy="4754880"/>
        </p:xfrm>
        <a:graphic>
          <a:graphicData uri="http://schemas.openxmlformats.org/drawingml/2006/table">
            <a:tbl>
              <a:tblPr/>
              <a:tblGrid>
                <a:gridCol w="2651760"/>
                <a:gridCol w="2331720"/>
                <a:gridCol w="2331720"/>
                <a:gridCol w="2331720"/>
                <a:gridCol w="233172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Backend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Summary</a:t>
                      </a:r>
                    </a:p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P1 fail ↓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Retrieval</a:t>
                      </a:r>
                    </a:p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P4 fail ↓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Reasoning</a:t>
                      </a:r>
                    </a:p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P5 fail ↓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Memory Performance</a:t>
                      </a:r>
                    </a:p>
                    <a:p>
                      <a:pPr algn="ctr"/>
                      <a:r>
                        <a:rPr sz="1250" b="1" u="none">
                          <a:solidFill>
                            <a:srgbClr val="5A6B80"/>
                          </a:solidFill>
                          <a:latin typeface="Forma DJR Micro"/>
                        </a:rPr>
                        <a:t>QA ↑</a:t>
                      </a:r>
                    </a:p>
                  </a:txBody>
                  <a:tcPr marL="54864" marR="54864" marT="36576" marB="36576" anchor="ctr">
                    <a:lnB w="15875" cap="flat" cmpd="sng" algn="ctr">
                      <a:solidFill>
                        <a:srgbClr val="1B2A3A"/>
                      </a:solidFill>
                    </a:lnB>
                    <a:lnT w="25400" cap="flat" cmpd="sng" algn="ctr">
                      <a:solidFill>
                        <a:srgbClr val="1B2A3A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Mem0 v1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20.1%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13.9%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31.2%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39.8%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Mem0 v2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17.0%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13.8%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sng">
                          <a:solidFill>
                            <a:srgbClr val="1B2A3A"/>
                          </a:solidFill>
                          <a:latin typeface="Forma DJR Micro"/>
                        </a:rPr>
                        <a:t>27.8%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46.0%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StructMem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14.3%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sng">
                          <a:solidFill>
                            <a:srgbClr val="1B2A3A"/>
                          </a:solidFill>
                          <a:latin typeface="Forma DJR Micro"/>
                        </a:rPr>
                        <a:t>6.7%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33.7%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46.3%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A-MEM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sng">
                          <a:solidFill>
                            <a:srgbClr val="1B2A3A"/>
                          </a:solidFill>
                          <a:latin typeface="Forma DJR Micro"/>
                        </a:rPr>
                        <a:t>16.5%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8.0%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29.2%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sng">
                          <a:solidFill>
                            <a:srgbClr val="1B2A3A"/>
                          </a:solidFill>
                          <a:latin typeface="Forma DJR Micro"/>
                        </a:rPr>
                        <a:t>49.4%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Letta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u="none">
                          <a:solidFill>
                            <a:srgbClr val="1B2A3A"/>
                          </a:solidFill>
                          <a:latin typeface="Forma DJR Micro"/>
                        </a:rPr>
                        <a:t>31.0%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2.9%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18.6%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u="none">
                          <a:solidFill>
                            <a:srgbClr val="1B2A3A"/>
                          </a:solidFill>
                          <a:latin typeface="Forma DJR Micro"/>
                        </a:rPr>
                        <a:t>50.8%</a:t>
                      </a:r>
                    </a:p>
                  </a:txBody>
                  <a:tcPr marL="54864" marR="54864" marT="36576" marB="36576" anchor="ctr">
                    <a:lnB w="25400" cap="flat" cmpd="sng" algn="ctr">
                      <a:solidFill>
                        <a:srgbClr val="1B2A3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