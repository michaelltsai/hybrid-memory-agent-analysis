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106" name="Rectangle 105"/>
          <p:cNvSpPr/>
          <p:nvPr/>
        </p:nvSpPr>
        <p:spPr>
          <a:xfrm>
            <a:off x="448056" y="4773168"/>
            <a:ext cx="5687568" cy="256032"/>
          </a:xfrm>
          <a:prstGeom prst="rect">
            <a:avLst/>
          </a:prstGeom>
          <a:solidFill>
            <a:srgbClr val="F3F6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9" name="Rectangle 48"/>
          <p:cNvSpPr/>
          <p:nvPr/>
        </p:nvSpPr>
        <p:spPr>
          <a:xfrm>
            <a:off x="448056" y="2514600"/>
            <a:ext cx="10643615" cy="256032"/>
          </a:xfrm>
          <a:prstGeom prst="rect">
            <a:avLst/>
          </a:prstGeom>
          <a:solidFill>
            <a:srgbClr val="F3F6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 name="Rectangle 1"/>
          <p:cNvSpPr/>
          <p:nvPr/>
        </p:nvSpPr>
        <p:spPr>
          <a:xfrm>
            <a:off x="0" y="0"/>
            <a:ext cx="1874519" cy="274320"/>
          </a:xfrm>
          <a:prstGeom prst="rect">
            <a:avLst/>
          </a:prstGeom>
          <a:solidFill>
            <a:srgbClr val="F0F1F3"/>
          </a:solidFill>
          <a:ln w="6350">
            <a:solidFill>
              <a:srgbClr val="7E8D9B"/>
            </a:solidFill>
          </a:ln>
          <a:effectLst/>
        </p:spPr>
        <p:style>
          <a:lnRef idx="1">
            <a:schemeClr val="accent1"/>
          </a:lnRef>
          <a:fillRef idx="3">
            <a:schemeClr val="accent1"/>
          </a:fillRef>
          <a:effectRef idx="2">
            <a:schemeClr val="accent1"/>
          </a:effectRef>
          <a:fontRef idx="minor">
            <a:schemeClr val="lt1"/>
          </a:fontRef>
        </p:style>
        <p:txBody>
          <a:bodyPr rtlCol="0" anchor="ctr" lIns="25400" rIns="25400"/>
          <a:lstStyle/>
          <a:p>
            <a:pPr algn="ctr"/>
            <a:r>
              <a:rPr sz="950">
                <a:solidFill>
                  <a:srgbClr val="141E27"/>
                </a:solidFill>
                <a:latin typeface="Helvetica Neue"/>
              </a:rPr>
              <a:t>Problem &amp; Motivation</a:t>
            </a:r>
          </a:p>
        </p:txBody>
      </p:sp>
      <p:sp>
        <p:nvSpPr>
          <p:cNvPr id="3" name="Rectangle 2"/>
          <p:cNvSpPr/>
          <p:nvPr/>
        </p:nvSpPr>
        <p:spPr>
          <a:xfrm>
            <a:off x="1874519" y="0"/>
            <a:ext cx="1051560" cy="274320"/>
          </a:xfrm>
          <a:prstGeom prst="rect">
            <a:avLst/>
          </a:prstGeom>
          <a:solidFill>
            <a:srgbClr val="F0F1F3"/>
          </a:solidFill>
          <a:ln w="6350">
            <a:solidFill>
              <a:srgbClr val="7E8D9B"/>
            </a:solidFill>
          </a:ln>
          <a:effectLst/>
        </p:spPr>
        <p:style>
          <a:lnRef idx="1">
            <a:schemeClr val="accent1"/>
          </a:lnRef>
          <a:fillRef idx="3">
            <a:schemeClr val="accent1"/>
          </a:fillRef>
          <a:effectRef idx="2">
            <a:schemeClr val="accent1"/>
          </a:effectRef>
          <a:fontRef idx="minor">
            <a:schemeClr val="lt1"/>
          </a:fontRef>
        </p:style>
        <p:txBody>
          <a:bodyPr rtlCol="0" anchor="ctr" lIns="25400" rIns="25400"/>
          <a:lstStyle/>
          <a:p>
            <a:pPr algn="ctr"/>
            <a:r>
              <a:rPr sz="950">
                <a:solidFill>
                  <a:srgbClr val="141E27"/>
                </a:solidFill>
                <a:latin typeface="Helvetica Neue"/>
              </a:rPr>
              <a:t>RQ</a:t>
            </a:r>
          </a:p>
        </p:txBody>
      </p:sp>
      <p:sp>
        <p:nvSpPr>
          <p:cNvPr id="4" name="Rectangle 3"/>
          <p:cNvSpPr/>
          <p:nvPr/>
        </p:nvSpPr>
        <p:spPr>
          <a:xfrm>
            <a:off x="2926079" y="0"/>
            <a:ext cx="2560320" cy="274320"/>
          </a:xfrm>
          <a:prstGeom prst="rect">
            <a:avLst/>
          </a:prstGeom>
          <a:solidFill>
            <a:srgbClr val="F0F1F3"/>
          </a:solidFill>
          <a:ln w="6350">
            <a:solidFill>
              <a:srgbClr val="7E8D9B"/>
            </a:solidFill>
          </a:ln>
          <a:effectLst/>
        </p:spPr>
        <p:style>
          <a:lnRef idx="1">
            <a:schemeClr val="accent1"/>
          </a:lnRef>
          <a:fillRef idx="3">
            <a:schemeClr val="accent1"/>
          </a:fillRef>
          <a:effectRef idx="2">
            <a:schemeClr val="accent1"/>
          </a:effectRef>
          <a:fontRef idx="minor">
            <a:schemeClr val="lt1"/>
          </a:fontRef>
        </p:style>
        <p:txBody>
          <a:bodyPr rtlCol="0" anchor="ctr" lIns="25400" rIns="25400"/>
          <a:lstStyle/>
          <a:p>
            <a:pPr algn="ctr"/>
            <a:r>
              <a:rPr sz="950">
                <a:solidFill>
                  <a:srgbClr val="141E27"/>
                </a:solidFill>
                <a:latin typeface="Helvetica Neue"/>
              </a:rPr>
              <a:t>Methodology</a:t>
            </a:r>
          </a:p>
        </p:txBody>
      </p:sp>
      <p:sp>
        <p:nvSpPr>
          <p:cNvPr id="5" name="Rectangle 4"/>
          <p:cNvSpPr/>
          <p:nvPr/>
        </p:nvSpPr>
        <p:spPr>
          <a:xfrm>
            <a:off x="5486400" y="0"/>
            <a:ext cx="2103120" cy="274320"/>
          </a:xfrm>
          <a:prstGeom prst="rect">
            <a:avLst/>
          </a:prstGeom>
          <a:solidFill>
            <a:srgbClr val="8AA9F7"/>
          </a:solidFill>
          <a:ln w="6350">
            <a:solidFill>
              <a:srgbClr val="7E8D9B"/>
            </a:solidFill>
          </a:ln>
          <a:effectLst/>
        </p:spPr>
        <p:style>
          <a:lnRef idx="1">
            <a:schemeClr val="accent1"/>
          </a:lnRef>
          <a:fillRef idx="3">
            <a:schemeClr val="accent1"/>
          </a:fillRef>
          <a:effectRef idx="2">
            <a:schemeClr val="accent1"/>
          </a:effectRef>
          <a:fontRef idx="minor">
            <a:schemeClr val="lt1"/>
          </a:fontRef>
        </p:style>
        <p:txBody>
          <a:bodyPr rtlCol="0" anchor="ctr" lIns="25400" rIns="25400"/>
          <a:lstStyle/>
          <a:p>
            <a:pPr algn="ctr"/>
            <a:r>
              <a:rPr sz="950">
                <a:solidFill>
                  <a:srgbClr val="141E27"/>
                </a:solidFill>
                <a:latin typeface="Helvetica Neue"/>
              </a:rPr>
              <a:t>Experimental Results &amp; Analysis</a:t>
            </a:r>
          </a:p>
        </p:txBody>
      </p:sp>
      <p:sp>
        <p:nvSpPr>
          <p:cNvPr id="6" name="Rectangle 5"/>
          <p:cNvSpPr/>
          <p:nvPr/>
        </p:nvSpPr>
        <p:spPr>
          <a:xfrm>
            <a:off x="7589520" y="0"/>
            <a:ext cx="2423160" cy="274320"/>
          </a:xfrm>
          <a:prstGeom prst="rect">
            <a:avLst/>
          </a:prstGeom>
          <a:solidFill>
            <a:srgbClr val="F0F1F3"/>
          </a:solidFill>
          <a:ln w="6350">
            <a:solidFill>
              <a:srgbClr val="7E8D9B"/>
            </a:solidFill>
          </a:ln>
          <a:effectLst/>
        </p:spPr>
        <p:style>
          <a:lnRef idx="1">
            <a:schemeClr val="accent1"/>
          </a:lnRef>
          <a:fillRef idx="3">
            <a:schemeClr val="accent1"/>
          </a:fillRef>
          <a:effectRef idx="2">
            <a:schemeClr val="accent1"/>
          </a:effectRef>
          <a:fontRef idx="minor">
            <a:schemeClr val="lt1"/>
          </a:fontRef>
        </p:style>
        <p:txBody>
          <a:bodyPr rtlCol="0" anchor="ctr" lIns="25400" rIns="25400"/>
          <a:lstStyle/>
          <a:p>
            <a:pPr algn="ctr"/>
            <a:r>
              <a:rPr sz="950">
                <a:solidFill>
                  <a:srgbClr val="141E27"/>
                </a:solidFill>
                <a:latin typeface="Helvetica Neue"/>
              </a:rPr>
              <a:t>Proposed Improvements</a:t>
            </a:r>
          </a:p>
        </p:txBody>
      </p:sp>
      <p:sp>
        <p:nvSpPr>
          <p:cNvPr id="7" name="Rectangle 6"/>
          <p:cNvSpPr/>
          <p:nvPr/>
        </p:nvSpPr>
        <p:spPr>
          <a:xfrm>
            <a:off x="10012680" y="0"/>
            <a:ext cx="2176272" cy="274320"/>
          </a:xfrm>
          <a:prstGeom prst="rect">
            <a:avLst/>
          </a:prstGeom>
          <a:solidFill>
            <a:srgbClr val="F0F1F3"/>
          </a:solidFill>
          <a:ln w="6350">
            <a:solidFill>
              <a:srgbClr val="7E8D9B"/>
            </a:solidFill>
          </a:ln>
          <a:effectLst/>
        </p:spPr>
        <p:style>
          <a:lnRef idx="1">
            <a:schemeClr val="accent1"/>
          </a:lnRef>
          <a:fillRef idx="3">
            <a:schemeClr val="accent1"/>
          </a:fillRef>
          <a:effectRef idx="2">
            <a:schemeClr val="accent1"/>
          </a:effectRef>
          <a:fontRef idx="minor">
            <a:schemeClr val="lt1"/>
          </a:fontRef>
        </p:style>
        <p:txBody>
          <a:bodyPr rtlCol="0" anchor="ctr" lIns="25400" rIns="25400"/>
          <a:lstStyle/>
          <a:p>
            <a:pPr algn="ctr"/>
            <a:r>
              <a:rPr sz="950">
                <a:solidFill>
                  <a:srgbClr val="141E27"/>
                </a:solidFill>
                <a:latin typeface="Helvetica Neue"/>
              </a:rPr>
              <a:t>Validation &amp; Conclusions</a:t>
            </a:r>
          </a:p>
        </p:txBody>
      </p:sp>
      <p:sp>
        <p:nvSpPr>
          <p:cNvPr id="8" name="TextBox 7"/>
          <p:cNvSpPr txBox="1"/>
          <p:nvPr/>
        </p:nvSpPr>
        <p:spPr>
          <a:xfrm>
            <a:off x="502920" y="457200"/>
            <a:ext cx="11155680" cy="420624"/>
          </a:xfrm>
          <a:prstGeom prst="rect">
            <a:avLst/>
          </a:prstGeom>
          <a:noFill/>
        </p:spPr>
        <p:txBody>
          <a:bodyPr wrap="square" lIns="0" rIns="0" tIns="0" bIns="0" anchor="ctr">
            <a:spAutoFit/>
          </a:bodyPr>
          <a:lstStyle/>
          <a:p>
            <a:pPr algn="l"/>
            <a:r>
              <a:rPr sz="2300" b="1" i="0" u="none">
                <a:solidFill>
                  <a:srgbClr val="141E27"/>
                </a:solidFill>
                <a:latin typeface="Helvetica Neue"/>
              </a:rPr>
              <a:t>StructMem: the Errors That Are Left Sit at the Answer</a:t>
            </a:r>
          </a:p>
        </p:txBody>
      </p:sp>
      <p:sp>
        <p:nvSpPr>
          <p:cNvPr id="9" name="TextBox 8"/>
          <p:cNvSpPr txBox="1"/>
          <p:nvPr/>
        </p:nvSpPr>
        <p:spPr>
          <a:xfrm>
            <a:off x="502920" y="896112"/>
            <a:ext cx="11155680" cy="237744"/>
          </a:xfrm>
          <a:prstGeom prst="rect">
            <a:avLst/>
          </a:prstGeom>
          <a:noFill/>
        </p:spPr>
        <p:txBody>
          <a:bodyPr wrap="square" lIns="0" rIns="0" tIns="0" bIns="0" anchor="ctr">
            <a:spAutoFit/>
          </a:bodyPr>
          <a:lstStyle/>
          <a:p>
            <a:pPr algn="l"/>
            <a:r>
              <a:rPr sz="1150" b="0" i="1" u="none">
                <a:solidFill>
                  <a:srgbClr val="7E8D9B"/>
                </a:solidFill>
                <a:latin typeface="Helvetica Neue"/>
              </a:rPr>
              <a:t>On the two benchmarks every system runs on an identical slice, StructMem leads end to end; it is also the only one whose error mass has moved past retrieval</a:t>
            </a:r>
          </a:p>
        </p:txBody>
      </p:sp>
      <p:sp>
        <p:nvSpPr>
          <p:cNvPr id="10" name="TextBox 9"/>
          <p:cNvSpPr txBox="1"/>
          <p:nvPr/>
        </p:nvSpPr>
        <p:spPr>
          <a:xfrm>
            <a:off x="502920" y="1298448"/>
            <a:ext cx="8686800" cy="201168"/>
          </a:xfrm>
          <a:prstGeom prst="rect">
            <a:avLst/>
          </a:prstGeom>
          <a:noFill/>
        </p:spPr>
        <p:txBody>
          <a:bodyPr wrap="square" lIns="0" rIns="0" tIns="0" bIns="0" anchor="ctr">
            <a:spAutoFit/>
          </a:bodyPr>
          <a:lstStyle/>
          <a:p>
            <a:pPr algn="l"/>
            <a:r>
              <a:rPr sz="1050" b="1" i="0" u="none">
                <a:solidFill>
                  <a:srgbClr val="4C5C6B"/>
                </a:solidFill>
                <a:latin typeface="Helvetica Neue"/>
              </a:rPr>
              <a:t>Table 1.  LoCoMo  (conv-26, 19 sessions, 419 turns, 199 questions; identical for all five systems)</a:t>
            </a:r>
          </a:p>
        </p:txBody>
      </p:sp>
      <p:cxnSp>
        <p:nvCxnSpPr>
          <p:cNvPr id="11" name="Connector 10"/>
          <p:cNvCxnSpPr/>
          <p:nvPr/>
        </p:nvCxnSpPr>
        <p:spPr>
          <a:xfrm>
            <a:off x="502920" y="1536192"/>
            <a:ext cx="10533888" cy="0"/>
          </a:xfrm>
          <a:prstGeom prst="line">
            <a:avLst/>
          </a:prstGeom>
          <a:ln w="22225">
            <a:solidFill>
              <a:srgbClr val="141E27"/>
            </a:solidFill>
          </a:ln>
        </p:spPr>
        <p:style>
          <a:lnRef idx="2">
            <a:schemeClr val="accent1"/>
          </a:lnRef>
          <a:fillRef idx="0">
            <a:schemeClr val="accent1"/>
          </a:fillRef>
          <a:effectRef idx="1">
            <a:schemeClr val="accent1"/>
          </a:effectRef>
          <a:fontRef idx="minor">
            <a:schemeClr val="tx1"/>
          </a:fontRef>
        </p:style>
      </p:cxnSp>
      <p:sp>
        <p:nvSpPr>
          <p:cNvPr id="12" name="TextBox 11"/>
          <p:cNvSpPr txBox="1"/>
          <p:nvPr/>
        </p:nvSpPr>
        <p:spPr>
          <a:xfrm>
            <a:off x="502920" y="1581912"/>
            <a:ext cx="1371600" cy="164592"/>
          </a:xfrm>
          <a:prstGeom prst="rect">
            <a:avLst/>
          </a:prstGeom>
          <a:noFill/>
        </p:spPr>
        <p:txBody>
          <a:bodyPr wrap="square" lIns="0" rIns="0" tIns="0" bIns="0" anchor="ctr">
            <a:spAutoFit/>
          </a:bodyPr>
          <a:lstStyle/>
          <a:p>
            <a:pPr algn="l"/>
            <a:r>
              <a:rPr sz="850" b="1" i="0" u="none">
                <a:solidFill>
                  <a:srgbClr val="7E8D9B"/>
                </a:solidFill>
                <a:latin typeface="Helvetica Neue"/>
              </a:rPr>
              <a:t/>
            </a:r>
          </a:p>
        </p:txBody>
      </p:sp>
      <p:sp>
        <p:nvSpPr>
          <p:cNvPr id="13" name="TextBox 12"/>
          <p:cNvSpPr txBox="1"/>
          <p:nvPr/>
        </p:nvSpPr>
        <p:spPr>
          <a:xfrm>
            <a:off x="502920" y="1746504"/>
            <a:ext cx="1371600" cy="164592"/>
          </a:xfrm>
          <a:prstGeom prst="rect">
            <a:avLst/>
          </a:prstGeom>
          <a:noFill/>
        </p:spPr>
        <p:txBody>
          <a:bodyPr wrap="square" lIns="0" rIns="0" tIns="0" bIns="0" anchor="ctr">
            <a:spAutoFit/>
          </a:bodyPr>
          <a:lstStyle/>
          <a:p>
            <a:pPr algn="l"/>
            <a:r>
              <a:rPr sz="950" b="1" i="0" u="none">
                <a:solidFill>
                  <a:srgbClr val="4C5C6B"/>
                </a:solidFill>
                <a:latin typeface="Helvetica Neue"/>
              </a:rPr>
              <a:t/>
            </a:r>
          </a:p>
        </p:txBody>
      </p:sp>
      <p:sp>
        <p:nvSpPr>
          <p:cNvPr id="14" name="TextBox 13"/>
          <p:cNvSpPr txBox="1"/>
          <p:nvPr/>
        </p:nvSpPr>
        <p:spPr>
          <a:xfrm>
            <a:off x="1874519" y="1581912"/>
            <a:ext cx="1115568" cy="164592"/>
          </a:xfrm>
          <a:prstGeom prst="rect">
            <a:avLst/>
          </a:prstGeom>
          <a:noFill/>
        </p:spPr>
        <p:txBody>
          <a:bodyPr wrap="square" lIns="0" rIns="0" tIns="0" bIns="0" anchor="ctr">
            <a:spAutoFit/>
          </a:bodyPr>
          <a:lstStyle/>
          <a:p>
            <a:pPr algn="ctr"/>
            <a:r>
              <a:rPr sz="850" b="1" i="0" u="none">
                <a:solidFill>
                  <a:srgbClr val="7E8D9B"/>
                </a:solidFill>
                <a:latin typeface="Helvetica Neue"/>
              </a:rPr>
              <a:t>Extraction</a:t>
            </a:r>
          </a:p>
        </p:txBody>
      </p:sp>
      <p:sp>
        <p:nvSpPr>
          <p:cNvPr id="15" name="TextBox 14"/>
          <p:cNvSpPr txBox="1"/>
          <p:nvPr/>
        </p:nvSpPr>
        <p:spPr>
          <a:xfrm>
            <a:off x="1874519" y="1746504"/>
            <a:ext cx="1115568" cy="164592"/>
          </a:xfrm>
          <a:prstGeom prst="rect">
            <a:avLst/>
          </a:prstGeom>
          <a:noFill/>
        </p:spPr>
        <p:txBody>
          <a:bodyPr wrap="square" lIns="0" rIns="0" tIns="0" bIns="0" anchor="ctr">
            <a:spAutoFit/>
          </a:bodyPr>
          <a:lstStyle/>
          <a:p>
            <a:pPr algn="ctr"/>
            <a:r>
              <a:rPr sz="950" b="1" i="0" u="none">
                <a:solidFill>
                  <a:srgbClr val="4C5C6B"/>
                </a:solidFill>
                <a:latin typeface="Helvetica Neue"/>
              </a:rPr>
              <a:t>F1 ↑</a:t>
            </a:r>
          </a:p>
        </p:txBody>
      </p:sp>
      <p:sp>
        <p:nvSpPr>
          <p:cNvPr id="16" name="TextBox 15"/>
          <p:cNvSpPr txBox="1"/>
          <p:nvPr/>
        </p:nvSpPr>
        <p:spPr>
          <a:xfrm>
            <a:off x="2990087" y="1581912"/>
            <a:ext cx="1115568" cy="164592"/>
          </a:xfrm>
          <a:prstGeom prst="rect">
            <a:avLst/>
          </a:prstGeom>
          <a:noFill/>
        </p:spPr>
        <p:txBody>
          <a:bodyPr wrap="square" lIns="0" rIns="0" tIns="0" bIns="0" anchor="ctr">
            <a:spAutoFit/>
          </a:bodyPr>
          <a:lstStyle/>
          <a:p>
            <a:pPr algn="ctr"/>
            <a:r>
              <a:rPr sz="850" b="1" i="0" u="none">
                <a:solidFill>
                  <a:srgbClr val="7E8D9B"/>
                </a:solidFill>
                <a:latin typeface="Helvetica Neue"/>
              </a:rPr>
              <a:t>Failure</a:t>
            </a:r>
          </a:p>
        </p:txBody>
      </p:sp>
      <p:sp>
        <p:nvSpPr>
          <p:cNvPr id="17" name="TextBox 16"/>
          <p:cNvSpPr txBox="1"/>
          <p:nvPr/>
        </p:nvSpPr>
        <p:spPr>
          <a:xfrm>
            <a:off x="2990087" y="1746504"/>
            <a:ext cx="1115568" cy="164592"/>
          </a:xfrm>
          <a:prstGeom prst="rect">
            <a:avLst/>
          </a:prstGeom>
          <a:noFill/>
        </p:spPr>
        <p:txBody>
          <a:bodyPr wrap="square" lIns="0" rIns="0" tIns="0" bIns="0" anchor="ctr">
            <a:spAutoFit/>
          </a:bodyPr>
          <a:lstStyle/>
          <a:p>
            <a:pPr algn="ctr"/>
            <a:r>
              <a:rPr sz="950" b="1" i="0" u="none">
                <a:solidFill>
                  <a:srgbClr val="4C5C6B"/>
                </a:solidFill>
                <a:latin typeface="Helvetica Neue"/>
              </a:rPr>
              <a:t>P1 ↓</a:t>
            </a:r>
          </a:p>
        </p:txBody>
      </p:sp>
      <p:sp>
        <p:nvSpPr>
          <p:cNvPr id="18" name="TextBox 17"/>
          <p:cNvSpPr txBox="1"/>
          <p:nvPr/>
        </p:nvSpPr>
        <p:spPr>
          <a:xfrm>
            <a:off x="4105655" y="1581912"/>
            <a:ext cx="1115568" cy="164592"/>
          </a:xfrm>
          <a:prstGeom prst="rect">
            <a:avLst/>
          </a:prstGeom>
          <a:noFill/>
        </p:spPr>
        <p:txBody>
          <a:bodyPr wrap="square" lIns="0" rIns="0" tIns="0" bIns="0" anchor="ctr">
            <a:spAutoFit/>
          </a:bodyPr>
          <a:lstStyle/>
          <a:p>
            <a:pPr algn="ctr"/>
            <a:r>
              <a:rPr sz="850" b="1" i="0" u="none">
                <a:solidFill>
                  <a:srgbClr val="7E8D9B"/>
                </a:solidFill>
                <a:latin typeface="Helvetica Neue"/>
              </a:rPr>
              <a:t>Failure</a:t>
            </a:r>
          </a:p>
        </p:txBody>
      </p:sp>
      <p:sp>
        <p:nvSpPr>
          <p:cNvPr id="19" name="TextBox 18"/>
          <p:cNvSpPr txBox="1"/>
          <p:nvPr/>
        </p:nvSpPr>
        <p:spPr>
          <a:xfrm>
            <a:off x="4105655" y="1746504"/>
            <a:ext cx="1115568" cy="164592"/>
          </a:xfrm>
          <a:prstGeom prst="rect">
            <a:avLst/>
          </a:prstGeom>
          <a:noFill/>
        </p:spPr>
        <p:txBody>
          <a:bodyPr wrap="square" lIns="0" rIns="0" tIns="0" bIns="0" anchor="ctr">
            <a:spAutoFit/>
          </a:bodyPr>
          <a:lstStyle/>
          <a:p>
            <a:pPr algn="ctr"/>
            <a:r>
              <a:rPr sz="950" b="1" i="0" u="none">
                <a:solidFill>
                  <a:srgbClr val="4C5C6B"/>
                </a:solidFill>
                <a:latin typeface="Helvetica Neue"/>
              </a:rPr>
              <a:t>P4 ↓</a:t>
            </a:r>
          </a:p>
        </p:txBody>
      </p:sp>
      <p:sp>
        <p:nvSpPr>
          <p:cNvPr id="20" name="TextBox 19"/>
          <p:cNvSpPr txBox="1"/>
          <p:nvPr/>
        </p:nvSpPr>
        <p:spPr>
          <a:xfrm>
            <a:off x="5221223" y="1581912"/>
            <a:ext cx="1115568" cy="164592"/>
          </a:xfrm>
          <a:prstGeom prst="rect">
            <a:avLst/>
          </a:prstGeom>
          <a:noFill/>
        </p:spPr>
        <p:txBody>
          <a:bodyPr wrap="square" lIns="0" rIns="0" tIns="0" bIns="0" anchor="ctr">
            <a:spAutoFit/>
          </a:bodyPr>
          <a:lstStyle/>
          <a:p>
            <a:pPr algn="ctr"/>
            <a:r>
              <a:rPr sz="850" b="1" i="0" u="none">
                <a:solidFill>
                  <a:srgbClr val="7E8D9B"/>
                </a:solidFill>
                <a:latin typeface="Helvetica Neue"/>
              </a:rPr>
              <a:t>Failure</a:t>
            </a:r>
          </a:p>
        </p:txBody>
      </p:sp>
      <p:sp>
        <p:nvSpPr>
          <p:cNvPr id="21" name="TextBox 20"/>
          <p:cNvSpPr txBox="1"/>
          <p:nvPr/>
        </p:nvSpPr>
        <p:spPr>
          <a:xfrm>
            <a:off x="5221223" y="1746504"/>
            <a:ext cx="1115568" cy="164592"/>
          </a:xfrm>
          <a:prstGeom prst="rect">
            <a:avLst/>
          </a:prstGeom>
          <a:noFill/>
        </p:spPr>
        <p:txBody>
          <a:bodyPr wrap="square" lIns="0" rIns="0" tIns="0" bIns="0" anchor="ctr">
            <a:spAutoFit/>
          </a:bodyPr>
          <a:lstStyle/>
          <a:p>
            <a:pPr algn="ctr"/>
            <a:r>
              <a:rPr sz="950" b="1" i="0" u="none">
                <a:solidFill>
                  <a:srgbClr val="4C5C6B"/>
                </a:solidFill>
                <a:latin typeface="Helvetica Neue"/>
              </a:rPr>
              <a:t>P5 ↓</a:t>
            </a:r>
          </a:p>
        </p:txBody>
      </p:sp>
      <p:sp>
        <p:nvSpPr>
          <p:cNvPr id="22" name="TextBox 21"/>
          <p:cNvSpPr txBox="1"/>
          <p:nvPr/>
        </p:nvSpPr>
        <p:spPr>
          <a:xfrm>
            <a:off x="6336791" y="1581912"/>
            <a:ext cx="1115568" cy="164592"/>
          </a:xfrm>
          <a:prstGeom prst="rect">
            <a:avLst/>
          </a:prstGeom>
          <a:noFill/>
        </p:spPr>
        <p:txBody>
          <a:bodyPr wrap="square" lIns="0" rIns="0" tIns="0" bIns="0" anchor="ctr">
            <a:spAutoFit/>
          </a:bodyPr>
          <a:lstStyle/>
          <a:p>
            <a:pPr algn="ctr"/>
            <a:r>
              <a:rPr sz="850" b="1" i="0" u="none">
                <a:solidFill>
                  <a:srgbClr val="7E8D9B"/>
                </a:solidFill>
                <a:latin typeface="Helvetica Neue"/>
              </a:rPr>
              <a:t>Total</a:t>
            </a:r>
          </a:p>
        </p:txBody>
      </p:sp>
      <p:sp>
        <p:nvSpPr>
          <p:cNvPr id="23" name="TextBox 22"/>
          <p:cNvSpPr txBox="1"/>
          <p:nvPr/>
        </p:nvSpPr>
        <p:spPr>
          <a:xfrm>
            <a:off x="6336791" y="1746504"/>
            <a:ext cx="1115568" cy="164592"/>
          </a:xfrm>
          <a:prstGeom prst="rect">
            <a:avLst/>
          </a:prstGeom>
          <a:noFill/>
        </p:spPr>
        <p:txBody>
          <a:bodyPr wrap="square" lIns="0" rIns="0" tIns="0" bIns="0" anchor="ctr">
            <a:spAutoFit/>
          </a:bodyPr>
          <a:lstStyle/>
          <a:p>
            <a:pPr algn="ctr"/>
            <a:r>
              <a:rPr sz="950" b="1" i="0" u="none">
                <a:solidFill>
                  <a:srgbClr val="4C5C6B"/>
                </a:solidFill>
                <a:latin typeface="Helvetica Neue"/>
              </a:rPr>
              <a:t>error ↓</a:t>
            </a:r>
          </a:p>
        </p:txBody>
      </p:sp>
      <p:sp>
        <p:nvSpPr>
          <p:cNvPr id="24" name="TextBox 23"/>
          <p:cNvSpPr txBox="1"/>
          <p:nvPr/>
        </p:nvSpPr>
        <p:spPr>
          <a:xfrm>
            <a:off x="7452359" y="1581912"/>
            <a:ext cx="1115568" cy="164592"/>
          </a:xfrm>
          <a:prstGeom prst="rect">
            <a:avLst/>
          </a:prstGeom>
          <a:noFill/>
        </p:spPr>
        <p:txBody>
          <a:bodyPr wrap="square" lIns="0" rIns="0" tIns="0" bIns="0" anchor="ctr">
            <a:spAutoFit/>
          </a:bodyPr>
          <a:lstStyle/>
          <a:p>
            <a:pPr algn="ctr"/>
            <a:r>
              <a:rPr sz="850" b="1" i="0" u="none">
                <a:solidFill>
                  <a:srgbClr val="7E8D9B"/>
                </a:solidFill>
                <a:latin typeface="Helvetica Neue"/>
              </a:rPr>
              <a:t>Answer</a:t>
            </a:r>
          </a:p>
        </p:txBody>
      </p:sp>
      <p:sp>
        <p:nvSpPr>
          <p:cNvPr id="25" name="TextBox 24"/>
          <p:cNvSpPr txBox="1"/>
          <p:nvPr/>
        </p:nvSpPr>
        <p:spPr>
          <a:xfrm>
            <a:off x="7452359" y="1746504"/>
            <a:ext cx="1115568" cy="164592"/>
          </a:xfrm>
          <a:prstGeom prst="rect">
            <a:avLst/>
          </a:prstGeom>
          <a:noFill/>
        </p:spPr>
        <p:txBody>
          <a:bodyPr wrap="square" lIns="0" rIns="0" tIns="0" bIns="0" anchor="ctr">
            <a:spAutoFit/>
          </a:bodyPr>
          <a:lstStyle/>
          <a:p>
            <a:pPr algn="ctr"/>
            <a:r>
              <a:rPr sz="950" b="1" i="0" u="none">
                <a:solidFill>
                  <a:srgbClr val="4C5C6B"/>
                </a:solidFill>
                <a:latin typeface="Helvetica Neue"/>
              </a:rPr>
              <a:t>QA ↑</a:t>
            </a:r>
          </a:p>
        </p:txBody>
      </p:sp>
      <p:sp>
        <p:nvSpPr>
          <p:cNvPr id="26" name="TextBox 25"/>
          <p:cNvSpPr txBox="1"/>
          <p:nvPr/>
        </p:nvSpPr>
        <p:spPr>
          <a:xfrm>
            <a:off x="8567928" y="1581912"/>
            <a:ext cx="1207008" cy="164592"/>
          </a:xfrm>
          <a:prstGeom prst="rect">
            <a:avLst/>
          </a:prstGeom>
          <a:noFill/>
        </p:spPr>
        <p:txBody>
          <a:bodyPr wrap="square" lIns="0" rIns="0" tIns="0" bIns="0" anchor="ctr">
            <a:spAutoFit/>
          </a:bodyPr>
          <a:lstStyle/>
          <a:p>
            <a:pPr algn="ctr"/>
            <a:r>
              <a:rPr sz="850" b="1" i="0" u="none">
                <a:solidFill>
                  <a:srgbClr val="7E8D9B"/>
                </a:solidFill>
                <a:latin typeface="Helvetica Neue"/>
              </a:rPr>
              <a:t>Temporal</a:t>
            </a:r>
          </a:p>
        </p:txBody>
      </p:sp>
      <p:sp>
        <p:nvSpPr>
          <p:cNvPr id="27" name="TextBox 26"/>
          <p:cNvSpPr txBox="1"/>
          <p:nvPr/>
        </p:nvSpPr>
        <p:spPr>
          <a:xfrm>
            <a:off x="8567928" y="1746504"/>
            <a:ext cx="1207008" cy="164592"/>
          </a:xfrm>
          <a:prstGeom prst="rect">
            <a:avLst/>
          </a:prstGeom>
          <a:noFill/>
        </p:spPr>
        <p:txBody>
          <a:bodyPr wrap="square" lIns="0" rIns="0" tIns="0" bIns="0" anchor="ctr">
            <a:spAutoFit/>
          </a:bodyPr>
          <a:lstStyle/>
          <a:p>
            <a:pPr algn="ctr"/>
            <a:r>
              <a:rPr sz="950" b="1" i="0" u="none">
                <a:solidFill>
                  <a:srgbClr val="4C5C6B"/>
                </a:solidFill>
                <a:latin typeface="Helvetica Neue"/>
              </a:rPr>
              <a:t>acc ↑</a:t>
            </a:r>
          </a:p>
        </p:txBody>
      </p:sp>
      <p:sp>
        <p:nvSpPr>
          <p:cNvPr id="28" name="TextBox 27"/>
          <p:cNvSpPr txBox="1"/>
          <p:nvPr/>
        </p:nvSpPr>
        <p:spPr>
          <a:xfrm>
            <a:off x="9774936" y="1581912"/>
            <a:ext cx="1261872" cy="164592"/>
          </a:xfrm>
          <a:prstGeom prst="rect">
            <a:avLst/>
          </a:prstGeom>
          <a:noFill/>
        </p:spPr>
        <p:txBody>
          <a:bodyPr wrap="square" lIns="0" rIns="0" tIns="0" bIns="0" anchor="ctr">
            <a:spAutoFit/>
          </a:bodyPr>
          <a:lstStyle/>
          <a:p>
            <a:pPr algn="ctr"/>
            <a:r>
              <a:rPr sz="850" b="1" i="0" u="none">
                <a:solidFill>
                  <a:srgbClr val="7E8D9B"/>
                </a:solidFill>
                <a:latin typeface="Helvetica Neue"/>
              </a:rPr>
              <a:t>Store</a:t>
            </a:r>
          </a:p>
        </p:txBody>
      </p:sp>
      <p:sp>
        <p:nvSpPr>
          <p:cNvPr id="29" name="TextBox 28"/>
          <p:cNvSpPr txBox="1"/>
          <p:nvPr/>
        </p:nvSpPr>
        <p:spPr>
          <a:xfrm>
            <a:off x="9774936" y="1746504"/>
            <a:ext cx="1261872" cy="164592"/>
          </a:xfrm>
          <a:prstGeom prst="rect">
            <a:avLst/>
          </a:prstGeom>
          <a:noFill/>
        </p:spPr>
        <p:txBody>
          <a:bodyPr wrap="square" lIns="0" rIns="0" tIns="0" bIns="0" anchor="ctr">
            <a:spAutoFit/>
          </a:bodyPr>
          <a:lstStyle/>
          <a:p>
            <a:pPr algn="ctr"/>
            <a:r>
              <a:rPr sz="950" b="1" i="0" u="none">
                <a:solidFill>
                  <a:srgbClr val="4C5C6B"/>
                </a:solidFill>
                <a:latin typeface="Helvetica Neue"/>
              </a:rPr>
              <a:t>ent./turn</a:t>
            </a:r>
          </a:p>
        </p:txBody>
      </p:sp>
      <p:cxnSp>
        <p:nvCxnSpPr>
          <p:cNvPr id="30" name="Connector 29"/>
          <p:cNvCxnSpPr/>
          <p:nvPr/>
        </p:nvCxnSpPr>
        <p:spPr>
          <a:xfrm>
            <a:off x="502920" y="1956816"/>
            <a:ext cx="10533888" cy="0"/>
          </a:xfrm>
          <a:prstGeom prst="line">
            <a:avLst/>
          </a:prstGeom>
          <a:ln w="11430">
            <a:solidFill>
              <a:srgbClr val="141E27"/>
            </a:solidFill>
          </a:ln>
        </p:spPr>
        <p:style>
          <a:lnRef idx="2">
            <a:schemeClr val="accent1"/>
          </a:lnRef>
          <a:fillRef idx="0">
            <a:schemeClr val="accent1"/>
          </a:fillRef>
          <a:effectRef idx="1">
            <a:schemeClr val="accent1"/>
          </a:effectRef>
          <a:fontRef idx="minor">
            <a:schemeClr val="tx1"/>
          </a:fontRef>
        </p:style>
      </p:cxnSp>
      <p:sp>
        <p:nvSpPr>
          <p:cNvPr id="31" name="TextBox 30"/>
          <p:cNvSpPr txBox="1"/>
          <p:nvPr/>
        </p:nvSpPr>
        <p:spPr>
          <a:xfrm>
            <a:off x="502920" y="1993392"/>
            <a:ext cx="1371600" cy="201168"/>
          </a:xfrm>
          <a:prstGeom prst="rect">
            <a:avLst/>
          </a:prstGeom>
          <a:noFill/>
        </p:spPr>
        <p:txBody>
          <a:bodyPr wrap="square" lIns="0" rIns="0" tIns="0" bIns="0" anchor="ctr">
            <a:spAutoFit/>
          </a:bodyPr>
          <a:lstStyle/>
          <a:p>
            <a:pPr algn="l"/>
            <a:r>
              <a:rPr sz="1050" b="1" i="0" u="none">
                <a:solidFill>
                  <a:srgbClr val="141E27"/>
                </a:solidFill>
                <a:latin typeface="Helvetica Neue"/>
              </a:rPr>
              <a:t>Mem0 v1</a:t>
            </a:r>
          </a:p>
        </p:txBody>
      </p:sp>
      <p:sp>
        <p:nvSpPr>
          <p:cNvPr id="32" name="TextBox 31"/>
          <p:cNvSpPr txBox="1"/>
          <p:nvPr/>
        </p:nvSpPr>
        <p:spPr>
          <a:xfrm>
            <a:off x="1874519" y="1993392"/>
            <a:ext cx="1115568" cy="201168"/>
          </a:xfrm>
          <a:prstGeom prst="rect">
            <a:avLst/>
          </a:prstGeom>
          <a:noFill/>
        </p:spPr>
        <p:txBody>
          <a:bodyPr wrap="square" lIns="0" rIns="0" tIns="0" bIns="0" anchor="ctr">
            <a:spAutoFit/>
          </a:bodyPr>
          <a:lstStyle/>
          <a:p>
            <a:pPr algn="ctr"/>
            <a:r>
              <a:rPr sz="950" b="0" i="0" u="none">
                <a:solidFill>
                  <a:srgbClr val="141E27"/>
                </a:solidFill>
                <a:latin typeface="Menlo"/>
              </a:rPr>
              <a:t>0.6481</a:t>
            </a:r>
          </a:p>
        </p:txBody>
      </p:sp>
      <p:sp>
        <p:nvSpPr>
          <p:cNvPr id="33" name="TextBox 32"/>
          <p:cNvSpPr txBox="1"/>
          <p:nvPr/>
        </p:nvSpPr>
        <p:spPr>
          <a:xfrm>
            <a:off x="2990087" y="1993392"/>
            <a:ext cx="1115568" cy="201168"/>
          </a:xfrm>
          <a:prstGeom prst="rect">
            <a:avLst/>
          </a:prstGeom>
          <a:noFill/>
        </p:spPr>
        <p:txBody>
          <a:bodyPr wrap="square" lIns="0" rIns="0" tIns="0" bIns="0" anchor="ctr">
            <a:spAutoFit/>
          </a:bodyPr>
          <a:lstStyle/>
          <a:p>
            <a:pPr algn="ctr"/>
            <a:r>
              <a:rPr sz="950" b="0" i="0" u="none">
                <a:solidFill>
                  <a:srgbClr val="141E27"/>
                </a:solidFill>
                <a:latin typeface="Menlo"/>
              </a:rPr>
              <a:t>0.2640</a:t>
            </a:r>
          </a:p>
        </p:txBody>
      </p:sp>
      <p:sp>
        <p:nvSpPr>
          <p:cNvPr id="34" name="TextBox 33"/>
          <p:cNvSpPr txBox="1"/>
          <p:nvPr/>
        </p:nvSpPr>
        <p:spPr>
          <a:xfrm>
            <a:off x="4105655" y="1993392"/>
            <a:ext cx="1115568" cy="201168"/>
          </a:xfrm>
          <a:prstGeom prst="rect">
            <a:avLst/>
          </a:prstGeom>
          <a:noFill/>
        </p:spPr>
        <p:txBody>
          <a:bodyPr wrap="square" lIns="0" rIns="0" tIns="0" bIns="0" anchor="ctr">
            <a:spAutoFit/>
          </a:bodyPr>
          <a:lstStyle/>
          <a:p>
            <a:pPr algn="ctr"/>
            <a:r>
              <a:rPr sz="950" b="0" i="0" u="none">
                <a:solidFill>
                  <a:srgbClr val="141E27"/>
                </a:solidFill>
                <a:latin typeface="Menlo"/>
              </a:rPr>
              <a:t>0.1066</a:t>
            </a:r>
          </a:p>
        </p:txBody>
      </p:sp>
      <p:sp>
        <p:nvSpPr>
          <p:cNvPr id="35" name="TextBox 34"/>
          <p:cNvSpPr txBox="1"/>
          <p:nvPr/>
        </p:nvSpPr>
        <p:spPr>
          <a:xfrm>
            <a:off x="5221223" y="1993392"/>
            <a:ext cx="1115568" cy="201168"/>
          </a:xfrm>
          <a:prstGeom prst="rect">
            <a:avLst/>
          </a:prstGeom>
          <a:noFill/>
        </p:spPr>
        <p:txBody>
          <a:bodyPr wrap="square" lIns="0" rIns="0" tIns="0" bIns="0" anchor="ctr">
            <a:spAutoFit/>
          </a:bodyPr>
          <a:lstStyle/>
          <a:p>
            <a:pPr algn="ctr"/>
            <a:r>
              <a:rPr sz="950" b="0" i="0" u="none">
                <a:solidFill>
                  <a:srgbClr val="141E27"/>
                </a:solidFill>
                <a:latin typeface="Menlo"/>
              </a:rPr>
              <a:t>0.1827</a:t>
            </a:r>
          </a:p>
        </p:txBody>
      </p:sp>
      <p:sp>
        <p:nvSpPr>
          <p:cNvPr id="36" name="TextBox 35"/>
          <p:cNvSpPr txBox="1"/>
          <p:nvPr/>
        </p:nvSpPr>
        <p:spPr>
          <a:xfrm>
            <a:off x="6336791" y="1993392"/>
            <a:ext cx="1115568" cy="201168"/>
          </a:xfrm>
          <a:prstGeom prst="rect">
            <a:avLst/>
          </a:prstGeom>
          <a:noFill/>
        </p:spPr>
        <p:txBody>
          <a:bodyPr wrap="square" lIns="0" rIns="0" tIns="0" bIns="0" anchor="ctr">
            <a:spAutoFit/>
          </a:bodyPr>
          <a:lstStyle/>
          <a:p>
            <a:pPr algn="ctr"/>
            <a:r>
              <a:rPr sz="950" b="0" i="0" u="none">
                <a:solidFill>
                  <a:srgbClr val="141E27"/>
                </a:solidFill>
                <a:latin typeface="Menlo"/>
              </a:rPr>
              <a:t>0.5533</a:t>
            </a:r>
          </a:p>
        </p:txBody>
      </p:sp>
      <p:sp>
        <p:nvSpPr>
          <p:cNvPr id="37" name="TextBox 36"/>
          <p:cNvSpPr txBox="1"/>
          <p:nvPr/>
        </p:nvSpPr>
        <p:spPr>
          <a:xfrm>
            <a:off x="7452359" y="1993392"/>
            <a:ext cx="1115568" cy="201168"/>
          </a:xfrm>
          <a:prstGeom prst="rect">
            <a:avLst/>
          </a:prstGeom>
          <a:noFill/>
        </p:spPr>
        <p:txBody>
          <a:bodyPr wrap="square" lIns="0" rIns="0" tIns="0" bIns="0" anchor="ctr">
            <a:spAutoFit/>
          </a:bodyPr>
          <a:lstStyle/>
          <a:p>
            <a:pPr algn="ctr"/>
            <a:r>
              <a:rPr sz="950" b="0" i="0" u="none">
                <a:solidFill>
                  <a:srgbClr val="141E27"/>
                </a:solidFill>
                <a:latin typeface="Menlo"/>
              </a:rPr>
              <a:t>0.4422</a:t>
            </a:r>
          </a:p>
        </p:txBody>
      </p:sp>
      <p:sp>
        <p:nvSpPr>
          <p:cNvPr id="38" name="TextBox 37"/>
          <p:cNvSpPr txBox="1"/>
          <p:nvPr/>
        </p:nvSpPr>
        <p:spPr>
          <a:xfrm>
            <a:off x="8567928" y="1993392"/>
            <a:ext cx="1207008" cy="201168"/>
          </a:xfrm>
          <a:prstGeom prst="rect">
            <a:avLst/>
          </a:prstGeom>
          <a:noFill/>
        </p:spPr>
        <p:txBody>
          <a:bodyPr wrap="square" lIns="0" rIns="0" tIns="0" bIns="0" anchor="ctr">
            <a:spAutoFit/>
          </a:bodyPr>
          <a:lstStyle/>
          <a:p>
            <a:pPr algn="ctr"/>
            <a:r>
              <a:rPr sz="950" b="0" i="0" u="none">
                <a:solidFill>
                  <a:srgbClr val="141E27"/>
                </a:solidFill>
                <a:latin typeface="Menlo"/>
              </a:rPr>
              <a:t>0.0000</a:t>
            </a:r>
          </a:p>
        </p:txBody>
      </p:sp>
      <p:sp>
        <p:nvSpPr>
          <p:cNvPr id="39" name="TextBox 38"/>
          <p:cNvSpPr txBox="1"/>
          <p:nvPr/>
        </p:nvSpPr>
        <p:spPr>
          <a:xfrm>
            <a:off x="9774936" y="1993392"/>
            <a:ext cx="1261872" cy="201168"/>
          </a:xfrm>
          <a:prstGeom prst="rect">
            <a:avLst/>
          </a:prstGeom>
          <a:noFill/>
        </p:spPr>
        <p:txBody>
          <a:bodyPr wrap="square" lIns="0" rIns="0" tIns="0" bIns="0" anchor="ctr">
            <a:spAutoFit/>
          </a:bodyPr>
          <a:lstStyle/>
          <a:p>
            <a:pPr algn="ctr"/>
            <a:r>
              <a:rPr sz="950" b="0" i="0" u="none">
                <a:solidFill>
                  <a:srgbClr val="141E27"/>
                </a:solidFill>
                <a:latin typeface="Menlo"/>
              </a:rPr>
              <a:t>0.68</a:t>
            </a:r>
          </a:p>
        </p:txBody>
      </p:sp>
      <p:sp>
        <p:nvSpPr>
          <p:cNvPr id="40" name="TextBox 39"/>
          <p:cNvSpPr txBox="1"/>
          <p:nvPr/>
        </p:nvSpPr>
        <p:spPr>
          <a:xfrm>
            <a:off x="502920" y="2267712"/>
            <a:ext cx="1371600" cy="201168"/>
          </a:xfrm>
          <a:prstGeom prst="rect">
            <a:avLst/>
          </a:prstGeom>
          <a:noFill/>
        </p:spPr>
        <p:txBody>
          <a:bodyPr wrap="square" lIns="0" rIns="0" tIns="0" bIns="0" anchor="ctr">
            <a:spAutoFit/>
          </a:bodyPr>
          <a:lstStyle/>
          <a:p>
            <a:pPr algn="l"/>
            <a:r>
              <a:rPr sz="1050" b="1" i="0" u="none">
                <a:solidFill>
                  <a:srgbClr val="141E27"/>
                </a:solidFill>
                <a:latin typeface="Helvetica Neue"/>
              </a:rPr>
              <a:t>Mem0 v2</a:t>
            </a:r>
          </a:p>
        </p:txBody>
      </p:sp>
      <p:sp>
        <p:nvSpPr>
          <p:cNvPr id="41" name="TextBox 40"/>
          <p:cNvSpPr txBox="1"/>
          <p:nvPr/>
        </p:nvSpPr>
        <p:spPr>
          <a:xfrm>
            <a:off x="1874519" y="2267712"/>
            <a:ext cx="1115568" cy="201168"/>
          </a:xfrm>
          <a:prstGeom prst="rect">
            <a:avLst/>
          </a:prstGeom>
          <a:noFill/>
        </p:spPr>
        <p:txBody>
          <a:bodyPr wrap="square" lIns="0" rIns="0" tIns="0" bIns="0" anchor="ctr">
            <a:spAutoFit/>
          </a:bodyPr>
          <a:lstStyle/>
          <a:p>
            <a:pPr algn="ctr"/>
            <a:r>
              <a:rPr sz="950" b="0" i="0" u="none">
                <a:solidFill>
                  <a:srgbClr val="141E27"/>
                </a:solidFill>
                <a:latin typeface="Menlo"/>
              </a:rPr>
              <a:t>0.7796</a:t>
            </a:r>
          </a:p>
        </p:txBody>
      </p:sp>
      <p:sp>
        <p:nvSpPr>
          <p:cNvPr id="42" name="TextBox 41"/>
          <p:cNvSpPr txBox="1"/>
          <p:nvPr/>
        </p:nvSpPr>
        <p:spPr>
          <a:xfrm>
            <a:off x="2990087" y="2267712"/>
            <a:ext cx="1115568" cy="201168"/>
          </a:xfrm>
          <a:prstGeom prst="rect">
            <a:avLst/>
          </a:prstGeom>
          <a:noFill/>
        </p:spPr>
        <p:txBody>
          <a:bodyPr wrap="square" lIns="0" rIns="0" tIns="0" bIns="0" anchor="ctr">
            <a:spAutoFit/>
          </a:bodyPr>
          <a:lstStyle/>
          <a:p>
            <a:pPr algn="ctr"/>
            <a:r>
              <a:rPr sz="950" b="0" i="0" u="none">
                <a:solidFill>
                  <a:srgbClr val="141E27"/>
                </a:solidFill>
                <a:latin typeface="Menlo"/>
              </a:rPr>
              <a:t>0.2525</a:t>
            </a:r>
          </a:p>
        </p:txBody>
      </p:sp>
      <p:sp>
        <p:nvSpPr>
          <p:cNvPr id="43" name="TextBox 42"/>
          <p:cNvSpPr txBox="1"/>
          <p:nvPr/>
        </p:nvSpPr>
        <p:spPr>
          <a:xfrm>
            <a:off x="4105655" y="2267712"/>
            <a:ext cx="1115568" cy="201168"/>
          </a:xfrm>
          <a:prstGeom prst="rect">
            <a:avLst/>
          </a:prstGeom>
          <a:noFill/>
        </p:spPr>
        <p:txBody>
          <a:bodyPr wrap="square" lIns="0" rIns="0" tIns="0" bIns="0" anchor="ctr">
            <a:spAutoFit/>
          </a:bodyPr>
          <a:lstStyle/>
          <a:p>
            <a:pPr algn="ctr"/>
            <a:r>
              <a:rPr sz="950" b="0" i="0" u="sng">
                <a:solidFill>
                  <a:srgbClr val="141E27"/>
                </a:solidFill>
                <a:latin typeface="Menlo"/>
              </a:rPr>
              <a:t>0.0455</a:t>
            </a:r>
          </a:p>
        </p:txBody>
      </p:sp>
      <p:sp>
        <p:nvSpPr>
          <p:cNvPr id="44" name="TextBox 43"/>
          <p:cNvSpPr txBox="1"/>
          <p:nvPr/>
        </p:nvSpPr>
        <p:spPr>
          <a:xfrm>
            <a:off x="5221223" y="2267712"/>
            <a:ext cx="1115568" cy="201168"/>
          </a:xfrm>
          <a:prstGeom prst="rect">
            <a:avLst/>
          </a:prstGeom>
          <a:noFill/>
        </p:spPr>
        <p:txBody>
          <a:bodyPr wrap="square" lIns="0" rIns="0" tIns="0" bIns="0" anchor="ctr">
            <a:spAutoFit/>
          </a:bodyPr>
          <a:lstStyle/>
          <a:p>
            <a:pPr algn="ctr"/>
            <a:r>
              <a:rPr sz="950" b="1" i="0" u="none">
                <a:solidFill>
                  <a:srgbClr val="141E27"/>
                </a:solidFill>
                <a:latin typeface="Menlo"/>
              </a:rPr>
              <a:t>0.0808</a:t>
            </a:r>
          </a:p>
        </p:txBody>
      </p:sp>
      <p:sp>
        <p:nvSpPr>
          <p:cNvPr id="45" name="TextBox 44"/>
          <p:cNvSpPr txBox="1"/>
          <p:nvPr/>
        </p:nvSpPr>
        <p:spPr>
          <a:xfrm>
            <a:off x="6336791" y="2267712"/>
            <a:ext cx="1115568" cy="201168"/>
          </a:xfrm>
          <a:prstGeom prst="rect">
            <a:avLst/>
          </a:prstGeom>
          <a:noFill/>
        </p:spPr>
        <p:txBody>
          <a:bodyPr wrap="square" lIns="0" rIns="0" tIns="0" bIns="0" anchor="ctr">
            <a:spAutoFit/>
          </a:bodyPr>
          <a:lstStyle/>
          <a:p>
            <a:pPr algn="ctr"/>
            <a:r>
              <a:rPr sz="950" b="0" i="0" u="sng">
                <a:solidFill>
                  <a:srgbClr val="141E27"/>
                </a:solidFill>
                <a:latin typeface="Menlo"/>
              </a:rPr>
              <a:t>0.3788</a:t>
            </a:r>
          </a:p>
        </p:txBody>
      </p:sp>
      <p:sp>
        <p:nvSpPr>
          <p:cNvPr id="46" name="TextBox 45"/>
          <p:cNvSpPr txBox="1"/>
          <p:nvPr/>
        </p:nvSpPr>
        <p:spPr>
          <a:xfrm>
            <a:off x="7452359" y="2267712"/>
            <a:ext cx="1115568" cy="201168"/>
          </a:xfrm>
          <a:prstGeom prst="rect">
            <a:avLst/>
          </a:prstGeom>
          <a:noFill/>
        </p:spPr>
        <p:txBody>
          <a:bodyPr wrap="square" lIns="0" rIns="0" tIns="0" bIns="0" anchor="ctr">
            <a:spAutoFit/>
          </a:bodyPr>
          <a:lstStyle/>
          <a:p>
            <a:pPr algn="ctr"/>
            <a:r>
              <a:rPr sz="950" b="0" i="0" u="sng">
                <a:solidFill>
                  <a:srgbClr val="141E27"/>
                </a:solidFill>
                <a:latin typeface="Menlo"/>
              </a:rPr>
              <a:t>0.6181</a:t>
            </a:r>
          </a:p>
        </p:txBody>
      </p:sp>
      <p:sp>
        <p:nvSpPr>
          <p:cNvPr id="47" name="TextBox 46"/>
          <p:cNvSpPr txBox="1"/>
          <p:nvPr/>
        </p:nvSpPr>
        <p:spPr>
          <a:xfrm>
            <a:off x="8567928" y="2267712"/>
            <a:ext cx="1207008" cy="201168"/>
          </a:xfrm>
          <a:prstGeom prst="rect">
            <a:avLst/>
          </a:prstGeom>
          <a:noFill/>
        </p:spPr>
        <p:txBody>
          <a:bodyPr wrap="square" lIns="0" rIns="0" tIns="0" bIns="0" anchor="ctr">
            <a:spAutoFit/>
          </a:bodyPr>
          <a:lstStyle/>
          <a:p>
            <a:pPr algn="ctr"/>
            <a:r>
              <a:rPr sz="950" b="0" i="0" u="sng">
                <a:solidFill>
                  <a:srgbClr val="141E27"/>
                </a:solidFill>
                <a:latin typeface="Menlo"/>
              </a:rPr>
              <a:t>0.0541</a:t>
            </a:r>
          </a:p>
        </p:txBody>
      </p:sp>
      <p:sp>
        <p:nvSpPr>
          <p:cNvPr id="48" name="TextBox 47"/>
          <p:cNvSpPr txBox="1"/>
          <p:nvPr/>
        </p:nvSpPr>
        <p:spPr>
          <a:xfrm>
            <a:off x="9774936" y="2267712"/>
            <a:ext cx="1261872" cy="201168"/>
          </a:xfrm>
          <a:prstGeom prst="rect">
            <a:avLst/>
          </a:prstGeom>
          <a:noFill/>
        </p:spPr>
        <p:txBody>
          <a:bodyPr wrap="square" lIns="0" rIns="0" tIns="0" bIns="0" anchor="ctr">
            <a:spAutoFit/>
          </a:bodyPr>
          <a:lstStyle/>
          <a:p>
            <a:pPr algn="ctr"/>
            <a:r>
              <a:rPr sz="950" b="0" i="0" u="none">
                <a:solidFill>
                  <a:srgbClr val="141E27"/>
                </a:solidFill>
                <a:latin typeface="Menlo"/>
              </a:rPr>
              <a:t>0.66</a:t>
            </a:r>
          </a:p>
        </p:txBody>
      </p:sp>
      <p:sp>
        <p:nvSpPr>
          <p:cNvPr id="50" name="TextBox 49"/>
          <p:cNvSpPr txBox="1"/>
          <p:nvPr/>
        </p:nvSpPr>
        <p:spPr>
          <a:xfrm>
            <a:off x="502920" y="2542032"/>
            <a:ext cx="1371600" cy="201168"/>
          </a:xfrm>
          <a:prstGeom prst="rect">
            <a:avLst/>
          </a:prstGeom>
          <a:noFill/>
        </p:spPr>
        <p:txBody>
          <a:bodyPr wrap="square" lIns="0" rIns="0" tIns="0" bIns="0" anchor="ctr">
            <a:spAutoFit/>
          </a:bodyPr>
          <a:lstStyle/>
          <a:p>
            <a:pPr algn="l"/>
            <a:r>
              <a:rPr sz="1050" b="1" i="0" u="none">
                <a:solidFill>
                  <a:srgbClr val="141E27"/>
                </a:solidFill>
                <a:latin typeface="Helvetica Neue"/>
              </a:rPr>
              <a:t>StructMem</a:t>
            </a:r>
          </a:p>
        </p:txBody>
      </p:sp>
      <p:sp>
        <p:nvSpPr>
          <p:cNvPr id="51" name="TextBox 50"/>
          <p:cNvSpPr txBox="1"/>
          <p:nvPr/>
        </p:nvSpPr>
        <p:spPr>
          <a:xfrm>
            <a:off x="1874519" y="2542032"/>
            <a:ext cx="1115568" cy="201168"/>
          </a:xfrm>
          <a:prstGeom prst="rect">
            <a:avLst/>
          </a:prstGeom>
          <a:noFill/>
        </p:spPr>
        <p:txBody>
          <a:bodyPr wrap="square" lIns="0" rIns="0" tIns="0" bIns="0" anchor="ctr">
            <a:spAutoFit/>
          </a:bodyPr>
          <a:lstStyle/>
          <a:p>
            <a:pPr algn="ctr"/>
            <a:r>
              <a:rPr sz="950" b="1" i="0" u="none">
                <a:solidFill>
                  <a:srgbClr val="141E27"/>
                </a:solidFill>
                <a:latin typeface="Menlo"/>
              </a:rPr>
              <a:t>0.8845</a:t>
            </a:r>
          </a:p>
        </p:txBody>
      </p:sp>
      <p:sp>
        <p:nvSpPr>
          <p:cNvPr id="52" name="TextBox 51"/>
          <p:cNvSpPr txBox="1"/>
          <p:nvPr/>
        </p:nvSpPr>
        <p:spPr>
          <a:xfrm>
            <a:off x="2990087" y="2542032"/>
            <a:ext cx="1115568" cy="201168"/>
          </a:xfrm>
          <a:prstGeom prst="rect">
            <a:avLst/>
          </a:prstGeom>
          <a:noFill/>
        </p:spPr>
        <p:txBody>
          <a:bodyPr wrap="square" lIns="0" rIns="0" tIns="0" bIns="0" anchor="ctr">
            <a:spAutoFit/>
          </a:bodyPr>
          <a:lstStyle/>
          <a:p>
            <a:pPr algn="ctr"/>
            <a:r>
              <a:rPr sz="950" b="1" i="0" u="none">
                <a:solidFill>
                  <a:srgbClr val="141E27"/>
                </a:solidFill>
                <a:latin typeface="Menlo"/>
              </a:rPr>
              <a:t>0.0573</a:t>
            </a:r>
          </a:p>
        </p:txBody>
      </p:sp>
      <p:sp>
        <p:nvSpPr>
          <p:cNvPr id="53" name="TextBox 52"/>
          <p:cNvSpPr txBox="1"/>
          <p:nvPr/>
        </p:nvSpPr>
        <p:spPr>
          <a:xfrm>
            <a:off x="4105655" y="2542032"/>
            <a:ext cx="1115568" cy="201168"/>
          </a:xfrm>
          <a:prstGeom prst="rect">
            <a:avLst/>
          </a:prstGeom>
          <a:noFill/>
        </p:spPr>
        <p:txBody>
          <a:bodyPr wrap="square" lIns="0" rIns="0" tIns="0" bIns="0" anchor="ctr">
            <a:spAutoFit/>
          </a:bodyPr>
          <a:lstStyle/>
          <a:p>
            <a:pPr algn="ctr"/>
            <a:r>
              <a:rPr sz="950" b="0" i="0" u="none">
                <a:solidFill>
                  <a:srgbClr val="141E27"/>
                </a:solidFill>
                <a:latin typeface="Menlo"/>
              </a:rPr>
              <a:t>0.0521</a:t>
            </a:r>
          </a:p>
        </p:txBody>
      </p:sp>
      <p:sp>
        <p:nvSpPr>
          <p:cNvPr id="54" name="TextBox 53"/>
          <p:cNvSpPr txBox="1"/>
          <p:nvPr/>
        </p:nvSpPr>
        <p:spPr>
          <a:xfrm>
            <a:off x="5221223" y="2542032"/>
            <a:ext cx="1115568" cy="201168"/>
          </a:xfrm>
          <a:prstGeom prst="rect">
            <a:avLst/>
          </a:prstGeom>
          <a:noFill/>
        </p:spPr>
        <p:txBody>
          <a:bodyPr wrap="square" lIns="0" rIns="0" tIns="0" bIns="0" anchor="ctr">
            <a:spAutoFit/>
          </a:bodyPr>
          <a:lstStyle/>
          <a:p>
            <a:pPr algn="ctr"/>
            <a:r>
              <a:rPr sz="950" b="0" i="0" u="none">
                <a:solidFill>
                  <a:srgbClr val="141E27"/>
                </a:solidFill>
                <a:latin typeface="Menlo"/>
              </a:rPr>
              <a:t>0.2240</a:t>
            </a:r>
          </a:p>
        </p:txBody>
      </p:sp>
      <p:sp>
        <p:nvSpPr>
          <p:cNvPr id="55" name="TextBox 54"/>
          <p:cNvSpPr txBox="1"/>
          <p:nvPr/>
        </p:nvSpPr>
        <p:spPr>
          <a:xfrm>
            <a:off x="6336791" y="2542032"/>
            <a:ext cx="1115568" cy="201168"/>
          </a:xfrm>
          <a:prstGeom prst="rect">
            <a:avLst/>
          </a:prstGeom>
          <a:noFill/>
        </p:spPr>
        <p:txBody>
          <a:bodyPr wrap="square" lIns="0" rIns="0" tIns="0" bIns="0" anchor="ctr">
            <a:spAutoFit/>
          </a:bodyPr>
          <a:lstStyle/>
          <a:p>
            <a:pPr algn="ctr"/>
            <a:r>
              <a:rPr sz="950" b="1" i="0" u="none">
                <a:solidFill>
                  <a:srgbClr val="141E27"/>
                </a:solidFill>
                <a:latin typeface="Menlo"/>
              </a:rPr>
              <a:t>0.3333</a:t>
            </a:r>
          </a:p>
        </p:txBody>
      </p:sp>
      <p:sp>
        <p:nvSpPr>
          <p:cNvPr id="56" name="TextBox 55"/>
          <p:cNvSpPr txBox="1"/>
          <p:nvPr/>
        </p:nvSpPr>
        <p:spPr>
          <a:xfrm>
            <a:off x="7452359" y="2542032"/>
            <a:ext cx="1115568" cy="201168"/>
          </a:xfrm>
          <a:prstGeom prst="rect">
            <a:avLst/>
          </a:prstGeom>
          <a:noFill/>
        </p:spPr>
        <p:txBody>
          <a:bodyPr wrap="square" lIns="0" rIns="0" tIns="0" bIns="0" anchor="ctr">
            <a:spAutoFit/>
          </a:bodyPr>
          <a:lstStyle/>
          <a:p>
            <a:pPr algn="ctr"/>
            <a:r>
              <a:rPr sz="950" b="1" i="0" u="none">
                <a:solidFill>
                  <a:srgbClr val="141E27"/>
                </a:solidFill>
                <a:latin typeface="Menlo"/>
              </a:rPr>
              <a:t>0.6432</a:t>
            </a:r>
          </a:p>
        </p:txBody>
      </p:sp>
      <p:sp>
        <p:nvSpPr>
          <p:cNvPr id="57" name="TextBox 56"/>
          <p:cNvSpPr txBox="1"/>
          <p:nvPr/>
        </p:nvSpPr>
        <p:spPr>
          <a:xfrm>
            <a:off x="8567928" y="2542032"/>
            <a:ext cx="1207008" cy="201168"/>
          </a:xfrm>
          <a:prstGeom prst="rect">
            <a:avLst/>
          </a:prstGeom>
          <a:noFill/>
        </p:spPr>
        <p:txBody>
          <a:bodyPr wrap="square" lIns="0" rIns="0" tIns="0" bIns="0" anchor="ctr">
            <a:spAutoFit/>
          </a:bodyPr>
          <a:lstStyle/>
          <a:p>
            <a:pPr algn="ctr"/>
            <a:r>
              <a:rPr sz="950" b="1" i="0" u="none">
                <a:solidFill>
                  <a:srgbClr val="141E27"/>
                </a:solidFill>
                <a:latin typeface="Menlo"/>
              </a:rPr>
              <a:t>0.3514</a:t>
            </a:r>
          </a:p>
        </p:txBody>
      </p:sp>
      <p:sp>
        <p:nvSpPr>
          <p:cNvPr id="58" name="TextBox 57"/>
          <p:cNvSpPr txBox="1"/>
          <p:nvPr/>
        </p:nvSpPr>
        <p:spPr>
          <a:xfrm>
            <a:off x="9774936" y="2542032"/>
            <a:ext cx="1261872" cy="201168"/>
          </a:xfrm>
          <a:prstGeom prst="rect">
            <a:avLst/>
          </a:prstGeom>
          <a:noFill/>
        </p:spPr>
        <p:txBody>
          <a:bodyPr wrap="square" lIns="0" rIns="0" tIns="0" bIns="0" anchor="ctr">
            <a:spAutoFit/>
          </a:bodyPr>
          <a:lstStyle/>
          <a:p>
            <a:pPr algn="ctr"/>
            <a:r>
              <a:rPr sz="950" b="0" i="0" u="none">
                <a:solidFill>
                  <a:srgbClr val="141E27"/>
                </a:solidFill>
                <a:latin typeface="Menlo"/>
              </a:rPr>
              <a:t>1.85</a:t>
            </a:r>
          </a:p>
        </p:txBody>
      </p:sp>
      <p:sp>
        <p:nvSpPr>
          <p:cNvPr id="59" name="TextBox 58"/>
          <p:cNvSpPr txBox="1"/>
          <p:nvPr/>
        </p:nvSpPr>
        <p:spPr>
          <a:xfrm>
            <a:off x="502920" y="2816352"/>
            <a:ext cx="1371600" cy="201168"/>
          </a:xfrm>
          <a:prstGeom prst="rect">
            <a:avLst/>
          </a:prstGeom>
          <a:noFill/>
        </p:spPr>
        <p:txBody>
          <a:bodyPr wrap="square" lIns="0" rIns="0" tIns="0" bIns="0" anchor="ctr">
            <a:spAutoFit/>
          </a:bodyPr>
          <a:lstStyle/>
          <a:p>
            <a:pPr algn="l"/>
            <a:r>
              <a:rPr sz="1050" b="1" i="0" u="none">
                <a:solidFill>
                  <a:srgbClr val="141E27"/>
                </a:solidFill>
                <a:latin typeface="Helvetica Neue"/>
              </a:rPr>
              <a:t>A-MEM</a:t>
            </a:r>
          </a:p>
        </p:txBody>
      </p:sp>
      <p:sp>
        <p:nvSpPr>
          <p:cNvPr id="60" name="TextBox 59"/>
          <p:cNvSpPr txBox="1"/>
          <p:nvPr/>
        </p:nvSpPr>
        <p:spPr>
          <a:xfrm>
            <a:off x="1874519" y="2816352"/>
            <a:ext cx="1115568" cy="201168"/>
          </a:xfrm>
          <a:prstGeom prst="rect">
            <a:avLst/>
          </a:prstGeom>
          <a:noFill/>
        </p:spPr>
        <p:txBody>
          <a:bodyPr wrap="square" lIns="0" rIns="0" tIns="0" bIns="0" anchor="ctr">
            <a:spAutoFit/>
          </a:bodyPr>
          <a:lstStyle/>
          <a:p>
            <a:pPr algn="ctr"/>
            <a:r>
              <a:rPr sz="950" b="0" i="0" u="none">
                <a:solidFill>
                  <a:srgbClr val="141E27"/>
                </a:solidFill>
                <a:latin typeface="Menlo"/>
              </a:rPr>
              <a:t>0.7608</a:t>
            </a:r>
          </a:p>
        </p:txBody>
      </p:sp>
      <p:sp>
        <p:nvSpPr>
          <p:cNvPr id="61" name="TextBox 60"/>
          <p:cNvSpPr txBox="1"/>
          <p:nvPr/>
        </p:nvSpPr>
        <p:spPr>
          <a:xfrm>
            <a:off x="2990087" y="2816352"/>
            <a:ext cx="1115568" cy="201168"/>
          </a:xfrm>
          <a:prstGeom prst="rect">
            <a:avLst/>
          </a:prstGeom>
          <a:noFill/>
        </p:spPr>
        <p:txBody>
          <a:bodyPr wrap="square" lIns="0" rIns="0" tIns="0" bIns="0" anchor="ctr">
            <a:spAutoFit/>
          </a:bodyPr>
          <a:lstStyle/>
          <a:p>
            <a:pPr algn="ctr"/>
            <a:r>
              <a:rPr sz="950" b="0" i="0" u="sng">
                <a:solidFill>
                  <a:srgbClr val="141E27"/>
                </a:solidFill>
                <a:latin typeface="Menlo"/>
              </a:rPr>
              <a:t>0.2256</a:t>
            </a:r>
          </a:p>
        </p:txBody>
      </p:sp>
      <p:sp>
        <p:nvSpPr>
          <p:cNvPr id="62" name="TextBox 61"/>
          <p:cNvSpPr txBox="1"/>
          <p:nvPr/>
        </p:nvSpPr>
        <p:spPr>
          <a:xfrm>
            <a:off x="4105655" y="2816352"/>
            <a:ext cx="1115568" cy="201168"/>
          </a:xfrm>
          <a:prstGeom prst="rect">
            <a:avLst/>
          </a:prstGeom>
          <a:noFill/>
        </p:spPr>
        <p:txBody>
          <a:bodyPr wrap="square" lIns="0" rIns="0" tIns="0" bIns="0" anchor="ctr">
            <a:spAutoFit/>
          </a:bodyPr>
          <a:lstStyle/>
          <a:p>
            <a:pPr algn="ctr"/>
            <a:r>
              <a:rPr sz="950" b="0" i="0" u="none">
                <a:solidFill>
                  <a:srgbClr val="141E27"/>
                </a:solidFill>
                <a:latin typeface="Menlo"/>
              </a:rPr>
              <a:t>0.1282</a:t>
            </a:r>
          </a:p>
        </p:txBody>
      </p:sp>
      <p:sp>
        <p:nvSpPr>
          <p:cNvPr id="63" name="TextBox 62"/>
          <p:cNvSpPr txBox="1"/>
          <p:nvPr/>
        </p:nvSpPr>
        <p:spPr>
          <a:xfrm>
            <a:off x="5221223" y="2816352"/>
            <a:ext cx="1115568" cy="201168"/>
          </a:xfrm>
          <a:prstGeom prst="rect">
            <a:avLst/>
          </a:prstGeom>
          <a:noFill/>
        </p:spPr>
        <p:txBody>
          <a:bodyPr wrap="square" lIns="0" rIns="0" tIns="0" bIns="0" anchor="ctr">
            <a:spAutoFit/>
          </a:bodyPr>
          <a:lstStyle/>
          <a:p>
            <a:pPr algn="ctr"/>
            <a:r>
              <a:rPr sz="950" b="0" i="0" u="sng">
                <a:solidFill>
                  <a:srgbClr val="141E27"/>
                </a:solidFill>
                <a:latin typeface="Menlo"/>
              </a:rPr>
              <a:t>0.1436</a:t>
            </a:r>
          </a:p>
        </p:txBody>
      </p:sp>
      <p:sp>
        <p:nvSpPr>
          <p:cNvPr id="64" name="TextBox 63"/>
          <p:cNvSpPr txBox="1"/>
          <p:nvPr/>
        </p:nvSpPr>
        <p:spPr>
          <a:xfrm>
            <a:off x="6336791" y="2816352"/>
            <a:ext cx="1115568" cy="201168"/>
          </a:xfrm>
          <a:prstGeom prst="rect">
            <a:avLst/>
          </a:prstGeom>
          <a:noFill/>
        </p:spPr>
        <p:txBody>
          <a:bodyPr wrap="square" lIns="0" rIns="0" tIns="0" bIns="0" anchor="ctr">
            <a:spAutoFit/>
          </a:bodyPr>
          <a:lstStyle/>
          <a:p>
            <a:pPr algn="ctr"/>
            <a:r>
              <a:rPr sz="950" b="0" i="0" u="none">
                <a:solidFill>
                  <a:srgbClr val="141E27"/>
                </a:solidFill>
                <a:latin typeface="Menlo"/>
              </a:rPr>
              <a:t>0.4974</a:t>
            </a:r>
          </a:p>
        </p:txBody>
      </p:sp>
      <p:sp>
        <p:nvSpPr>
          <p:cNvPr id="65" name="TextBox 64"/>
          <p:cNvSpPr txBox="1"/>
          <p:nvPr/>
        </p:nvSpPr>
        <p:spPr>
          <a:xfrm>
            <a:off x="7452359" y="2816352"/>
            <a:ext cx="1115568" cy="201168"/>
          </a:xfrm>
          <a:prstGeom prst="rect">
            <a:avLst/>
          </a:prstGeom>
          <a:noFill/>
        </p:spPr>
        <p:txBody>
          <a:bodyPr wrap="square" lIns="0" rIns="0" tIns="0" bIns="0" anchor="ctr">
            <a:spAutoFit/>
          </a:bodyPr>
          <a:lstStyle/>
          <a:p>
            <a:pPr algn="ctr"/>
            <a:r>
              <a:rPr sz="950" b="0" i="0" u="none">
                <a:solidFill>
                  <a:srgbClr val="141E27"/>
                </a:solidFill>
                <a:latin typeface="Menlo"/>
              </a:rPr>
              <a:t>0.4925</a:t>
            </a:r>
          </a:p>
        </p:txBody>
      </p:sp>
      <p:sp>
        <p:nvSpPr>
          <p:cNvPr id="66" name="TextBox 65"/>
          <p:cNvSpPr txBox="1"/>
          <p:nvPr/>
        </p:nvSpPr>
        <p:spPr>
          <a:xfrm>
            <a:off x="8567928" y="2816352"/>
            <a:ext cx="1207008" cy="201168"/>
          </a:xfrm>
          <a:prstGeom prst="rect">
            <a:avLst/>
          </a:prstGeom>
          <a:noFill/>
        </p:spPr>
        <p:txBody>
          <a:bodyPr wrap="square" lIns="0" rIns="0" tIns="0" bIns="0" anchor="ctr">
            <a:spAutoFit/>
          </a:bodyPr>
          <a:lstStyle/>
          <a:p>
            <a:pPr algn="ctr"/>
            <a:r>
              <a:rPr sz="950" b="0" i="0" u="none">
                <a:solidFill>
                  <a:srgbClr val="141E27"/>
                </a:solidFill>
                <a:latin typeface="Menlo"/>
              </a:rPr>
              <a:t>0.0270</a:t>
            </a:r>
          </a:p>
        </p:txBody>
      </p:sp>
      <p:sp>
        <p:nvSpPr>
          <p:cNvPr id="67" name="TextBox 66"/>
          <p:cNvSpPr txBox="1"/>
          <p:nvPr/>
        </p:nvSpPr>
        <p:spPr>
          <a:xfrm>
            <a:off x="9774936" y="2816352"/>
            <a:ext cx="1261872" cy="201168"/>
          </a:xfrm>
          <a:prstGeom prst="rect">
            <a:avLst/>
          </a:prstGeom>
          <a:noFill/>
        </p:spPr>
        <p:txBody>
          <a:bodyPr wrap="square" lIns="0" rIns="0" tIns="0" bIns="0" anchor="ctr">
            <a:spAutoFit/>
          </a:bodyPr>
          <a:lstStyle/>
          <a:p>
            <a:pPr algn="ctr"/>
            <a:r>
              <a:rPr sz="950" b="0" i="0" u="none">
                <a:solidFill>
                  <a:srgbClr val="141E27"/>
                </a:solidFill>
                <a:latin typeface="Menlo"/>
              </a:rPr>
              <a:t>1.00</a:t>
            </a:r>
          </a:p>
        </p:txBody>
      </p:sp>
      <p:sp>
        <p:nvSpPr>
          <p:cNvPr id="68" name="TextBox 67"/>
          <p:cNvSpPr txBox="1"/>
          <p:nvPr/>
        </p:nvSpPr>
        <p:spPr>
          <a:xfrm>
            <a:off x="502920" y="3090672"/>
            <a:ext cx="1371600" cy="201168"/>
          </a:xfrm>
          <a:prstGeom prst="rect">
            <a:avLst/>
          </a:prstGeom>
          <a:noFill/>
        </p:spPr>
        <p:txBody>
          <a:bodyPr wrap="square" lIns="0" rIns="0" tIns="0" bIns="0" anchor="ctr">
            <a:spAutoFit/>
          </a:bodyPr>
          <a:lstStyle/>
          <a:p>
            <a:pPr algn="l"/>
            <a:r>
              <a:rPr sz="1050" b="1" i="0" u="none">
                <a:solidFill>
                  <a:srgbClr val="141E27"/>
                </a:solidFill>
                <a:latin typeface="Helvetica Neue"/>
              </a:rPr>
              <a:t>Letta</a:t>
            </a:r>
          </a:p>
        </p:txBody>
      </p:sp>
      <p:sp>
        <p:nvSpPr>
          <p:cNvPr id="69" name="TextBox 68"/>
          <p:cNvSpPr txBox="1"/>
          <p:nvPr/>
        </p:nvSpPr>
        <p:spPr>
          <a:xfrm>
            <a:off x="1874519" y="3090672"/>
            <a:ext cx="1115568" cy="201168"/>
          </a:xfrm>
          <a:prstGeom prst="rect">
            <a:avLst/>
          </a:prstGeom>
          <a:noFill/>
        </p:spPr>
        <p:txBody>
          <a:bodyPr wrap="square" lIns="0" rIns="0" tIns="0" bIns="0" anchor="ctr">
            <a:spAutoFit/>
          </a:bodyPr>
          <a:lstStyle/>
          <a:p>
            <a:pPr algn="ctr"/>
            <a:r>
              <a:rPr sz="950" b="0" i="0" u="sng">
                <a:solidFill>
                  <a:srgbClr val="141E27"/>
                </a:solidFill>
                <a:latin typeface="Menlo"/>
              </a:rPr>
              <a:t>0.7855</a:t>
            </a:r>
          </a:p>
        </p:txBody>
      </p:sp>
      <p:sp>
        <p:nvSpPr>
          <p:cNvPr id="70" name="TextBox 69"/>
          <p:cNvSpPr txBox="1"/>
          <p:nvPr/>
        </p:nvSpPr>
        <p:spPr>
          <a:xfrm>
            <a:off x="2990087" y="3090672"/>
            <a:ext cx="1115568" cy="201168"/>
          </a:xfrm>
          <a:prstGeom prst="rect">
            <a:avLst/>
          </a:prstGeom>
          <a:noFill/>
        </p:spPr>
        <p:txBody>
          <a:bodyPr wrap="square" lIns="0" rIns="0" tIns="0" bIns="0" anchor="ctr">
            <a:spAutoFit/>
          </a:bodyPr>
          <a:lstStyle/>
          <a:p>
            <a:pPr algn="ctr"/>
            <a:r>
              <a:rPr sz="950" b="0" i="0" u="none">
                <a:solidFill>
                  <a:srgbClr val="141E27"/>
                </a:solidFill>
                <a:latin typeface="Menlo"/>
              </a:rPr>
              <a:t>0.2374</a:t>
            </a:r>
          </a:p>
        </p:txBody>
      </p:sp>
      <p:sp>
        <p:nvSpPr>
          <p:cNvPr id="71" name="TextBox 70"/>
          <p:cNvSpPr txBox="1"/>
          <p:nvPr/>
        </p:nvSpPr>
        <p:spPr>
          <a:xfrm>
            <a:off x="4105655" y="3090672"/>
            <a:ext cx="1115568" cy="201168"/>
          </a:xfrm>
          <a:prstGeom prst="rect">
            <a:avLst/>
          </a:prstGeom>
          <a:noFill/>
        </p:spPr>
        <p:txBody>
          <a:bodyPr wrap="square" lIns="0" rIns="0" tIns="0" bIns="0" anchor="ctr">
            <a:spAutoFit/>
          </a:bodyPr>
          <a:lstStyle/>
          <a:p>
            <a:pPr algn="ctr"/>
            <a:r>
              <a:rPr sz="950" b="1" i="0" u="none">
                <a:solidFill>
                  <a:srgbClr val="141E27"/>
                </a:solidFill>
                <a:latin typeface="Menlo"/>
              </a:rPr>
              <a:t>0.0000</a:t>
            </a:r>
          </a:p>
        </p:txBody>
      </p:sp>
      <p:sp>
        <p:nvSpPr>
          <p:cNvPr id="72" name="TextBox 71"/>
          <p:cNvSpPr txBox="1"/>
          <p:nvPr/>
        </p:nvSpPr>
        <p:spPr>
          <a:xfrm>
            <a:off x="5221223" y="3090672"/>
            <a:ext cx="1115568" cy="201168"/>
          </a:xfrm>
          <a:prstGeom prst="rect">
            <a:avLst/>
          </a:prstGeom>
          <a:noFill/>
        </p:spPr>
        <p:txBody>
          <a:bodyPr wrap="square" lIns="0" rIns="0" tIns="0" bIns="0" anchor="ctr">
            <a:spAutoFit/>
          </a:bodyPr>
          <a:lstStyle/>
          <a:p>
            <a:pPr algn="ctr"/>
            <a:r>
              <a:rPr sz="950" b="0" i="0" u="none">
                <a:solidFill>
                  <a:srgbClr val="141E27"/>
                </a:solidFill>
                <a:latin typeface="Menlo"/>
              </a:rPr>
              <a:t>0.1515</a:t>
            </a:r>
          </a:p>
        </p:txBody>
      </p:sp>
      <p:sp>
        <p:nvSpPr>
          <p:cNvPr id="73" name="TextBox 72"/>
          <p:cNvSpPr txBox="1"/>
          <p:nvPr/>
        </p:nvSpPr>
        <p:spPr>
          <a:xfrm>
            <a:off x="6336791" y="3090672"/>
            <a:ext cx="1115568" cy="201168"/>
          </a:xfrm>
          <a:prstGeom prst="rect">
            <a:avLst/>
          </a:prstGeom>
          <a:noFill/>
        </p:spPr>
        <p:txBody>
          <a:bodyPr wrap="square" lIns="0" rIns="0" tIns="0" bIns="0" anchor="ctr">
            <a:spAutoFit/>
          </a:bodyPr>
          <a:lstStyle/>
          <a:p>
            <a:pPr algn="ctr"/>
            <a:r>
              <a:rPr sz="950" b="0" i="0" u="none">
                <a:solidFill>
                  <a:srgbClr val="141E27"/>
                </a:solidFill>
                <a:latin typeface="Menlo"/>
              </a:rPr>
              <a:t>0.3889</a:t>
            </a:r>
          </a:p>
        </p:txBody>
      </p:sp>
      <p:sp>
        <p:nvSpPr>
          <p:cNvPr id="74" name="TextBox 73"/>
          <p:cNvSpPr txBox="1"/>
          <p:nvPr/>
        </p:nvSpPr>
        <p:spPr>
          <a:xfrm>
            <a:off x="7452359" y="3090672"/>
            <a:ext cx="1115568" cy="201168"/>
          </a:xfrm>
          <a:prstGeom prst="rect">
            <a:avLst/>
          </a:prstGeom>
          <a:noFill/>
        </p:spPr>
        <p:txBody>
          <a:bodyPr wrap="square" lIns="0" rIns="0" tIns="0" bIns="0" anchor="ctr">
            <a:spAutoFit/>
          </a:bodyPr>
          <a:lstStyle/>
          <a:p>
            <a:pPr algn="ctr"/>
            <a:r>
              <a:rPr sz="950" b="0" i="0" u="none">
                <a:solidFill>
                  <a:srgbClr val="141E27"/>
                </a:solidFill>
                <a:latin typeface="Menlo"/>
              </a:rPr>
              <a:t>0.6080</a:t>
            </a:r>
          </a:p>
        </p:txBody>
      </p:sp>
      <p:sp>
        <p:nvSpPr>
          <p:cNvPr id="75" name="TextBox 74"/>
          <p:cNvSpPr txBox="1"/>
          <p:nvPr/>
        </p:nvSpPr>
        <p:spPr>
          <a:xfrm>
            <a:off x="8567928" y="3090672"/>
            <a:ext cx="1207008" cy="201168"/>
          </a:xfrm>
          <a:prstGeom prst="rect">
            <a:avLst/>
          </a:prstGeom>
          <a:noFill/>
        </p:spPr>
        <p:txBody>
          <a:bodyPr wrap="square" lIns="0" rIns="0" tIns="0" bIns="0" anchor="ctr">
            <a:spAutoFit/>
          </a:bodyPr>
          <a:lstStyle/>
          <a:p>
            <a:pPr algn="ctr"/>
            <a:r>
              <a:rPr sz="950" b="0" i="0" u="none">
                <a:solidFill>
                  <a:srgbClr val="141E27"/>
                </a:solidFill>
                <a:latin typeface="Menlo"/>
              </a:rPr>
              <a:t>0.0000</a:t>
            </a:r>
          </a:p>
        </p:txBody>
      </p:sp>
      <p:sp>
        <p:nvSpPr>
          <p:cNvPr id="76" name="TextBox 75"/>
          <p:cNvSpPr txBox="1"/>
          <p:nvPr/>
        </p:nvSpPr>
        <p:spPr>
          <a:xfrm>
            <a:off x="9774936" y="3090672"/>
            <a:ext cx="1261872" cy="201168"/>
          </a:xfrm>
          <a:prstGeom prst="rect">
            <a:avLst/>
          </a:prstGeom>
          <a:noFill/>
        </p:spPr>
        <p:txBody>
          <a:bodyPr wrap="square" lIns="0" rIns="0" tIns="0" bIns="0" anchor="ctr">
            <a:spAutoFit/>
          </a:bodyPr>
          <a:lstStyle/>
          <a:p>
            <a:pPr algn="ctr"/>
            <a:r>
              <a:rPr sz="950" b="0" i="0" u="none">
                <a:solidFill>
                  <a:srgbClr val="141E27"/>
                </a:solidFill>
                <a:latin typeface="Menlo"/>
              </a:rPr>
              <a:t>0.06</a:t>
            </a:r>
          </a:p>
        </p:txBody>
      </p:sp>
      <p:cxnSp>
        <p:nvCxnSpPr>
          <p:cNvPr id="77" name="Connector 76"/>
          <p:cNvCxnSpPr/>
          <p:nvPr/>
        </p:nvCxnSpPr>
        <p:spPr>
          <a:xfrm>
            <a:off x="502920" y="3328415"/>
            <a:ext cx="10533888" cy="0"/>
          </a:xfrm>
          <a:prstGeom prst="line">
            <a:avLst/>
          </a:prstGeom>
          <a:ln w="22225">
            <a:solidFill>
              <a:srgbClr val="141E27"/>
            </a:solidFill>
          </a:ln>
        </p:spPr>
        <p:style>
          <a:lnRef idx="2">
            <a:schemeClr val="accent1"/>
          </a:lnRef>
          <a:fillRef idx="0">
            <a:schemeClr val="accent1"/>
          </a:fillRef>
          <a:effectRef idx="1">
            <a:schemeClr val="accent1"/>
          </a:effectRef>
          <a:fontRef idx="minor">
            <a:schemeClr val="tx1"/>
          </a:fontRef>
        </p:style>
      </p:cxnSp>
      <p:sp>
        <p:nvSpPr>
          <p:cNvPr id="78" name="TextBox 77"/>
          <p:cNvSpPr txBox="1"/>
          <p:nvPr/>
        </p:nvSpPr>
        <p:spPr>
          <a:xfrm>
            <a:off x="502920" y="3392423"/>
            <a:ext cx="10881360" cy="182880"/>
          </a:xfrm>
          <a:prstGeom prst="rect">
            <a:avLst/>
          </a:prstGeom>
          <a:noFill/>
        </p:spPr>
        <p:txBody>
          <a:bodyPr wrap="square" lIns="0" rIns="0" tIns="0" bIns="0" anchor="ctr">
            <a:spAutoFit/>
          </a:bodyPr>
          <a:lstStyle/>
          <a:p>
            <a:pPr algn="l"/>
            <a:r>
              <a:rPr sz="850" b="0" i="1" u="none">
                <a:solidFill>
                  <a:srgbClr val="7E8D9B"/>
                </a:solidFill>
                <a:latin typeface="Helvetica Neue"/>
              </a:rPr>
              <a:t>Bold is the best value in a column, underline the second best. Each error is attributed to exactly one stage, so P1 + P4 + P5 is the error column. Entries per turn is context, not a score, and is left unranked.</a:t>
            </a:r>
          </a:p>
        </p:txBody>
      </p:sp>
      <p:sp>
        <p:nvSpPr>
          <p:cNvPr id="79" name="TextBox 78"/>
          <p:cNvSpPr txBox="1"/>
          <p:nvPr/>
        </p:nvSpPr>
        <p:spPr>
          <a:xfrm>
            <a:off x="502920" y="3602736"/>
            <a:ext cx="5943600" cy="201168"/>
          </a:xfrm>
          <a:prstGeom prst="rect">
            <a:avLst/>
          </a:prstGeom>
          <a:noFill/>
        </p:spPr>
        <p:txBody>
          <a:bodyPr wrap="square" lIns="0" rIns="0" tIns="0" bIns="0" anchor="ctr">
            <a:spAutoFit/>
          </a:bodyPr>
          <a:lstStyle/>
          <a:p>
            <a:pPr algn="l"/>
            <a:r>
              <a:rPr sz="1050" b="1" i="0" u="none">
                <a:solidFill>
                  <a:srgbClr val="4C5C6B"/>
                </a:solidFill>
                <a:latin typeface="Helvetica Neue"/>
              </a:rPr>
              <a:t>Table 2.  MemFail  (35 questions, five subsets; identical for all five)</a:t>
            </a:r>
          </a:p>
        </p:txBody>
      </p:sp>
      <p:cxnSp>
        <p:nvCxnSpPr>
          <p:cNvPr id="80" name="Connector 79"/>
          <p:cNvCxnSpPr/>
          <p:nvPr/>
        </p:nvCxnSpPr>
        <p:spPr>
          <a:xfrm>
            <a:off x="502920" y="3840480"/>
            <a:ext cx="5577839" cy="0"/>
          </a:xfrm>
          <a:prstGeom prst="line">
            <a:avLst/>
          </a:prstGeom>
          <a:ln w="22225">
            <a:solidFill>
              <a:srgbClr val="141E27"/>
            </a:solidFill>
          </a:ln>
        </p:spPr>
        <p:style>
          <a:lnRef idx="2">
            <a:schemeClr val="accent1"/>
          </a:lnRef>
          <a:fillRef idx="0">
            <a:schemeClr val="accent1"/>
          </a:fillRef>
          <a:effectRef idx="1">
            <a:schemeClr val="accent1"/>
          </a:effectRef>
          <a:fontRef idx="minor">
            <a:schemeClr val="tx1"/>
          </a:fontRef>
        </p:style>
      </p:cxnSp>
      <p:sp>
        <p:nvSpPr>
          <p:cNvPr id="81" name="TextBox 80"/>
          <p:cNvSpPr txBox="1"/>
          <p:nvPr/>
        </p:nvSpPr>
        <p:spPr>
          <a:xfrm>
            <a:off x="502920" y="3886200"/>
            <a:ext cx="960120" cy="164592"/>
          </a:xfrm>
          <a:prstGeom prst="rect">
            <a:avLst/>
          </a:prstGeom>
          <a:noFill/>
        </p:spPr>
        <p:txBody>
          <a:bodyPr wrap="square" lIns="0" rIns="0" tIns="0" bIns="0" anchor="ctr">
            <a:spAutoFit/>
          </a:bodyPr>
          <a:lstStyle/>
          <a:p>
            <a:pPr algn="l"/>
            <a:r>
              <a:rPr sz="850" b="1" i="0" u="none">
                <a:solidFill>
                  <a:srgbClr val="7E8D9B"/>
                </a:solidFill>
                <a:latin typeface="Helvetica Neue"/>
              </a:rPr>
              <a:t/>
            </a:r>
          </a:p>
        </p:txBody>
      </p:sp>
      <p:sp>
        <p:nvSpPr>
          <p:cNvPr id="82" name="TextBox 81"/>
          <p:cNvSpPr txBox="1"/>
          <p:nvPr/>
        </p:nvSpPr>
        <p:spPr>
          <a:xfrm>
            <a:off x="502920" y="4050792"/>
            <a:ext cx="960120" cy="164592"/>
          </a:xfrm>
          <a:prstGeom prst="rect">
            <a:avLst/>
          </a:prstGeom>
          <a:noFill/>
        </p:spPr>
        <p:txBody>
          <a:bodyPr wrap="square" lIns="0" rIns="0" tIns="0" bIns="0" anchor="ctr">
            <a:spAutoFit/>
          </a:bodyPr>
          <a:lstStyle/>
          <a:p>
            <a:pPr algn="l"/>
            <a:r>
              <a:rPr sz="950" b="1" i="0" u="none">
                <a:solidFill>
                  <a:srgbClr val="4C5C6B"/>
                </a:solidFill>
                <a:latin typeface="Helvetica Neue"/>
              </a:rPr>
              <a:t/>
            </a:r>
          </a:p>
        </p:txBody>
      </p:sp>
      <p:sp>
        <p:nvSpPr>
          <p:cNvPr id="83" name="TextBox 82"/>
          <p:cNvSpPr txBox="1"/>
          <p:nvPr/>
        </p:nvSpPr>
        <p:spPr>
          <a:xfrm>
            <a:off x="1463040" y="3886200"/>
            <a:ext cx="914400" cy="164592"/>
          </a:xfrm>
          <a:prstGeom prst="rect">
            <a:avLst/>
          </a:prstGeom>
          <a:noFill/>
        </p:spPr>
        <p:txBody>
          <a:bodyPr wrap="square" lIns="0" rIns="0" tIns="0" bIns="0" anchor="ctr">
            <a:spAutoFit/>
          </a:bodyPr>
          <a:lstStyle/>
          <a:p>
            <a:pPr algn="ctr"/>
            <a:r>
              <a:rPr sz="850" b="1" i="0" u="none">
                <a:solidFill>
                  <a:srgbClr val="7E8D9B"/>
                </a:solidFill>
                <a:latin typeface="Helvetica Neue"/>
              </a:rPr>
              <a:t>Summary</a:t>
            </a:r>
          </a:p>
        </p:txBody>
      </p:sp>
      <p:sp>
        <p:nvSpPr>
          <p:cNvPr id="84" name="TextBox 83"/>
          <p:cNvSpPr txBox="1"/>
          <p:nvPr/>
        </p:nvSpPr>
        <p:spPr>
          <a:xfrm>
            <a:off x="1463040" y="4050792"/>
            <a:ext cx="914400" cy="164592"/>
          </a:xfrm>
          <a:prstGeom prst="rect">
            <a:avLst/>
          </a:prstGeom>
          <a:noFill/>
        </p:spPr>
        <p:txBody>
          <a:bodyPr wrap="square" lIns="0" rIns="0" tIns="0" bIns="0" anchor="ctr">
            <a:spAutoFit/>
          </a:bodyPr>
          <a:lstStyle/>
          <a:p>
            <a:pPr algn="ctr"/>
            <a:r>
              <a:rPr sz="950" b="1" i="0" u="none">
                <a:solidFill>
                  <a:srgbClr val="4C5C6B"/>
                </a:solidFill>
                <a:latin typeface="Helvetica Neue"/>
              </a:rPr>
              <a:t>error ↓</a:t>
            </a:r>
          </a:p>
        </p:txBody>
      </p:sp>
      <p:sp>
        <p:nvSpPr>
          <p:cNvPr id="85" name="TextBox 84"/>
          <p:cNvSpPr txBox="1"/>
          <p:nvPr/>
        </p:nvSpPr>
        <p:spPr>
          <a:xfrm>
            <a:off x="2377440" y="3886200"/>
            <a:ext cx="914400" cy="164592"/>
          </a:xfrm>
          <a:prstGeom prst="rect">
            <a:avLst/>
          </a:prstGeom>
          <a:noFill/>
        </p:spPr>
        <p:txBody>
          <a:bodyPr wrap="square" lIns="0" rIns="0" tIns="0" bIns="0" anchor="ctr">
            <a:spAutoFit/>
          </a:bodyPr>
          <a:lstStyle/>
          <a:p>
            <a:pPr algn="ctr"/>
            <a:r>
              <a:rPr sz="850" b="1" i="0" u="none">
                <a:solidFill>
                  <a:srgbClr val="7E8D9B"/>
                </a:solidFill>
                <a:latin typeface="Helvetica Neue"/>
              </a:rPr>
              <a:t>Retrieval</a:t>
            </a:r>
          </a:p>
        </p:txBody>
      </p:sp>
      <p:sp>
        <p:nvSpPr>
          <p:cNvPr id="86" name="TextBox 85"/>
          <p:cNvSpPr txBox="1"/>
          <p:nvPr/>
        </p:nvSpPr>
        <p:spPr>
          <a:xfrm>
            <a:off x="2377440" y="4050792"/>
            <a:ext cx="914400" cy="164592"/>
          </a:xfrm>
          <a:prstGeom prst="rect">
            <a:avLst/>
          </a:prstGeom>
          <a:noFill/>
        </p:spPr>
        <p:txBody>
          <a:bodyPr wrap="square" lIns="0" rIns="0" tIns="0" bIns="0" anchor="ctr">
            <a:spAutoFit/>
          </a:bodyPr>
          <a:lstStyle/>
          <a:p>
            <a:pPr algn="ctr"/>
            <a:r>
              <a:rPr sz="950" b="1" i="0" u="none">
                <a:solidFill>
                  <a:srgbClr val="4C5C6B"/>
                </a:solidFill>
                <a:latin typeface="Helvetica Neue"/>
              </a:rPr>
              <a:t>error ↓</a:t>
            </a:r>
          </a:p>
        </p:txBody>
      </p:sp>
      <p:sp>
        <p:nvSpPr>
          <p:cNvPr id="87" name="TextBox 86"/>
          <p:cNvSpPr txBox="1"/>
          <p:nvPr/>
        </p:nvSpPr>
        <p:spPr>
          <a:xfrm>
            <a:off x="3291840" y="3886200"/>
            <a:ext cx="914400" cy="164592"/>
          </a:xfrm>
          <a:prstGeom prst="rect">
            <a:avLst/>
          </a:prstGeom>
          <a:noFill/>
        </p:spPr>
        <p:txBody>
          <a:bodyPr wrap="square" lIns="0" rIns="0" tIns="0" bIns="0" anchor="ctr">
            <a:spAutoFit/>
          </a:bodyPr>
          <a:lstStyle/>
          <a:p>
            <a:pPr algn="ctr"/>
            <a:r>
              <a:rPr sz="850" b="1" i="0" u="none">
                <a:solidFill>
                  <a:srgbClr val="7E8D9B"/>
                </a:solidFill>
                <a:latin typeface="Helvetica Neue"/>
              </a:rPr>
              <a:t>Reasoning</a:t>
            </a:r>
          </a:p>
        </p:txBody>
      </p:sp>
      <p:sp>
        <p:nvSpPr>
          <p:cNvPr id="88" name="TextBox 87"/>
          <p:cNvSpPr txBox="1"/>
          <p:nvPr/>
        </p:nvSpPr>
        <p:spPr>
          <a:xfrm>
            <a:off x="3291840" y="4050792"/>
            <a:ext cx="914400" cy="164592"/>
          </a:xfrm>
          <a:prstGeom prst="rect">
            <a:avLst/>
          </a:prstGeom>
          <a:noFill/>
        </p:spPr>
        <p:txBody>
          <a:bodyPr wrap="square" lIns="0" rIns="0" tIns="0" bIns="0" anchor="ctr">
            <a:spAutoFit/>
          </a:bodyPr>
          <a:lstStyle/>
          <a:p>
            <a:pPr algn="ctr"/>
            <a:r>
              <a:rPr sz="950" b="1" i="0" u="none">
                <a:solidFill>
                  <a:srgbClr val="4C5C6B"/>
                </a:solidFill>
                <a:latin typeface="Helvetica Neue"/>
              </a:rPr>
              <a:t>error ↓</a:t>
            </a:r>
          </a:p>
        </p:txBody>
      </p:sp>
      <p:sp>
        <p:nvSpPr>
          <p:cNvPr id="89" name="TextBox 88"/>
          <p:cNvSpPr txBox="1"/>
          <p:nvPr/>
        </p:nvSpPr>
        <p:spPr>
          <a:xfrm>
            <a:off x="4206240" y="3886200"/>
            <a:ext cx="914400" cy="164592"/>
          </a:xfrm>
          <a:prstGeom prst="rect">
            <a:avLst/>
          </a:prstGeom>
          <a:noFill/>
        </p:spPr>
        <p:txBody>
          <a:bodyPr wrap="square" lIns="0" rIns="0" tIns="0" bIns="0" anchor="ctr">
            <a:spAutoFit/>
          </a:bodyPr>
          <a:lstStyle/>
          <a:p>
            <a:pPr algn="ctr"/>
            <a:r>
              <a:rPr sz="850" b="1" i="0" u="none">
                <a:solidFill>
                  <a:srgbClr val="7E8D9B"/>
                </a:solidFill>
                <a:latin typeface="Helvetica Neue"/>
              </a:rPr>
              <a:t>Overall</a:t>
            </a:r>
          </a:p>
        </p:txBody>
      </p:sp>
      <p:sp>
        <p:nvSpPr>
          <p:cNvPr id="90" name="TextBox 89"/>
          <p:cNvSpPr txBox="1"/>
          <p:nvPr/>
        </p:nvSpPr>
        <p:spPr>
          <a:xfrm>
            <a:off x="4206240" y="4050792"/>
            <a:ext cx="914400" cy="164592"/>
          </a:xfrm>
          <a:prstGeom prst="rect">
            <a:avLst/>
          </a:prstGeom>
          <a:noFill/>
        </p:spPr>
        <p:txBody>
          <a:bodyPr wrap="square" lIns="0" rIns="0" tIns="0" bIns="0" anchor="ctr">
            <a:spAutoFit/>
          </a:bodyPr>
          <a:lstStyle/>
          <a:p>
            <a:pPr algn="ctr"/>
            <a:r>
              <a:rPr sz="950" b="1" i="0" u="none">
                <a:solidFill>
                  <a:srgbClr val="4C5C6B"/>
                </a:solidFill>
                <a:latin typeface="Helvetica Neue"/>
              </a:rPr>
              <a:t>correct ↑</a:t>
            </a:r>
          </a:p>
        </p:txBody>
      </p:sp>
      <p:sp>
        <p:nvSpPr>
          <p:cNvPr id="91" name="TextBox 90"/>
          <p:cNvSpPr txBox="1"/>
          <p:nvPr/>
        </p:nvSpPr>
        <p:spPr>
          <a:xfrm>
            <a:off x="5120640" y="3886200"/>
            <a:ext cx="960120" cy="164592"/>
          </a:xfrm>
          <a:prstGeom prst="rect">
            <a:avLst/>
          </a:prstGeom>
          <a:noFill/>
        </p:spPr>
        <p:txBody>
          <a:bodyPr wrap="square" lIns="0" rIns="0" tIns="0" bIns="0" anchor="ctr">
            <a:spAutoFit/>
          </a:bodyPr>
          <a:lstStyle/>
          <a:p>
            <a:pPr algn="ctr"/>
            <a:r>
              <a:rPr sz="850" b="1" i="0" u="none">
                <a:solidFill>
                  <a:srgbClr val="7E8D9B"/>
                </a:solidFill>
                <a:latin typeface="Helvetica Neue"/>
              </a:rPr>
              <a:t>Coexist</a:t>
            </a:r>
          </a:p>
        </p:txBody>
      </p:sp>
      <p:sp>
        <p:nvSpPr>
          <p:cNvPr id="92" name="TextBox 91"/>
          <p:cNvSpPr txBox="1"/>
          <p:nvPr/>
        </p:nvSpPr>
        <p:spPr>
          <a:xfrm>
            <a:off x="5120640" y="4050792"/>
            <a:ext cx="960120" cy="164592"/>
          </a:xfrm>
          <a:prstGeom prst="rect">
            <a:avLst/>
          </a:prstGeom>
          <a:noFill/>
        </p:spPr>
        <p:txBody>
          <a:bodyPr wrap="square" lIns="0" rIns="0" tIns="0" bIns="0" anchor="ctr">
            <a:spAutoFit/>
          </a:bodyPr>
          <a:lstStyle/>
          <a:p>
            <a:pPr algn="ctr"/>
            <a:r>
              <a:rPr sz="950" b="1" i="0" u="none">
                <a:solidFill>
                  <a:srgbClr val="4C5C6B"/>
                </a:solidFill>
                <a:latin typeface="Helvetica Neue"/>
              </a:rPr>
              <a:t>facts ↑</a:t>
            </a:r>
          </a:p>
        </p:txBody>
      </p:sp>
      <p:cxnSp>
        <p:nvCxnSpPr>
          <p:cNvPr id="93" name="Connector 92"/>
          <p:cNvCxnSpPr/>
          <p:nvPr/>
        </p:nvCxnSpPr>
        <p:spPr>
          <a:xfrm>
            <a:off x="502920" y="4242816"/>
            <a:ext cx="5577839" cy="0"/>
          </a:xfrm>
          <a:prstGeom prst="line">
            <a:avLst/>
          </a:prstGeom>
          <a:ln w="11430">
            <a:solidFill>
              <a:srgbClr val="141E27"/>
            </a:solidFill>
          </a:ln>
        </p:spPr>
        <p:style>
          <a:lnRef idx="2">
            <a:schemeClr val="accent1"/>
          </a:lnRef>
          <a:fillRef idx="0">
            <a:schemeClr val="accent1"/>
          </a:fillRef>
          <a:effectRef idx="1">
            <a:schemeClr val="accent1"/>
          </a:effectRef>
          <a:fontRef idx="minor">
            <a:schemeClr val="tx1"/>
          </a:fontRef>
        </p:style>
      </p:cxnSp>
      <p:sp>
        <p:nvSpPr>
          <p:cNvPr id="94" name="TextBox 93"/>
          <p:cNvSpPr txBox="1"/>
          <p:nvPr/>
        </p:nvSpPr>
        <p:spPr>
          <a:xfrm>
            <a:off x="502920" y="4270248"/>
            <a:ext cx="960120" cy="201168"/>
          </a:xfrm>
          <a:prstGeom prst="rect">
            <a:avLst/>
          </a:prstGeom>
          <a:noFill/>
        </p:spPr>
        <p:txBody>
          <a:bodyPr wrap="square" lIns="0" rIns="0" tIns="0" bIns="0" anchor="ctr">
            <a:spAutoFit/>
          </a:bodyPr>
          <a:lstStyle/>
          <a:p>
            <a:pPr algn="l"/>
            <a:r>
              <a:rPr sz="1050" b="1" i="0" u="none">
                <a:solidFill>
                  <a:srgbClr val="141E27"/>
                </a:solidFill>
                <a:latin typeface="Helvetica Neue"/>
              </a:rPr>
              <a:t>Mem0 v1</a:t>
            </a:r>
          </a:p>
        </p:txBody>
      </p:sp>
      <p:sp>
        <p:nvSpPr>
          <p:cNvPr id="95" name="TextBox 94"/>
          <p:cNvSpPr txBox="1"/>
          <p:nvPr/>
        </p:nvSpPr>
        <p:spPr>
          <a:xfrm>
            <a:off x="1463040" y="4270248"/>
            <a:ext cx="914400" cy="201168"/>
          </a:xfrm>
          <a:prstGeom prst="rect">
            <a:avLst/>
          </a:prstGeom>
          <a:noFill/>
        </p:spPr>
        <p:txBody>
          <a:bodyPr wrap="square" lIns="0" rIns="0" tIns="0" bIns="0" anchor="ctr">
            <a:spAutoFit/>
          </a:bodyPr>
          <a:lstStyle/>
          <a:p>
            <a:pPr algn="ctr"/>
            <a:r>
              <a:rPr sz="950" b="0" i="0" u="none">
                <a:solidFill>
                  <a:srgbClr val="141E27"/>
                </a:solidFill>
                <a:latin typeface="Menlo"/>
              </a:rPr>
              <a:t>0.114</a:t>
            </a:r>
          </a:p>
        </p:txBody>
      </p:sp>
      <p:sp>
        <p:nvSpPr>
          <p:cNvPr id="96" name="TextBox 95"/>
          <p:cNvSpPr txBox="1"/>
          <p:nvPr/>
        </p:nvSpPr>
        <p:spPr>
          <a:xfrm>
            <a:off x="2377440" y="4270248"/>
            <a:ext cx="914400" cy="201168"/>
          </a:xfrm>
          <a:prstGeom prst="rect">
            <a:avLst/>
          </a:prstGeom>
          <a:noFill/>
        </p:spPr>
        <p:txBody>
          <a:bodyPr wrap="square" lIns="0" rIns="0" tIns="0" bIns="0" anchor="ctr">
            <a:spAutoFit/>
          </a:bodyPr>
          <a:lstStyle/>
          <a:p>
            <a:pPr algn="ctr"/>
            <a:r>
              <a:rPr sz="950" b="0" i="0" u="none">
                <a:solidFill>
                  <a:srgbClr val="141E27"/>
                </a:solidFill>
                <a:latin typeface="Menlo"/>
              </a:rPr>
              <a:t>0.057</a:t>
            </a:r>
          </a:p>
        </p:txBody>
      </p:sp>
      <p:sp>
        <p:nvSpPr>
          <p:cNvPr id="97" name="TextBox 96"/>
          <p:cNvSpPr txBox="1"/>
          <p:nvPr/>
        </p:nvSpPr>
        <p:spPr>
          <a:xfrm>
            <a:off x="3291840" y="4270248"/>
            <a:ext cx="914400" cy="201168"/>
          </a:xfrm>
          <a:prstGeom prst="rect">
            <a:avLst/>
          </a:prstGeom>
          <a:noFill/>
        </p:spPr>
        <p:txBody>
          <a:bodyPr wrap="square" lIns="0" rIns="0" tIns="0" bIns="0" anchor="ctr">
            <a:spAutoFit/>
          </a:bodyPr>
          <a:lstStyle/>
          <a:p>
            <a:pPr algn="ctr"/>
            <a:r>
              <a:rPr sz="950" b="1" i="0" u="none">
                <a:solidFill>
                  <a:srgbClr val="141E27"/>
                </a:solidFill>
                <a:latin typeface="Menlo"/>
              </a:rPr>
              <a:t>0.086</a:t>
            </a:r>
          </a:p>
        </p:txBody>
      </p:sp>
      <p:sp>
        <p:nvSpPr>
          <p:cNvPr id="98" name="TextBox 97"/>
          <p:cNvSpPr txBox="1"/>
          <p:nvPr/>
        </p:nvSpPr>
        <p:spPr>
          <a:xfrm>
            <a:off x="4206240" y="4270248"/>
            <a:ext cx="914400" cy="201168"/>
          </a:xfrm>
          <a:prstGeom prst="rect">
            <a:avLst/>
          </a:prstGeom>
          <a:noFill/>
        </p:spPr>
        <p:txBody>
          <a:bodyPr wrap="square" lIns="0" rIns="0" tIns="0" bIns="0" anchor="ctr">
            <a:spAutoFit/>
          </a:bodyPr>
          <a:lstStyle/>
          <a:p>
            <a:pPr algn="ctr"/>
            <a:r>
              <a:rPr sz="950" b="0" i="0" u="none">
                <a:solidFill>
                  <a:srgbClr val="141E27"/>
                </a:solidFill>
                <a:latin typeface="Menlo"/>
              </a:rPr>
              <a:t>0.743</a:t>
            </a:r>
          </a:p>
        </p:txBody>
      </p:sp>
      <p:sp>
        <p:nvSpPr>
          <p:cNvPr id="99" name="TextBox 98"/>
          <p:cNvSpPr txBox="1"/>
          <p:nvPr/>
        </p:nvSpPr>
        <p:spPr>
          <a:xfrm>
            <a:off x="5120640" y="4270248"/>
            <a:ext cx="960120" cy="201168"/>
          </a:xfrm>
          <a:prstGeom prst="rect">
            <a:avLst/>
          </a:prstGeom>
          <a:noFill/>
        </p:spPr>
        <p:txBody>
          <a:bodyPr wrap="square" lIns="0" rIns="0" tIns="0" bIns="0" anchor="ctr">
            <a:spAutoFit/>
          </a:bodyPr>
          <a:lstStyle/>
          <a:p>
            <a:pPr algn="ctr"/>
            <a:r>
              <a:rPr sz="950" b="0" i="0" u="sng">
                <a:solidFill>
                  <a:srgbClr val="141E27"/>
                </a:solidFill>
                <a:latin typeface="Menlo"/>
              </a:rPr>
              <a:t>0.400</a:t>
            </a:r>
          </a:p>
        </p:txBody>
      </p:sp>
      <p:sp>
        <p:nvSpPr>
          <p:cNvPr id="100" name="TextBox 99"/>
          <p:cNvSpPr txBox="1"/>
          <p:nvPr/>
        </p:nvSpPr>
        <p:spPr>
          <a:xfrm>
            <a:off x="502920" y="4535424"/>
            <a:ext cx="960120" cy="201168"/>
          </a:xfrm>
          <a:prstGeom prst="rect">
            <a:avLst/>
          </a:prstGeom>
          <a:noFill/>
        </p:spPr>
        <p:txBody>
          <a:bodyPr wrap="square" lIns="0" rIns="0" tIns="0" bIns="0" anchor="ctr">
            <a:spAutoFit/>
          </a:bodyPr>
          <a:lstStyle/>
          <a:p>
            <a:pPr algn="l"/>
            <a:r>
              <a:rPr sz="1050" b="1" i="0" u="none">
                <a:solidFill>
                  <a:srgbClr val="141E27"/>
                </a:solidFill>
                <a:latin typeface="Helvetica Neue"/>
              </a:rPr>
              <a:t>Mem0 v2</a:t>
            </a:r>
          </a:p>
        </p:txBody>
      </p:sp>
      <p:sp>
        <p:nvSpPr>
          <p:cNvPr id="101" name="TextBox 100"/>
          <p:cNvSpPr txBox="1"/>
          <p:nvPr/>
        </p:nvSpPr>
        <p:spPr>
          <a:xfrm>
            <a:off x="1463040" y="4535424"/>
            <a:ext cx="914400" cy="201168"/>
          </a:xfrm>
          <a:prstGeom prst="rect">
            <a:avLst/>
          </a:prstGeom>
          <a:noFill/>
        </p:spPr>
        <p:txBody>
          <a:bodyPr wrap="square" lIns="0" rIns="0" tIns="0" bIns="0" anchor="ctr">
            <a:spAutoFit/>
          </a:bodyPr>
          <a:lstStyle/>
          <a:p>
            <a:pPr algn="ctr"/>
            <a:r>
              <a:rPr sz="950" b="0" i="0" u="sng">
                <a:solidFill>
                  <a:srgbClr val="141E27"/>
                </a:solidFill>
                <a:latin typeface="Menlo"/>
              </a:rPr>
              <a:t>0.057</a:t>
            </a:r>
          </a:p>
        </p:txBody>
      </p:sp>
      <p:sp>
        <p:nvSpPr>
          <p:cNvPr id="102" name="TextBox 101"/>
          <p:cNvSpPr txBox="1"/>
          <p:nvPr/>
        </p:nvSpPr>
        <p:spPr>
          <a:xfrm>
            <a:off x="2377440" y="4535424"/>
            <a:ext cx="914400" cy="201168"/>
          </a:xfrm>
          <a:prstGeom prst="rect">
            <a:avLst/>
          </a:prstGeom>
          <a:noFill/>
        </p:spPr>
        <p:txBody>
          <a:bodyPr wrap="square" lIns="0" rIns="0" tIns="0" bIns="0" anchor="ctr">
            <a:spAutoFit/>
          </a:bodyPr>
          <a:lstStyle/>
          <a:p>
            <a:pPr algn="ctr"/>
            <a:r>
              <a:rPr sz="950" b="0" i="0" u="none">
                <a:solidFill>
                  <a:srgbClr val="141E27"/>
                </a:solidFill>
                <a:latin typeface="Menlo"/>
              </a:rPr>
              <a:t>0.057</a:t>
            </a:r>
          </a:p>
        </p:txBody>
      </p:sp>
      <p:sp>
        <p:nvSpPr>
          <p:cNvPr id="103" name="TextBox 102"/>
          <p:cNvSpPr txBox="1"/>
          <p:nvPr/>
        </p:nvSpPr>
        <p:spPr>
          <a:xfrm>
            <a:off x="3291840" y="4535424"/>
            <a:ext cx="914400" cy="201168"/>
          </a:xfrm>
          <a:prstGeom prst="rect">
            <a:avLst/>
          </a:prstGeom>
          <a:noFill/>
        </p:spPr>
        <p:txBody>
          <a:bodyPr wrap="square" lIns="0" rIns="0" tIns="0" bIns="0" anchor="ctr">
            <a:spAutoFit/>
          </a:bodyPr>
          <a:lstStyle/>
          <a:p>
            <a:pPr algn="ctr"/>
            <a:r>
              <a:rPr sz="950" b="1" i="0" u="none">
                <a:solidFill>
                  <a:srgbClr val="141E27"/>
                </a:solidFill>
                <a:latin typeface="Menlo"/>
              </a:rPr>
              <a:t>0.086</a:t>
            </a:r>
          </a:p>
        </p:txBody>
      </p:sp>
      <p:sp>
        <p:nvSpPr>
          <p:cNvPr id="104" name="TextBox 103"/>
          <p:cNvSpPr txBox="1"/>
          <p:nvPr/>
        </p:nvSpPr>
        <p:spPr>
          <a:xfrm>
            <a:off x="4206240" y="4535424"/>
            <a:ext cx="914400" cy="201168"/>
          </a:xfrm>
          <a:prstGeom prst="rect">
            <a:avLst/>
          </a:prstGeom>
          <a:noFill/>
        </p:spPr>
        <p:txBody>
          <a:bodyPr wrap="square" lIns="0" rIns="0" tIns="0" bIns="0" anchor="ctr">
            <a:spAutoFit/>
          </a:bodyPr>
          <a:lstStyle/>
          <a:p>
            <a:pPr algn="ctr"/>
            <a:r>
              <a:rPr sz="950" b="0" i="0" u="sng">
                <a:solidFill>
                  <a:srgbClr val="141E27"/>
                </a:solidFill>
                <a:latin typeface="Menlo"/>
              </a:rPr>
              <a:t>0.771</a:t>
            </a:r>
          </a:p>
        </p:txBody>
      </p:sp>
      <p:sp>
        <p:nvSpPr>
          <p:cNvPr id="105" name="TextBox 104"/>
          <p:cNvSpPr txBox="1"/>
          <p:nvPr/>
        </p:nvSpPr>
        <p:spPr>
          <a:xfrm>
            <a:off x="5120640" y="4535424"/>
            <a:ext cx="960120" cy="201168"/>
          </a:xfrm>
          <a:prstGeom prst="rect">
            <a:avLst/>
          </a:prstGeom>
          <a:noFill/>
        </p:spPr>
        <p:txBody>
          <a:bodyPr wrap="square" lIns="0" rIns="0" tIns="0" bIns="0" anchor="ctr">
            <a:spAutoFit/>
          </a:bodyPr>
          <a:lstStyle/>
          <a:p>
            <a:pPr algn="ctr"/>
            <a:r>
              <a:rPr sz="950" b="0" i="0" u="sng">
                <a:solidFill>
                  <a:srgbClr val="141E27"/>
                </a:solidFill>
                <a:latin typeface="Menlo"/>
              </a:rPr>
              <a:t>0.400</a:t>
            </a:r>
          </a:p>
        </p:txBody>
      </p:sp>
      <p:sp>
        <p:nvSpPr>
          <p:cNvPr id="107" name="TextBox 106"/>
          <p:cNvSpPr txBox="1"/>
          <p:nvPr/>
        </p:nvSpPr>
        <p:spPr>
          <a:xfrm>
            <a:off x="502920" y="4800600"/>
            <a:ext cx="960120" cy="201168"/>
          </a:xfrm>
          <a:prstGeom prst="rect">
            <a:avLst/>
          </a:prstGeom>
          <a:noFill/>
        </p:spPr>
        <p:txBody>
          <a:bodyPr wrap="square" lIns="0" rIns="0" tIns="0" bIns="0" anchor="ctr">
            <a:spAutoFit/>
          </a:bodyPr>
          <a:lstStyle/>
          <a:p>
            <a:pPr algn="l"/>
            <a:r>
              <a:rPr sz="1050" b="1" i="0" u="none">
                <a:solidFill>
                  <a:srgbClr val="141E27"/>
                </a:solidFill>
                <a:latin typeface="Helvetica Neue"/>
              </a:rPr>
              <a:t>StructMem</a:t>
            </a:r>
          </a:p>
        </p:txBody>
      </p:sp>
      <p:sp>
        <p:nvSpPr>
          <p:cNvPr id="108" name="TextBox 107"/>
          <p:cNvSpPr txBox="1"/>
          <p:nvPr/>
        </p:nvSpPr>
        <p:spPr>
          <a:xfrm>
            <a:off x="1463040" y="4800600"/>
            <a:ext cx="914400" cy="201168"/>
          </a:xfrm>
          <a:prstGeom prst="rect">
            <a:avLst/>
          </a:prstGeom>
          <a:noFill/>
        </p:spPr>
        <p:txBody>
          <a:bodyPr wrap="square" lIns="0" rIns="0" tIns="0" bIns="0" anchor="ctr">
            <a:spAutoFit/>
          </a:bodyPr>
          <a:lstStyle/>
          <a:p>
            <a:pPr algn="ctr"/>
            <a:r>
              <a:rPr sz="950" b="1" i="0" u="none">
                <a:solidFill>
                  <a:srgbClr val="141E27"/>
                </a:solidFill>
                <a:latin typeface="Menlo"/>
              </a:rPr>
              <a:t>0.000</a:t>
            </a:r>
          </a:p>
        </p:txBody>
      </p:sp>
      <p:sp>
        <p:nvSpPr>
          <p:cNvPr id="109" name="TextBox 108"/>
          <p:cNvSpPr txBox="1"/>
          <p:nvPr/>
        </p:nvSpPr>
        <p:spPr>
          <a:xfrm>
            <a:off x="2377440" y="4800600"/>
            <a:ext cx="914400" cy="201168"/>
          </a:xfrm>
          <a:prstGeom prst="rect">
            <a:avLst/>
          </a:prstGeom>
          <a:noFill/>
        </p:spPr>
        <p:txBody>
          <a:bodyPr wrap="square" lIns="0" rIns="0" tIns="0" bIns="0" anchor="ctr">
            <a:spAutoFit/>
          </a:bodyPr>
          <a:lstStyle/>
          <a:p>
            <a:pPr algn="ctr"/>
            <a:r>
              <a:rPr sz="950" b="0" i="0" u="sng">
                <a:solidFill>
                  <a:srgbClr val="141E27"/>
                </a:solidFill>
                <a:latin typeface="Menlo"/>
              </a:rPr>
              <a:t>0.029</a:t>
            </a:r>
          </a:p>
        </p:txBody>
      </p:sp>
      <p:sp>
        <p:nvSpPr>
          <p:cNvPr id="110" name="TextBox 109"/>
          <p:cNvSpPr txBox="1"/>
          <p:nvPr/>
        </p:nvSpPr>
        <p:spPr>
          <a:xfrm>
            <a:off x="3291840" y="4800600"/>
            <a:ext cx="914400" cy="201168"/>
          </a:xfrm>
          <a:prstGeom prst="rect">
            <a:avLst/>
          </a:prstGeom>
          <a:noFill/>
        </p:spPr>
        <p:txBody>
          <a:bodyPr wrap="square" lIns="0" rIns="0" tIns="0" bIns="0" anchor="ctr">
            <a:spAutoFit/>
          </a:bodyPr>
          <a:lstStyle/>
          <a:p>
            <a:pPr algn="ctr"/>
            <a:r>
              <a:rPr sz="950" b="0" i="0" u="sng">
                <a:solidFill>
                  <a:srgbClr val="141E27"/>
                </a:solidFill>
                <a:latin typeface="Menlo"/>
              </a:rPr>
              <a:t>0.114</a:t>
            </a:r>
          </a:p>
        </p:txBody>
      </p:sp>
      <p:sp>
        <p:nvSpPr>
          <p:cNvPr id="111" name="TextBox 110"/>
          <p:cNvSpPr txBox="1"/>
          <p:nvPr/>
        </p:nvSpPr>
        <p:spPr>
          <a:xfrm>
            <a:off x="4206240" y="4800600"/>
            <a:ext cx="914400" cy="201168"/>
          </a:xfrm>
          <a:prstGeom prst="rect">
            <a:avLst/>
          </a:prstGeom>
          <a:noFill/>
        </p:spPr>
        <p:txBody>
          <a:bodyPr wrap="square" lIns="0" rIns="0" tIns="0" bIns="0" anchor="ctr">
            <a:spAutoFit/>
          </a:bodyPr>
          <a:lstStyle/>
          <a:p>
            <a:pPr algn="ctr"/>
            <a:r>
              <a:rPr sz="950" b="1" i="0" u="none">
                <a:solidFill>
                  <a:srgbClr val="141E27"/>
                </a:solidFill>
                <a:latin typeface="Menlo"/>
              </a:rPr>
              <a:t>0.857</a:t>
            </a:r>
          </a:p>
        </p:txBody>
      </p:sp>
      <p:sp>
        <p:nvSpPr>
          <p:cNvPr id="112" name="TextBox 111"/>
          <p:cNvSpPr txBox="1"/>
          <p:nvPr/>
        </p:nvSpPr>
        <p:spPr>
          <a:xfrm>
            <a:off x="5120640" y="4800600"/>
            <a:ext cx="960120" cy="201168"/>
          </a:xfrm>
          <a:prstGeom prst="rect">
            <a:avLst/>
          </a:prstGeom>
          <a:noFill/>
        </p:spPr>
        <p:txBody>
          <a:bodyPr wrap="square" lIns="0" rIns="0" tIns="0" bIns="0" anchor="ctr">
            <a:spAutoFit/>
          </a:bodyPr>
          <a:lstStyle/>
          <a:p>
            <a:pPr algn="ctr"/>
            <a:r>
              <a:rPr sz="950" b="1" i="0" u="none">
                <a:solidFill>
                  <a:srgbClr val="141E27"/>
                </a:solidFill>
                <a:latin typeface="Menlo"/>
              </a:rPr>
              <a:t>0.600</a:t>
            </a:r>
          </a:p>
        </p:txBody>
      </p:sp>
      <p:sp>
        <p:nvSpPr>
          <p:cNvPr id="113" name="TextBox 112"/>
          <p:cNvSpPr txBox="1"/>
          <p:nvPr/>
        </p:nvSpPr>
        <p:spPr>
          <a:xfrm>
            <a:off x="502920" y="5065776"/>
            <a:ext cx="960120" cy="201168"/>
          </a:xfrm>
          <a:prstGeom prst="rect">
            <a:avLst/>
          </a:prstGeom>
          <a:noFill/>
        </p:spPr>
        <p:txBody>
          <a:bodyPr wrap="square" lIns="0" rIns="0" tIns="0" bIns="0" anchor="ctr">
            <a:spAutoFit/>
          </a:bodyPr>
          <a:lstStyle/>
          <a:p>
            <a:pPr algn="l"/>
            <a:r>
              <a:rPr sz="1050" b="1" i="0" u="none">
                <a:solidFill>
                  <a:srgbClr val="141E27"/>
                </a:solidFill>
                <a:latin typeface="Helvetica Neue"/>
              </a:rPr>
              <a:t>A-MEM</a:t>
            </a:r>
          </a:p>
        </p:txBody>
      </p:sp>
      <p:sp>
        <p:nvSpPr>
          <p:cNvPr id="114" name="TextBox 113"/>
          <p:cNvSpPr txBox="1"/>
          <p:nvPr/>
        </p:nvSpPr>
        <p:spPr>
          <a:xfrm>
            <a:off x="1463040" y="5065776"/>
            <a:ext cx="914400" cy="201168"/>
          </a:xfrm>
          <a:prstGeom prst="rect">
            <a:avLst/>
          </a:prstGeom>
          <a:noFill/>
        </p:spPr>
        <p:txBody>
          <a:bodyPr wrap="square" lIns="0" rIns="0" tIns="0" bIns="0" anchor="ctr">
            <a:spAutoFit/>
          </a:bodyPr>
          <a:lstStyle/>
          <a:p>
            <a:pPr algn="ctr"/>
            <a:r>
              <a:rPr sz="950" b="1" i="0" u="none">
                <a:solidFill>
                  <a:srgbClr val="141E27"/>
                </a:solidFill>
                <a:latin typeface="Menlo"/>
              </a:rPr>
              <a:t>0.000</a:t>
            </a:r>
          </a:p>
        </p:txBody>
      </p:sp>
      <p:sp>
        <p:nvSpPr>
          <p:cNvPr id="115" name="TextBox 114"/>
          <p:cNvSpPr txBox="1"/>
          <p:nvPr/>
        </p:nvSpPr>
        <p:spPr>
          <a:xfrm>
            <a:off x="2377440" y="5065776"/>
            <a:ext cx="914400" cy="201168"/>
          </a:xfrm>
          <a:prstGeom prst="rect">
            <a:avLst/>
          </a:prstGeom>
          <a:noFill/>
        </p:spPr>
        <p:txBody>
          <a:bodyPr wrap="square" lIns="0" rIns="0" tIns="0" bIns="0" anchor="ctr">
            <a:spAutoFit/>
          </a:bodyPr>
          <a:lstStyle/>
          <a:p>
            <a:pPr algn="ctr"/>
            <a:r>
              <a:rPr sz="950" b="0" i="0" u="none">
                <a:solidFill>
                  <a:srgbClr val="141E27"/>
                </a:solidFill>
                <a:latin typeface="Menlo"/>
              </a:rPr>
              <a:t>0.086</a:t>
            </a:r>
          </a:p>
        </p:txBody>
      </p:sp>
      <p:sp>
        <p:nvSpPr>
          <p:cNvPr id="116" name="TextBox 115"/>
          <p:cNvSpPr txBox="1"/>
          <p:nvPr/>
        </p:nvSpPr>
        <p:spPr>
          <a:xfrm>
            <a:off x="3291840" y="5065776"/>
            <a:ext cx="914400" cy="201168"/>
          </a:xfrm>
          <a:prstGeom prst="rect">
            <a:avLst/>
          </a:prstGeom>
          <a:noFill/>
        </p:spPr>
        <p:txBody>
          <a:bodyPr wrap="square" lIns="0" rIns="0" tIns="0" bIns="0" anchor="ctr">
            <a:spAutoFit/>
          </a:bodyPr>
          <a:lstStyle/>
          <a:p>
            <a:pPr algn="ctr"/>
            <a:r>
              <a:rPr sz="950" b="0" i="0" u="none">
                <a:solidFill>
                  <a:srgbClr val="141E27"/>
                </a:solidFill>
                <a:latin typeface="Menlo"/>
              </a:rPr>
              <a:t>0.143</a:t>
            </a:r>
          </a:p>
        </p:txBody>
      </p:sp>
      <p:sp>
        <p:nvSpPr>
          <p:cNvPr id="117" name="TextBox 116"/>
          <p:cNvSpPr txBox="1"/>
          <p:nvPr/>
        </p:nvSpPr>
        <p:spPr>
          <a:xfrm>
            <a:off x="4206240" y="5065776"/>
            <a:ext cx="914400" cy="201168"/>
          </a:xfrm>
          <a:prstGeom prst="rect">
            <a:avLst/>
          </a:prstGeom>
          <a:noFill/>
        </p:spPr>
        <p:txBody>
          <a:bodyPr wrap="square" lIns="0" rIns="0" tIns="0" bIns="0" anchor="ctr">
            <a:spAutoFit/>
          </a:bodyPr>
          <a:lstStyle/>
          <a:p>
            <a:pPr algn="ctr"/>
            <a:r>
              <a:rPr sz="950" b="0" i="0" u="sng">
                <a:solidFill>
                  <a:srgbClr val="141E27"/>
                </a:solidFill>
                <a:latin typeface="Menlo"/>
              </a:rPr>
              <a:t>0.771</a:t>
            </a:r>
          </a:p>
        </p:txBody>
      </p:sp>
      <p:sp>
        <p:nvSpPr>
          <p:cNvPr id="118" name="TextBox 117"/>
          <p:cNvSpPr txBox="1"/>
          <p:nvPr/>
        </p:nvSpPr>
        <p:spPr>
          <a:xfrm>
            <a:off x="5120640" y="5065776"/>
            <a:ext cx="960120" cy="201168"/>
          </a:xfrm>
          <a:prstGeom prst="rect">
            <a:avLst/>
          </a:prstGeom>
          <a:noFill/>
        </p:spPr>
        <p:txBody>
          <a:bodyPr wrap="square" lIns="0" rIns="0" tIns="0" bIns="0" anchor="ctr">
            <a:spAutoFit/>
          </a:bodyPr>
          <a:lstStyle/>
          <a:p>
            <a:pPr algn="ctr"/>
            <a:r>
              <a:rPr sz="950" b="1" i="0" u="none">
                <a:solidFill>
                  <a:srgbClr val="141E27"/>
                </a:solidFill>
                <a:latin typeface="Menlo"/>
              </a:rPr>
              <a:t>0.600</a:t>
            </a:r>
          </a:p>
        </p:txBody>
      </p:sp>
      <p:sp>
        <p:nvSpPr>
          <p:cNvPr id="119" name="TextBox 118"/>
          <p:cNvSpPr txBox="1"/>
          <p:nvPr/>
        </p:nvSpPr>
        <p:spPr>
          <a:xfrm>
            <a:off x="502920" y="5330952"/>
            <a:ext cx="960120" cy="201168"/>
          </a:xfrm>
          <a:prstGeom prst="rect">
            <a:avLst/>
          </a:prstGeom>
          <a:noFill/>
        </p:spPr>
        <p:txBody>
          <a:bodyPr wrap="square" lIns="0" rIns="0" tIns="0" bIns="0" anchor="ctr">
            <a:spAutoFit/>
          </a:bodyPr>
          <a:lstStyle/>
          <a:p>
            <a:pPr algn="l"/>
            <a:r>
              <a:rPr sz="1050" b="1" i="0" u="none">
                <a:solidFill>
                  <a:srgbClr val="141E27"/>
                </a:solidFill>
                <a:latin typeface="Helvetica Neue"/>
              </a:rPr>
              <a:t>Letta</a:t>
            </a:r>
          </a:p>
        </p:txBody>
      </p:sp>
      <p:sp>
        <p:nvSpPr>
          <p:cNvPr id="120" name="TextBox 119"/>
          <p:cNvSpPr txBox="1"/>
          <p:nvPr/>
        </p:nvSpPr>
        <p:spPr>
          <a:xfrm>
            <a:off x="1463040" y="5330952"/>
            <a:ext cx="914400" cy="201168"/>
          </a:xfrm>
          <a:prstGeom prst="rect">
            <a:avLst/>
          </a:prstGeom>
          <a:noFill/>
        </p:spPr>
        <p:txBody>
          <a:bodyPr wrap="square" lIns="0" rIns="0" tIns="0" bIns="0" anchor="ctr">
            <a:spAutoFit/>
          </a:bodyPr>
          <a:lstStyle/>
          <a:p>
            <a:pPr algn="ctr"/>
            <a:r>
              <a:rPr sz="950" b="1" i="0" u="none">
                <a:solidFill>
                  <a:srgbClr val="141E27"/>
                </a:solidFill>
                <a:latin typeface="Menlo"/>
              </a:rPr>
              <a:t>0.000</a:t>
            </a:r>
          </a:p>
        </p:txBody>
      </p:sp>
      <p:sp>
        <p:nvSpPr>
          <p:cNvPr id="121" name="TextBox 120"/>
          <p:cNvSpPr txBox="1"/>
          <p:nvPr/>
        </p:nvSpPr>
        <p:spPr>
          <a:xfrm>
            <a:off x="2377440" y="5330952"/>
            <a:ext cx="914400" cy="201168"/>
          </a:xfrm>
          <a:prstGeom prst="rect">
            <a:avLst/>
          </a:prstGeom>
          <a:noFill/>
        </p:spPr>
        <p:txBody>
          <a:bodyPr wrap="square" lIns="0" rIns="0" tIns="0" bIns="0" anchor="ctr">
            <a:spAutoFit/>
          </a:bodyPr>
          <a:lstStyle/>
          <a:p>
            <a:pPr algn="ctr"/>
            <a:r>
              <a:rPr sz="950" b="1" i="0" u="none">
                <a:solidFill>
                  <a:srgbClr val="141E27"/>
                </a:solidFill>
                <a:latin typeface="Menlo"/>
              </a:rPr>
              <a:t>0.000</a:t>
            </a:r>
          </a:p>
        </p:txBody>
      </p:sp>
      <p:sp>
        <p:nvSpPr>
          <p:cNvPr id="122" name="TextBox 121"/>
          <p:cNvSpPr txBox="1"/>
          <p:nvPr/>
        </p:nvSpPr>
        <p:spPr>
          <a:xfrm>
            <a:off x="3291840" y="5330952"/>
            <a:ext cx="914400" cy="201168"/>
          </a:xfrm>
          <a:prstGeom prst="rect">
            <a:avLst/>
          </a:prstGeom>
          <a:noFill/>
        </p:spPr>
        <p:txBody>
          <a:bodyPr wrap="square" lIns="0" rIns="0" tIns="0" bIns="0" anchor="ctr">
            <a:spAutoFit/>
          </a:bodyPr>
          <a:lstStyle/>
          <a:p>
            <a:pPr algn="ctr"/>
            <a:r>
              <a:rPr sz="950" b="0" i="0" u="none">
                <a:solidFill>
                  <a:srgbClr val="141E27"/>
                </a:solidFill>
                <a:latin typeface="Menlo"/>
              </a:rPr>
              <a:t>0.143</a:t>
            </a:r>
          </a:p>
        </p:txBody>
      </p:sp>
      <p:sp>
        <p:nvSpPr>
          <p:cNvPr id="123" name="TextBox 122"/>
          <p:cNvSpPr txBox="1"/>
          <p:nvPr/>
        </p:nvSpPr>
        <p:spPr>
          <a:xfrm>
            <a:off x="4206240" y="5330952"/>
            <a:ext cx="914400" cy="201168"/>
          </a:xfrm>
          <a:prstGeom prst="rect">
            <a:avLst/>
          </a:prstGeom>
          <a:noFill/>
        </p:spPr>
        <p:txBody>
          <a:bodyPr wrap="square" lIns="0" rIns="0" tIns="0" bIns="0" anchor="ctr">
            <a:spAutoFit/>
          </a:bodyPr>
          <a:lstStyle/>
          <a:p>
            <a:pPr algn="ctr"/>
            <a:r>
              <a:rPr sz="950" b="0" i="0" u="none">
                <a:solidFill>
                  <a:srgbClr val="141E27"/>
                </a:solidFill>
                <a:latin typeface="Menlo"/>
              </a:rPr>
              <a:t>0.514</a:t>
            </a:r>
          </a:p>
        </p:txBody>
      </p:sp>
      <p:sp>
        <p:nvSpPr>
          <p:cNvPr id="124" name="TextBox 123"/>
          <p:cNvSpPr txBox="1"/>
          <p:nvPr/>
        </p:nvSpPr>
        <p:spPr>
          <a:xfrm>
            <a:off x="5120640" y="5330952"/>
            <a:ext cx="960120" cy="201168"/>
          </a:xfrm>
          <a:prstGeom prst="rect">
            <a:avLst/>
          </a:prstGeom>
          <a:noFill/>
        </p:spPr>
        <p:txBody>
          <a:bodyPr wrap="square" lIns="0" rIns="0" tIns="0" bIns="0" anchor="ctr">
            <a:spAutoFit/>
          </a:bodyPr>
          <a:lstStyle/>
          <a:p>
            <a:pPr algn="ctr"/>
            <a:r>
              <a:rPr sz="950" b="0" i="0" u="none">
                <a:solidFill>
                  <a:srgbClr val="141E27"/>
                </a:solidFill>
                <a:latin typeface="Menlo"/>
              </a:rPr>
              <a:t>0.200</a:t>
            </a:r>
          </a:p>
        </p:txBody>
      </p:sp>
      <p:cxnSp>
        <p:nvCxnSpPr>
          <p:cNvPr id="125" name="Connector 124"/>
          <p:cNvCxnSpPr/>
          <p:nvPr/>
        </p:nvCxnSpPr>
        <p:spPr>
          <a:xfrm>
            <a:off x="502920" y="5568696"/>
            <a:ext cx="5577839" cy="0"/>
          </a:xfrm>
          <a:prstGeom prst="line">
            <a:avLst/>
          </a:prstGeom>
          <a:ln w="22225">
            <a:solidFill>
              <a:srgbClr val="141E27"/>
            </a:solidFill>
          </a:ln>
        </p:spPr>
        <p:style>
          <a:lnRef idx="2">
            <a:schemeClr val="accent1"/>
          </a:lnRef>
          <a:fillRef idx="0">
            <a:schemeClr val="accent1"/>
          </a:fillRef>
          <a:effectRef idx="1">
            <a:schemeClr val="accent1"/>
          </a:effectRef>
          <a:fontRef idx="minor">
            <a:schemeClr val="tx1"/>
          </a:fontRef>
        </p:style>
      </p:cxnSp>
      <p:sp>
        <p:nvSpPr>
          <p:cNvPr id="126" name="TextBox 125"/>
          <p:cNvSpPr txBox="1"/>
          <p:nvPr/>
        </p:nvSpPr>
        <p:spPr>
          <a:xfrm>
            <a:off x="502920" y="5843016"/>
            <a:ext cx="5943600" cy="566928"/>
          </a:xfrm>
          <a:prstGeom prst="rect">
            <a:avLst/>
          </a:prstGeom>
          <a:noFill/>
        </p:spPr>
        <p:txBody>
          <a:bodyPr wrap="square" lIns="0" rIns="0" tIns="0" bIns="0" anchor="ctr">
            <a:spAutoFit/>
          </a:bodyPr>
          <a:lstStyle/>
          <a:p>
            <a:pPr algn="l"/>
            <a:r>
              <a:rPr sz="850" b="0" i="1" u="none">
                <a:solidFill>
                  <a:srgbClr val="7E8D9B"/>
                </a:solidFill>
                <a:latin typeface="Helvetica Neue"/>
              </a:rPr>
              <a:t>Scope.  HaluMem and LongMemEval are deliberately absent: StructMem ran HaluMem user #1 (164 questions, 4 Dynamic Update) against the others' users #3 and #4 (360 questions, 37), and 5 LongMemEval questions against 22, so neither supports a five-way ranking. StructMem also extracts with gemma-4-E4B-it, the rest with gemma-4-31B-it.</a:t>
            </a:r>
          </a:p>
        </p:txBody>
      </p:sp>
      <p:sp>
        <p:nvSpPr>
          <p:cNvPr id="127" name="TextBox 126"/>
          <p:cNvSpPr txBox="1"/>
          <p:nvPr/>
        </p:nvSpPr>
        <p:spPr>
          <a:xfrm>
            <a:off x="6675120" y="3602736"/>
            <a:ext cx="5029200" cy="201168"/>
          </a:xfrm>
          <a:prstGeom prst="rect">
            <a:avLst/>
          </a:prstGeom>
          <a:noFill/>
        </p:spPr>
        <p:txBody>
          <a:bodyPr wrap="square" lIns="0" rIns="0" tIns="0" bIns="0" anchor="ctr">
            <a:spAutoFit/>
          </a:bodyPr>
          <a:lstStyle/>
          <a:p>
            <a:pPr algn="l"/>
            <a:r>
              <a:rPr sz="1050" b="1" i="0" u="none">
                <a:solidFill>
                  <a:srgbClr val="4C5C6B"/>
                </a:solidFill>
                <a:latin typeface="Helvetica Neue"/>
              </a:rPr>
              <a:t>Key findings</a:t>
            </a:r>
          </a:p>
        </p:txBody>
      </p:sp>
      <p:sp>
        <p:nvSpPr>
          <p:cNvPr id="128" name="TextBox 127"/>
          <p:cNvSpPr txBox="1"/>
          <p:nvPr/>
        </p:nvSpPr>
        <p:spPr>
          <a:xfrm>
            <a:off x="6675120" y="3840480"/>
            <a:ext cx="256032" cy="182880"/>
          </a:xfrm>
          <a:prstGeom prst="rect">
            <a:avLst/>
          </a:prstGeom>
          <a:noFill/>
        </p:spPr>
        <p:txBody>
          <a:bodyPr wrap="square" lIns="0" rIns="0" tIns="0" bIns="0" anchor="ctr">
            <a:spAutoFit/>
          </a:bodyPr>
          <a:lstStyle/>
          <a:p>
            <a:pPr algn="l"/>
            <a:r>
              <a:rPr sz="1100" b="1" i="0" u="none">
                <a:solidFill>
                  <a:srgbClr val="16685A"/>
                </a:solidFill>
                <a:latin typeface="Helvetica Neue"/>
              </a:rPr>
              <a:t>1</a:t>
            </a:r>
          </a:p>
        </p:txBody>
      </p:sp>
      <p:sp>
        <p:nvSpPr>
          <p:cNvPr id="129" name="TextBox 128"/>
          <p:cNvSpPr txBox="1"/>
          <p:nvPr/>
        </p:nvSpPr>
        <p:spPr>
          <a:xfrm>
            <a:off x="6949440" y="3840480"/>
            <a:ext cx="4800600" cy="182880"/>
          </a:xfrm>
          <a:prstGeom prst="rect">
            <a:avLst/>
          </a:prstGeom>
          <a:noFill/>
        </p:spPr>
        <p:txBody>
          <a:bodyPr wrap="square" lIns="0" rIns="0" tIns="0" bIns="0" anchor="ctr">
            <a:spAutoFit/>
          </a:bodyPr>
          <a:lstStyle/>
          <a:p>
            <a:pPr algn="l"/>
            <a:r>
              <a:rPr sz="1019" b="1" i="0" u="none">
                <a:solidFill>
                  <a:srgbClr val="141E27"/>
                </a:solidFill>
                <a:latin typeface="Helvetica Neue"/>
              </a:rPr>
              <a:t>StructMem already leads end to end. The ablation has to defend that.</a:t>
            </a:r>
          </a:p>
        </p:txBody>
      </p:sp>
      <p:sp>
        <p:nvSpPr>
          <p:cNvPr id="130" name="TextBox 129"/>
          <p:cNvSpPr txBox="1"/>
          <p:nvPr/>
        </p:nvSpPr>
        <p:spPr>
          <a:xfrm>
            <a:off x="6949440" y="4032504"/>
            <a:ext cx="4800600" cy="658368"/>
          </a:xfrm>
          <a:prstGeom prst="rect">
            <a:avLst/>
          </a:prstGeom>
          <a:noFill/>
        </p:spPr>
        <p:txBody>
          <a:bodyPr wrap="square" lIns="0" rIns="0" tIns="0" bIns="0">
            <a:spAutoFit/>
          </a:bodyPr>
          <a:lstStyle/>
          <a:p>
            <a:pPr>
              <a:lnSpc>
                <a:spcPct val="110000"/>
              </a:lnSpc>
            </a:pPr>
            <a:r>
              <a:rPr sz="900">
                <a:solidFill>
                  <a:srgbClr val="4C5C6B"/>
                </a:solidFill>
                <a:latin typeface="Helvetica Neue"/>
              </a:rPr>
              <a:t>LoCoMo QA 0.6432 and MemFail 0.8571 are both the best in the field, on top of the best LoCoMo extraction: F1 0.8845 and P1 failure 0.0573 against 0.2256 to 0.2640 for everyone else. There is nothing left to win on the write path. The question is what remains.</a:t>
            </a:r>
          </a:p>
        </p:txBody>
      </p:sp>
      <p:sp>
        <p:nvSpPr>
          <p:cNvPr id="131" name="TextBox 130"/>
          <p:cNvSpPr txBox="1"/>
          <p:nvPr/>
        </p:nvSpPr>
        <p:spPr>
          <a:xfrm>
            <a:off x="6675120" y="4645152"/>
            <a:ext cx="256032" cy="182880"/>
          </a:xfrm>
          <a:prstGeom prst="rect">
            <a:avLst/>
          </a:prstGeom>
          <a:noFill/>
        </p:spPr>
        <p:txBody>
          <a:bodyPr wrap="square" lIns="0" rIns="0" tIns="0" bIns="0" anchor="ctr">
            <a:spAutoFit/>
          </a:bodyPr>
          <a:lstStyle/>
          <a:p>
            <a:pPr algn="l"/>
            <a:r>
              <a:rPr sz="1100" b="1" i="0" u="none">
                <a:solidFill>
                  <a:srgbClr val="16685A"/>
                </a:solidFill>
                <a:latin typeface="Helvetica Neue"/>
              </a:rPr>
              <a:t>2</a:t>
            </a:r>
          </a:p>
        </p:txBody>
      </p:sp>
      <p:sp>
        <p:nvSpPr>
          <p:cNvPr id="132" name="TextBox 131"/>
          <p:cNvSpPr txBox="1"/>
          <p:nvPr/>
        </p:nvSpPr>
        <p:spPr>
          <a:xfrm>
            <a:off x="6949440" y="4645152"/>
            <a:ext cx="4800600" cy="182880"/>
          </a:xfrm>
          <a:prstGeom prst="rect">
            <a:avLst/>
          </a:prstGeom>
          <a:noFill/>
        </p:spPr>
        <p:txBody>
          <a:bodyPr wrap="square" lIns="0" rIns="0" tIns="0" bIns="0" anchor="ctr">
            <a:spAutoFit/>
          </a:bodyPr>
          <a:lstStyle/>
          <a:p>
            <a:pPr algn="l"/>
            <a:r>
              <a:rPr sz="1019" b="1" i="0" u="none">
                <a:solidFill>
                  <a:srgbClr val="141E27"/>
                </a:solidFill>
                <a:latin typeface="Helvetica Neue"/>
              </a:rPr>
              <a:t>What remains is the answer stage, and only for StructMem.</a:t>
            </a:r>
          </a:p>
        </p:txBody>
      </p:sp>
      <p:sp>
        <p:nvSpPr>
          <p:cNvPr id="133" name="TextBox 132"/>
          <p:cNvSpPr txBox="1"/>
          <p:nvPr/>
        </p:nvSpPr>
        <p:spPr>
          <a:xfrm>
            <a:off x="6949440" y="4837176"/>
            <a:ext cx="4800600" cy="658368"/>
          </a:xfrm>
          <a:prstGeom prst="rect">
            <a:avLst/>
          </a:prstGeom>
          <a:noFill/>
        </p:spPr>
        <p:txBody>
          <a:bodyPr wrap="square" lIns="0" rIns="0" tIns="0" bIns="0">
            <a:spAutoFit/>
          </a:bodyPr>
          <a:lstStyle/>
          <a:p>
            <a:pPr>
              <a:lnSpc>
                <a:spcPct val="110000"/>
              </a:lnSpc>
            </a:pPr>
            <a:r>
              <a:rPr sz="900">
                <a:solidFill>
                  <a:srgbClr val="4C5C6B"/>
                </a:solidFill>
                <a:latin typeface="Helvetica Neue"/>
              </a:rPr>
              <a:t>It is the one system whose largest error stage is P5: 0.2240 on LoCoMo, the worst of the five and nearly three times Mem0 v2's 0.0808, while its P4 failure is only 0.0521. The evidence is retrieved and the answer is still wrong. MemFail repeats it: summary error 0.0000 (tied best) and retrieval error 0.0286 (second), then reasoning error 0.1143, the weakest of its three stages.</a:t>
            </a:r>
          </a:p>
        </p:txBody>
      </p:sp>
      <p:sp>
        <p:nvSpPr>
          <p:cNvPr id="134" name="TextBox 133"/>
          <p:cNvSpPr txBox="1"/>
          <p:nvPr/>
        </p:nvSpPr>
        <p:spPr>
          <a:xfrm>
            <a:off x="6675120" y="5449824"/>
            <a:ext cx="256032" cy="182880"/>
          </a:xfrm>
          <a:prstGeom prst="rect">
            <a:avLst/>
          </a:prstGeom>
          <a:noFill/>
        </p:spPr>
        <p:txBody>
          <a:bodyPr wrap="square" lIns="0" rIns="0" tIns="0" bIns="0" anchor="ctr">
            <a:spAutoFit/>
          </a:bodyPr>
          <a:lstStyle/>
          <a:p>
            <a:pPr algn="l"/>
            <a:r>
              <a:rPr sz="1100" b="1" i="0" u="none">
                <a:solidFill>
                  <a:srgbClr val="16685A"/>
                </a:solidFill>
                <a:latin typeface="Helvetica Neue"/>
              </a:rPr>
              <a:t>3</a:t>
            </a:r>
          </a:p>
        </p:txBody>
      </p:sp>
      <p:sp>
        <p:nvSpPr>
          <p:cNvPr id="135" name="TextBox 134"/>
          <p:cNvSpPr txBox="1"/>
          <p:nvPr/>
        </p:nvSpPr>
        <p:spPr>
          <a:xfrm>
            <a:off x="6949440" y="5449824"/>
            <a:ext cx="4800600" cy="182880"/>
          </a:xfrm>
          <a:prstGeom prst="rect">
            <a:avLst/>
          </a:prstGeom>
          <a:noFill/>
        </p:spPr>
        <p:txBody>
          <a:bodyPr wrap="square" lIns="0" rIns="0" tIns="0" bIns="0" anchor="ctr">
            <a:spAutoFit/>
          </a:bodyPr>
          <a:lstStyle/>
          <a:p>
            <a:pPr algn="l"/>
            <a:r>
              <a:rPr sz="1019" b="1" i="0" u="none">
                <a:solidFill>
                  <a:srgbClr val="141E27"/>
                </a:solidFill>
                <a:latin typeface="Helvetica Neue"/>
              </a:rPr>
              <a:t>The store is the densest in the study and labels nothing.</a:t>
            </a:r>
          </a:p>
        </p:txBody>
      </p:sp>
      <p:sp>
        <p:nvSpPr>
          <p:cNvPr id="136" name="TextBox 135"/>
          <p:cNvSpPr txBox="1"/>
          <p:nvPr/>
        </p:nvSpPr>
        <p:spPr>
          <a:xfrm>
            <a:off x="6949440" y="5641848"/>
            <a:ext cx="4800600" cy="658368"/>
          </a:xfrm>
          <a:prstGeom prst="rect">
            <a:avLst/>
          </a:prstGeom>
          <a:noFill/>
        </p:spPr>
        <p:txBody>
          <a:bodyPr wrap="square" lIns="0" rIns="0" tIns="0" bIns="0">
            <a:spAutoFit/>
          </a:bodyPr>
          <a:lstStyle/>
          <a:p>
            <a:pPr>
              <a:lnSpc>
                <a:spcPct val="110000"/>
              </a:lnSpc>
            </a:pPr>
            <a:r>
              <a:rPr sz="900">
                <a:solidFill>
                  <a:srgbClr val="4C5C6B"/>
                </a:solidFill>
                <a:latin typeface="Helvetica Neue"/>
              </a:rPr>
              <a:t>StructMem writes 1.85 entries per LoCoMo turn against 0.06 to 1.00 for the others, and removes nothing, so the context reaching the answering model holds the old value and the new one side by side. Temporal accuracy 0.3514 is 6.5x the runner-up and still two questions in three wrong: the timestamp anchor works, and nothing acts on it.</a:t>
            </a:r>
          </a:p>
        </p:txBody>
      </p:sp>
      <p:cxnSp>
        <p:nvCxnSpPr>
          <p:cNvPr id="137" name="Connector 136"/>
          <p:cNvCxnSpPr/>
          <p:nvPr/>
        </p:nvCxnSpPr>
        <p:spPr>
          <a:xfrm>
            <a:off x="502920" y="6345936"/>
            <a:ext cx="11183112" cy="0"/>
          </a:xfrm>
          <a:prstGeom prst="line">
            <a:avLst/>
          </a:prstGeom>
          <a:ln w="9525">
            <a:solidFill>
              <a:srgbClr val="DBE2E9"/>
            </a:solidFill>
          </a:ln>
        </p:spPr>
        <p:style>
          <a:lnRef idx="2">
            <a:schemeClr val="accent1"/>
          </a:lnRef>
          <a:fillRef idx="0">
            <a:schemeClr val="accent1"/>
          </a:fillRef>
          <a:effectRef idx="1">
            <a:schemeClr val="accent1"/>
          </a:effectRef>
          <a:fontRef idx="minor">
            <a:schemeClr val="tx1"/>
          </a:fontRef>
        </p:style>
      </p:cxnSp>
      <p:sp>
        <p:nvSpPr>
          <p:cNvPr id="138" name="TextBox 137"/>
          <p:cNvSpPr txBox="1"/>
          <p:nvPr/>
        </p:nvSpPr>
        <p:spPr>
          <a:xfrm>
            <a:off x="502920" y="6400800"/>
            <a:ext cx="11155680" cy="420624"/>
          </a:xfrm>
          <a:prstGeom prst="rect">
            <a:avLst/>
          </a:prstGeom>
          <a:noFill/>
        </p:spPr>
        <p:txBody>
          <a:bodyPr wrap="square" lIns="0" rIns="0" tIns="0" bIns="0">
            <a:spAutoFit/>
          </a:bodyPr>
          <a:lstStyle/>
          <a:p>
            <a:pPr>
              <a:lnSpc>
                <a:spcPct val="112000"/>
              </a:lnSpc>
            </a:pPr>
            <a:r>
              <a:rPr sz="850" b="1">
                <a:solidFill>
                  <a:srgbClr val="141E27"/>
                </a:solidFill>
                <a:latin typeface="Helvetica Neue"/>
              </a:rPr>
              <a:t>Design implication.  </a:t>
            </a:r>
            <a:r>
              <a:rPr sz="850" i="1">
                <a:solidFill>
                  <a:srgbClr val="4C5C6B"/>
                </a:solidFill>
                <a:latin typeface="Helvetica Neue"/>
              </a:rPr>
              <a:t>The timestamp that orders two competing entries is already on every StructMem payload and is never consulted at update time. The ablation adds a non-destructive state bank (M1) that marks the old entry superseded rather than deleting it, so the extraction lead in Table 1 is not traded away; summary synchronisation (M3); and state-aware retrieval (M4), which is where the 0.2240 P5 failure lives.</a:t>
            </a:r>
          </a:p>
          <a:p>
            <a:pPr>
              <a:lnSpc>
                <a:spcPct val="112000"/>
              </a:lnSpc>
            </a:pPr>
            <a:r>
              <a:rPr sz="850" b="1">
                <a:solidFill>
                  <a:srgbClr val="141E27"/>
                </a:solidFill>
                <a:latin typeface="Helvetica Neue"/>
              </a:rPr>
              <a:t>Guardrail.  </a:t>
            </a:r>
            <a:r>
              <a:rPr sz="850" i="1">
                <a:solidFill>
                  <a:srgbClr val="7E8D9B"/>
                </a:solidFill>
                <a:latin typeface="Helvetica Neue"/>
              </a:rPr>
              <a:t>MemFail coexisting_facts, where StructMem is already at 0.6000, holds preferences that may legitimately hold at once. Any supersession rule has to lift temporal accuracy without turning those into false conflicts.</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