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7" name="Rectangle 56"/>
          <p:cNvSpPr/>
          <p:nvPr/>
        </p:nvSpPr>
        <p:spPr>
          <a:xfrm>
            <a:off x="448056" y="2514600"/>
            <a:ext cx="10735056" cy="256032"/>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Rectangle 1"/>
          <p:cNvSpPr/>
          <p:nvPr/>
        </p:nvSpPr>
        <p:spPr>
          <a:xfrm>
            <a:off x="0" y="0"/>
            <a:ext cx="1874519" cy="274320"/>
          </a:xfrm>
          <a:prstGeom prst="rect">
            <a:avLst/>
          </a:prstGeom>
          <a:solidFill>
            <a:srgbClr val="F0F1F3"/>
          </a:solidFill>
          <a:ln w="6350">
            <a:solidFill>
              <a:srgbClr val="7E8D9B"/>
            </a:solidFill>
          </a:ln>
          <a:effectLst/>
        </p:spPr>
        <p:style>
          <a:lnRef idx="1">
            <a:schemeClr val="accent1"/>
          </a:lnRef>
          <a:fillRef idx="3">
            <a:schemeClr val="accent1"/>
          </a:fillRef>
          <a:effectRef idx="2">
            <a:schemeClr val="accent1"/>
          </a:effectRef>
          <a:fontRef idx="minor">
            <a:schemeClr val="lt1"/>
          </a:fontRef>
        </p:style>
        <p:txBody>
          <a:bodyPr rtlCol="0" anchor="ctr" lIns="25400" rIns="25400"/>
          <a:lstStyle/>
          <a:p>
            <a:pPr algn="ctr"/>
            <a:r>
              <a:rPr sz="950">
                <a:solidFill>
                  <a:srgbClr val="141E27"/>
                </a:solidFill>
                <a:latin typeface="Helvetica Neue"/>
              </a:rPr>
              <a:t>Problem &amp; Motivation</a:t>
            </a:r>
          </a:p>
        </p:txBody>
      </p:sp>
      <p:sp>
        <p:nvSpPr>
          <p:cNvPr id="3" name="Rectangle 2"/>
          <p:cNvSpPr/>
          <p:nvPr/>
        </p:nvSpPr>
        <p:spPr>
          <a:xfrm>
            <a:off x="1874519" y="0"/>
            <a:ext cx="1051560" cy="274320"/>
          </a:xfrm>
          <a:prstGeom prst="rect">
            <a:avLst/>
          </a:prstGeom>
          <a:solidFill>
            <a:srgbClr val="F0F1F3"/>
          </a:solidFill>
          <a:ln w="6350">
            <a:solidFill>
              <a:srgbClr val="7E8D9B"/>
            </a:solidFill>
          </a:ln>
          <a:effectLst/>
        </p:spPr>
        <p:style>
          <a:lnRef idx="1">
            <a:schemeClr val="accent1"/>
          </a:lnRef>
          <a:fillRef idx="3">
            <a:schemeClr val="accent1"/>
          </a:fillRef>
          <a:effectRef idx="2">
            <a:schemeClr val="accent1"/>
          </a:effectRef>
          <a:fontRef idx="minor">
            <a:schemeClr val="lt1"/>
          </a:fontRef>
        </p:style>
        <p:txBody>
          <a:bodyPr rtlCol="0" anchor="ctr" lIns="25400" rIns="25400"/>
          <a:lstStyle/>
          <a:p>
            <a:pPr algn="ctr"/>
            <a:r>
              <a:rPr sz="950">
                <a:solidFill>
                  <a:srgbClr val="141E27"/>
                </a:solidFill>
                <a:latin typeface="Helvetica Neue"/>
              </a:rPr>
              <a:t>RQ</a:t>
            </a:r>
          </a:p>
        </p:txBody>
      </p:sp>
      <p:sp>
        <p:nvSpPr>
          <p:cNvPr id="4" name="Rectangle 3"/>
          <p:cNvSpPr/>
          <p:nvPr/>
        </p:nvSpPr>
        <p:spPr>
          <a:xfrm>
            <a:off x="2926079" y="0"/>
            <a:ext cx="2560320" cy="274320"/>
          </a:xfrm>
          <a:prstGeom prst="rect">
            <a:avLst/>
          </a:prstGeom>
          <a:solidFill>
            <a:srgbClr val="F0F1F3"/>
          </a:solidFill>
          <a:ln w="6350">
            <a:solidFill>
              <a:srgbClr val="7E8D9B"/>
            </a:solidFill>
          </a:ln>
          <a:effectLst/>
        </p:spPr>
        <p:style>
          <a:lnRef idx="1">
            <a:schemeClr val="accent1"/>
          </a:lnRef>
          <a:fillRef idx="3">
            <a:schemeClr val="accent1"/>
          </a:fillRef>
          <a:effectRef idx="2">
            <a:schemeClr val="accent1"/>
          </a:effectRef>
          <a:fontRef idx="minor">
            <a:schemeClr val="lt1"/>
          </a:fontRef>
        </p:style>
        <p:txBody>
          <a:bodyPr rtlCol="0" anchor="ctr" lIns="25400" rIns="25400"/>
          <a:lstStyle/>
          <a:p>
            <a:pPr algn="ctr"/>
            <a:r>
              <a:rPr sz="950">
                <a:solidFill>
                  <a:srgbClr val="141E27"/>
                </a:solidFill>
                <a:latin typeface="Helvetica Neue"/>
              </a:rPr>
              <a:t>Methodology</a:t>
            </a:r>
          </a:p>
        </p:txBody>
      </p:sp>
      <p:sp>
        <p:nvSpPr>
          <p:cNvPr id="5" name="Rectangle 4"/>
          <p:cNvSpPr/>
          <p:nvPr/>
        </p:nvSpPr>
        <p:spPr>
          <a:xfrm>
            <a:off x="5486400" y="0"/>
            <a:ext cx="2103120" cy="274320"/>
          </a:xfrm>
          <a:prstGeom prst="rect">
            <a:avLst/>
          </a:prstGeom>
          <a:solidFill>
            <a:srgbClr val="8AA9F7"/>
          </a:solidFill>
          <a:ln w="6350">
            <a:solidFill>
              <a:srgbClr val="7E8D9B"/>
            </a:solidFill>
          </a:ln>
          <a:effectLst/>
        </p:spPr>
        <p:style>
          <a:lnRef idx="1">
            <a:schemeClr val="accent1"/>
          </a:lnRef>
          <a:fillRef idx="3">
            <a:schemeClr val="accent1"/>
          </a:fillRef>
          <a:effectRef idx="2">
            <a:schemeClr val="accent1"/>
          </a:effectRef>
          <a:fontRef idx="minor">
            <a:schemeClr val="lt1"/>
          </a:fontRef>
        </p:style>
        <p:txBody>
          <a:bodyPr rtlCol="0" anchor="ctr" lIns="25400" rIns="25400"/>
          <a:lstStyle/>
          <a:p>
            <a:pPr algn="ctr"/>
            <a:r>
              <a:rPr sz="950">
                <a:solidFill>
                  <a:srgbClr val="141E27"/>
                </a:solidFill>
                <a:latin typeface="Helvetica Neue"/>
              </a:rPr>
              <a:t>Experimental Results &amp; Analysis</a:t>
            </a:r>
          </a:p>
        </p:txBody>
      </p:sp>
      <p:sp>
        <p:nvSpPr>
          <p:cNvPr id="6" name="Rectangle 5"/>
          <p:cNvSpPr/>
          <p:nvPr/>
        </p:nvSpPr>
        <p:spPr>
          <a:xfrm>
            <a:off x="7589520" y="0"/>
            <a:ext cx="2423160" cy="274320"/>
          </a:xfrm>
          <a:prstGeom prst="rect">
            <a:avLst/>
          </a:prstGeom>
          <a:solidFill>
            <a:srgbClr val="F0F1F3"/>
          </a:solidFill>
          <a:ln w="6350">
            <a:solidFill>
              <a:srgbClr val="7E8D9B"/>
            </a:solidFill>
          </a:ln>
          <a:effectLst/>
        </p:spPr>
        <p:style>
          <a:lnRef idx="1">
            <a:schemeClr val="accent1"/>
          </a:lnRef>
          <a:fillRef idx="3">
            <a:schemeClr val="accent1"/>
          </a:fillRef>
          <a:effectRef idx="2">
            <a:schemeClr val="accent1"/>
          </a:effectRef>
          <a:fontRef idx="minor">
            <a:schemeClr val="lt1"/>
          </a:fontRef>
        </p:style>
        <p:txBody>
          <a:bodyPr rtlCol="0" anchor="ctr" lIns="25400" rIns="25400"/>
          <a:lstStyle/>
          <a:p>
            <a:pPr algn="ctr"/>
            <a:r>
              <a:rPr sz="950">
                <a:solidFill>
                  <a:srgbClr val="141E27"/>
                </a:solidFill>
                <a:latin typeface="Helvetica Neue"/>
              </a:rPr>
              <a:t>Proposed Improvements</a:t>
            </a:r>
          </a:p>
        </p:txBody>
      </p:sp>
      <p:sp>
        <p:nvSpPr>
          <p:cNvPr id="7" name="Rectangle 6"/>
          <p:cNvSpPr/>
          <p:nvPr/>
        </p:nvSpPr>
        <p:spPr>
          <a:xfrm>
            <a:off x="10012680" y="0"/>
            <a:ext cx="2176272" cy="274320"/>
          </a:xfrm>
          <a:prstGeom prst="rect">
            <a:avLst/>
          </a:prstGeom>
          <a:solidFill>
            <a:srgbClr val="F0F1F3"/>
          </a:solidFill>
          <a:ln w="6350">
            <a:solidFill>
              <a:srgbClr val="7E8D9B"/>
            </a:solidFill>
          </a:ln>
          <a:effectLst/>
        </p:spPr>
        <p:style>
          <a:lnRef idx="1">
            <a:schemeClr val="accent1"/>
          </a:lnRef>
          <a:fillRef idx="3">
            <a:schemeClr val="accent1"/>
          </a:fillRef>
          <a:effectRef idx="2">
            <a:schemeClr val="accent1"/>
          </a:effectRef>
          <a:fontRef idx="minor">
            <a:schemeClr val="lt1"/>
          </a:fontRef>
        </p:style>
        <p:txBody>
          <a:bodyPr rtlCol="0" anchor="ctr" lIns="25400" rIns="25400"/>
          <a:lstStyle/>
          <a:p>
            <a:pPr algn="ctr"/>
            <a:r>
              <a:rPr sz="950">
                <a:solidFill>
                  <a:srgbClr val="141E27"/>
                </a:solidFill>
                <a:latin typeface="Helvetica Neue"/>
              </a:rPr>
              <a:t>Validation &amp; Conclusions</a:t>
            </a:r>
          </a:p>
        </p:txBody>
      </p:sp>
      <p:sp>
        <p:nvSpPr>
          <p:cNvPr id="8" name="TextBox 7"/>
          <p:cNvSpPr txBox="1"/>
          <p:nvPr/>
        </p:nvSpPr>
        <p:spPr>
          <a:xfrm>
            <a:off x="502920" y="457200"/>
            <a:ext cx="11155680" cy="420624"/>
          </a:xfrm>
          <a:prstGeom prst="rect">
            <a:avLst/>
          </a:prstGeom>
          <a:noFill/>
        </p:spPr>
        <p:txBody>
          <a:bodyPr wrap="square" lIns="0" rIns="0" tIns="0" bIns="0" anchor="ctr">
            <a:spAutoFit/>
          </a:bodyPr>
          <a:lstStyle/>
          <a:p>
            <a:pPr algn="l"/>
            <a:r>
              <a:rPr sz="2300" b="1" i="0">
                <a:solidFill>
                  <a:srgbClr val="141E27"/>
                </a:solidFill>
                <a:latin typeface="Helvetica Neue"/>
              </a:rPr>
              <a:t>StructMem: the Best Write Path, the Weakest Update</a:t>
            </a:r>
          </a:p>
        </p:txBody>
      </p:sp>
      <p:sp>
        <p:nvSpPr>
          <p:cNvPr id="9" name="TextBox 8"/>
          <p:cNvSpPr txBox="1"/>
          <p:nvPr/>
        </p:nvSpPr>
        <p:spPr>
          <a:xfrm>
            <a:off x="502920" y="896112"/>
            <a:ext cx="11155680" cy="237744"/>
          </a:xfrm>
          <a:prstGeom prst="rect">
            <a:avLst/>
          </a:prstGeom>
          <a:noFill/>
        </p:spPr>
        <p:txBody>
          <a:bodyPr wrap="square" lIns="0" rIns="0" tIns="0" bIns="0" anchor="ctr">
            <a:spAutoFit/>
          </a:bodyPr>
          <a:lstStyle/>
          <a:p>
            <a:pPr algn="l"/>
            <a:r>
              <a:rPr sz="1150" b="0" i="1">
                <a:solidFill>
                  <a:srgbClr val="7E8D9B"/>
                </a:solidFill>
                <a:latin typeface="Helvetica Neue"/>
              </a:rPr>
              <a:t>Stage-level attribution across four benchmarks locates the loss not in what StructMem extracts, but in what it does with the value it replaces</a:t>
            </a:r>
          </a:p>
        </p:txBody>
      </p:sp>
      <p:sp>
        <p:nvSpPr>
          <p:cNvPr id="10" name="TextBox 9"/>
          <p:cNvSpPr txBox="1"/>
          <p:nvPr/>
        </p:nvSpPr>
        <p:spPr>
          <a:xfrm>
            <a:off x="502920" y="1298448"/>
            <a:ext cx="7863840" cy="201168"/>
          </a:xfrm>
          <a:prstGeom prst="rect">
            <a:avLst/>
          </a:prstGeom>
          <a:noFill/>
        </p:spPr>
        <p:txBody>
          <a:bodyPr wrap="square" lIns="0" rIns="0" tIns="0" bIns="0" anchor="ctr">
            <a:spAutoFit/>
          </a:bodyPr>
          <a:lstStyle/>
          <a:p>
            <a:pPr algn="l"/>
            <a:r>
              <a:rPr sz="1050" b="1" i="0">
                <a:solidFill>
                  <a:srgbClr val="4C5C6B"/>
                </a:solidFill>
                <a:latin typeface="Helvetica Neue"/>
              </a:rPr>
              <a:t>Table 1.  Stage-failure profile  (HaluMem n = 147, LoCoMo n = 198; denominator is every adjudicated question)</a:t>
            </a:r>
          </a:p>
        </p:txBody>
      </p:sp>
      <p:cxnSp>
        <p:nvCxnSpPr>
          <p:cNvPr id="11" name="Connector 10"/>
          <p:cNvCxnSpPr/>
          <p:nvPr/>
        </p:nvCxnSpPr>
        <p:spPr>
          <a:xfrm>
            <a:off x="502920" y="1536192"/>
            <a:ext cx="10625328" cy="0"/>
          </a:xfrm>
          <a:prstGeom prst="line">
            <a:avLst/>
          </a:prstGeom>
          <a:ln w="22225">
            <a:solidFill>
              <a:srgbClr val="141E27"/>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02920" y="1581912"/>
            <a:ext cx="1207008" cy="164592"/>
          </a:xfrm>
          <a:prstGeom prst="rect">
            <a:avLst/>
          </a:prstGeom>
          <a:noFill/>
        </p:spPr>
        <p:txBody>
          <a:bodyPr wrap="square" lIns="0" rIns="0" tIns="0" bIns="0" anchor="ctr">
            <a:spAutoFit/>
          </a:bodyPr>
          <a:lstStyle/>
          <a:p>
            <a:pPr algn="l"/>
            <a:r>
              <a:rPr sz="900" b="1" i="0">
                <a:solidFill>
                  <a:srgbClr val="7E8D9B"/>
                </a:solidFill>
                <a:latin typeface="Helvetica Neue"/>
              </a:rPr>
              <a:t/>
            </a:r>
          </a:p>
        </p:txBody>
      </p:sp>
      <p:sp>
        <p:nvSpPr>
          <p:cNvPr id="13" name="TextBox 12"/>
          <p:cNvSpPr txBox="1"/>
          <p:nvPr/>
        </p:nvSpPr>
        <p:spPr>
          <a:xfrm>
            <a:off x="502920" y="1746504"/>
            <a:ext cx="1207008" cy="164592"/>
          </a:xfrm>
          <a:prstGeom prst="rect">
            <a:avLst/>
          </a:prstGeom>
          <a:noFill/>
        </p:spPr>
        <p:txBody>
          <a:bodyPr wrap="square" lIns="0" rIns="0" tIns="0" bIns="0" anchor="ctr">
            <a:spAutoFit/>
          </a:bodyPr>
          <a:lstStyle/>
          <a:p>
            <a:pPr algn="l"/>
            <a:r>
              <a:rPr sz="950" b="1" i="0">
                <a:solidFill>
                  <a:srgbClr val="4C5C6B"/>
                </a:solidFill>
                <a:latin typeface="Helvetica Neue"/>
              </a:rPr>
              <a:t/>
            </a:r>
          </a:p>
        </p:txBody>
      </p:sp>
      <p:sp>
        <p:nvSpPr>
          <p:cNvPr id="14" name="TextBox 13"/>
          <p:cNvSpPr txBox="1"/>
          <p:nvPr/>
        </p:nvSpPr>
        <p:spPr>
          <a:xfrm>
            <a:off x="1709928" y="1581912"/>
            <a:ext cx="914400" cy="164592"/>
          </a:xfrm>
          <a:prstGeom prst="rect">
            <a:avLst/>
          </a:prstGeom>
          <a:noFill/>
        </p:spPr>
        <p:txBody>
          <a:bodyPr wrap="square" lIns="0" rIns="0" tIns="0" bIns="0" anchor="ctr">
            <a:spAutoFit/>
          </a:bodyPr>
          <a:lstStyle/>
          <a:p>
            <a:pPr algn="ctr"/>
            <a:r>
              <a:rPr sz="900" b="1" i="0">
                <a:solidFill>
                  <a:srgbClr val="7E8D9B"/>
                </a:solidFill>
                <a:latin typeface="Helvetica Neue"/>
              </a:rPr>
              <a:t>HaluMem</a:t>
            </a:r>
          </a:p>
        </p:txBody>
      </p:sp>
      <p:sp>
        <p:nvSpPr>
          <p:cNvPr id="15" name="TextBox 14"/>
          <p:cNvSpPr txBox="1"/>
          <p:nvPr/>
        </p:nvSpPr>
        <p:spPr>
          <a:xfrm>
            <a:off x="1709928" y="1746504"/>
            <a:ext cx="914400" cy="164592"/>
          </a:xfrm>
          <a:prstGeom prst="rect">
            <a:avLst/>
          </a:prstGeom>
          <a:noFill/>
        </p:spPr>
        <p:txBody>
          <a:bodyPr wrap="square" lIns="0" rIns="0" tIns="0" bIns="0" anchor="ctr">
            <a:spAutoFit/>
          </a:bodyPr>
          <a:lstStyle/>
          <a:p>
            <a:pPr algn="ctr"/>
            <a:r>
              <a:rPr sz="950" b="1" i="0">
                <a:solidFill>
                  <a:srgbClr val="4C5C6B"/>
                </a:solidFill>
                <a:latin typeface="Helvetica Neue"/>
              </a:rPr>
              <a:t>P1 ↓</a:t>
            </a:r>
          </a:p>
        </p:txBody>
      </p:sp>
      <p:sp>
        <p:nvSpPr>
          <p:cNvPr id="16" name="TextBox 15"/>
          <p:cNvSpPr txBox="1"/>
          <p:nvPr/>
        </p:nvSpPr>
        <p:spPr>
          <a:xfrm>
            <a:off x="2624328" y="1581912"/>
            <a:ext cx="914400" cy="164592"/>
          </a:xfrm>
          <a:prstGeom prst="rect">
            <a:avLst/>
          </a:prstGeom>
          <a:noFill/>
        </p:spPr>
        <p:txBody>
          <a:bodyPr wrap="square" lIns="0" rIns="0" tIns="0" bIns="0" anchor="ctr">
            <a:spAutoFit/>
          </a:bodyPr>
          <a:lstStyle/>
          <a:p>
            <a:pPr algn="ctr"/>
            <a:r>
              <a:rPr sz="900" b="1" i="0">
                <a:solidFill>
                  <a:srgbClr val="7E8D9B"/>
                </a:solidFill>
                <a:latin typeface="Helvetica Neue"/>
              </a:rPr>
              <a:t>HaluMem</a:t>
            </a:r>
          </a:p>
        </p:txBody>
      </p:sp>
      <p:sp>
        <p:nvSpPr>
          <p:cNvPr id="17" name="TextBox 16"/>
          <p:cNvSpPr txBox="1"/>
          <p:nvPr/>
        </p:nvSpPr>
        <p:spPr>
          <a:xfrm>
            <a:off x="2624328" y="1746504"/>
            <a:ext cx="914400" cy="164592"/>
          </a:xfrm>
          <a:prstGeom prst="rect">
            <a:avLst/>
          </a:prstGeom>
          <a:noFill/>
        </p:spPr>
        <p:txBody>
          <a:bodyPr wrap="square" lIns="0" rIns="0" tIns="0" bIns="0" anchor="ctr">
            <a:spAutoFit/>
          </a:bodyPr>
          <a:lstStyle/>
          <a:p>
            <a:pPr algn="ctr"/>
            <a:r>
              <a:rPr sz="950" b="1" i="0">
                <a:solidFill>
                  <a:srgbClr val="4C5C6B"/>
                </a:solidFill>
                <a:latin typeface="Helvetica Neue"/>
              </a:rPr>
              <a:t>P4 ↓</a:t>
            </a:r>
          </a:p>
        </p:txBody>
      </p:sp>
      <p:sp>
        <p:nvSpPr>
          <p:cNvPr id="18" name="TextBox 17"/>
          <p:cNvSpPr txBox="1"/>
          <p:nvPr/>
        </p:nvSpPr>
        <p:spPr>
          <a:xfrm>
            <a:off x="3538728" y="1581912"/>
            <a:ext cx="914400" cy="164592"/>
          </a:xfrm>
          <a:prstGeom prst="rect">
            <a:avLst/>
          </a:prstGeom>
          <a:noFill/>
        </p:spPr>
        <p:txBody>
          <a:bodyPr wrap="square" lIns="0" rIns="0" tIns="0" bIns="0" anchor="ctr">
            <a:spAutoFit/>
          </a:bodyPr>
          <a:lstStyle/>
          <a:p>
            <a:pPr algn="ctr"/>
            <a:r>
              <a:rPr sz="900" b="1" i="0">
                <a:solidFill>
                  <a:srgbClr val="7E8D9B"/>
                </a:solidFill>
                <a:latin typeface="Helvetica Neue"/>
              </a:rPr>
              <a:t>HaluMem</a:t>
            </a:r>
          </a:p>
        </p:txBody>
      </p:sp>
      <p:sp>
        <p:nvSpPr>
          <p:cNvPr id="19" name="TextBox 18"/>
          <p:cNvSpPr txBox="1"/>
          <p:nvPr/>
        </p:nvSpPr>
        <p:spPr>
          <a:xfrm>
            <a:off x="3538728" y="1746504"/>
            <a:ext cx="914400" cy="164592"/>
          </a:xfrm>
          <a:prstGeom prst="rect">
            <a:avLst/>
          </a:prstGeom>
          <a:noFill/>
        </p:spPr>
        <p:txBody>
          <a:bodyPr wrap="square" lIns="0" rIns="0" tIns="0" bIns="0" anchor="ctr">
            <a:spAutoFit/>
          </a:bodyPr>
          <a:lstStyle/>
          <a:p>
            <a:pPr algn="ctr"/>
            <a:r>
              <a:rPr sz="950" b="1" i="0">
                <a:solidFill>
                  <a:srgbClr val="4C5C6B"/>
                </a:solidFill>
                <a:latin typeface="Helvetica Neue"/>
              </a:rPr>
              <a:t>P5 ↓</a:t>
            </a:r>
          </a:p>
        </p:txBody>
      </p:sp>
      <p:sp>
        <p:nvSpPr>
          <p:cNvPr id="20" name="TextBox 19"/>
          <p:cNvSpPr txBox="1"/>
          <p:nvPr/>
        </p:nvSpPr>
        <p:spPr>
          <a:xfrm>
            <a:off x="4453128" y="1581912"/>
            <a:ext cx="1005840" cy="164592"/>
          </a:xfrm>
          <a:prstGeom prst="rect">
            <a:avLst/>
          </a:prstGeom>
          <a:noFill/>
        </p:spPr>
        <p:txBody>
          <a:bodyPr wrap="square" lIns="0" rIns="0" tIns="0" bIns="0" anchor="ctr">
            <a:spAutoFit/>
          </a:bodyPr>
          <a:lstStyle/>
          <a:p>
            <a:pPr algn="ctr"/>
            <a:r>
              <a:rPr sz="900" b="1" i="0">
                <a:solidFill>
                  <a:srgbClr val="7E8D9B"/>
                </a:solidFill>
                <a:latin typeface="Helvetica Neue"/>
              </a:rPr>
              <a:t>HaluMem</a:t>
            </a:r>
          </a:p>
        </p:txBody>
      </p:sp>
      <p:sp>
        <p:nvSpPr>
          <p:cNvPr id="21" name="TextBox 20"/>
          <p:cNvSpPr txBox="1"/>
          <p:nvPr/>
        </p:nvSpPr>
        <p:spPr>
          <a:xfrm>
            <a:off x="4453128" y="1746504"/>
            <a:ext cx="1005840" cy="164592"/>
          </a:xfrm>
          <a:prstGeom prst="rect">
            <a:avLst/>
          </a:prstGeom>
          <a:noFill/>
        </p:spPr>
        <p:txBody>
          <a:bodyPr wrap="square" lIns="0" rIns="0" tIns="0" bIns="0" anchor="ctr">
            <a:spAutoFit/>
          </a:bodyPr>
          <a:lstStyle/>
          <a:p>
            <a:pPr algn="ctr"/>
            <a:r>
              <a:rPr sz="950" b="1" i="0">
                <a:solidFill>
                  <a:srgbClr val="4C5C6B"/>
                </a:solidFill>
                <a:latin typeface="Helvetica Neue"/>
              </a:rPr>
              <a:t>error ↓</a:t>
            </a:r>
          </a:p>
        </p:txBody>
      </p:sp>
      <p:sp>
        <p:nvSpPr>
          <p:cNvPr id="22" name="TextBox 21"/>
          <p:cNvSpPr txBox="1"/>
          <p:nvPr/>
        </p:nvSpPr>
        <p:spPr>
          <a:xfrm>
            <a:off x="5458968" y="1581912"/>
            <a:ext cx="914400" cy="164592"/>
          </a:xfrm>
          <a:prstGeom prst="rect">
            <a:avLst/>
          </a:prstGeom>
          <a:noFill/>
        </p:spPr>
        <p:txBody>
          <a:bodyPr wrap="square" lIns="0" rIns="0" tIns="0" bIns="0" anchor="ctr">
            <a:spAutoFit/>
          </a:bodyPr>
          <a:lstStyle/>
          <a:p>
            <a:pPr algn="ctr"/>
            <a:r>
              <a:rPr sz="900" b="1" i="0">
                <a:solidFill>
                  <a:srgbClr val="7E8D9B"/>
                </a:solidFill>
                <a:latin typeface="Helvetica Neue"/>
              </a:rPr>
              <a:t>LoCoMo</a:t>
            </a:r>
          </a:p>
        </p:txBody>
      </p:sp>
      <p:sp>
        <p:nvSpPr>
          <p:cNvPr id="23" name="TextBox 22"/>
          <p:cNvSpPr txBox="1"/>
          <p:nvPr/>
        </p:nvSpPr>
        <p:spPr>
          <a:xfrm>
            <a:off x="5458968" y="1746504"/>
            <a:ext cx="914400" cy="164592"/>
          </a:xfrm>
          <a:prstGeom prst="rect">
            <a:avLst/>
          </a:prstGeom>
          <a:noFill/>
        </p:spPr>
        <p:txBody>
          <a:bodyPr wrap="square" lIns="0" rIns="0" tIns="0" bIns="0" anchor="ctr">
            <a:spAutoFit/>
          </a:bodyPr>
          <a:lstStyle/>
          <a:p>
            <a:pPr algn="ctr"/>
            <a:r>
              <a:rPr sz="950" b="1" i="0">
                <a:solidFill>
                  <a:srgbClr val="4C5C6B"/>
                </a:solidFill>
                <a:latin typeface="Helvetica Neue"/>
              </a:rPr>
              <a:t>P1 ↓</a:t>
            </a:r>
          </a:p>
        </p:txBody>
      </p:sp>
      <p:sp>
        <p:nvSpPr>
          <p:cNvPr id="24" name="TextBox 23"/>
          <p:cNvSpPr txBox="1"/>
          <p:nvPr/>
        </p:nvSpPr>
        <p:spPr>
          <a:xfrm>
            <a:off x="6373368" y="1581912"/>
            <a:ext cx="914400" cy="164592"/>
          </a:xfrm>
          <a:prstGeom prst="rect">
            <a:avLst/>
          </a:prstGeom>
          <a:noFill/>
        </p:spPr>
        <p:txBody>
          <a:bodyPr wrap="square" lIns="0" rIns="0" tIns="0" bIns="0" anchor="ctr">
            <a:spAutoFit/>
          </a:bodyPr>
          <a:lstStyle/>
          <a:p>
            <a:pPr algn="ctr"/>
            <a:r>
              <a:rPr sz="900" b="1" i="0">
                <a:solidFill>
                  <a:srgbClr val="7E8D9B"/>
                </a:solidFill>
                <a:latin typeface="Helvetica Neue"/>
              </a:rPr>
              <a:t>LoCoMo</a:t>
            </a:r>
          </a:p>
        </p:txBody>
      </p:sp>
      <p:sp>
        <p:nvSpPr>
          <p:cNvPr id="25" name="TextBox 24"/>
          <p:cNvSpPr txBox="1"/>
          <p:nvPr/>
        </p:nvSpPr>
        <p:spPr>
          <a:xfrm>
            <a:off x="6373368" y="1746504"/>
            <a:ext cx="914400" cy="164592"/>
          </a:xfrm>
          <a:prstGeom prst="rect">
            <a:avLst/>
          </a:prstGeom>
          <a:noFill/>
        </p:spPr>
        <p:txBody>
          <a:bodyPr wrap="square" lIns="0" rIns="0" tIns="0" bIns="0" anchor="ctr">
            <a:spAutoFit/>
          </a:bodyPr>
          <a:lstStyle/>
          <a:p>
            <a:pPr algn="ctr"/>
            <a:r>
              <a:rPr sz="950" b="1" i="0">
                <a:solidFill>
                  <a:srgbClr val="4C5C6B"/>
                </a:solidFill>
                <a:latin typeface="Helvetica Neue"/>
              </a:rPr>
              <a:t>P4 ↓</a:t>
            </a:r>
          </a:p>
        </p:txBody>
      </p:sp>
      <p:sp>
        <p:nvSpPr>
          <p:cNvPr id="26" name="TextBox 25"/>
          <p:cNvSpPr txBox="1"/>
          <p:nvPr/>
        </p:nvSpPr>
        <p:spPr>
          <a:xfrm>
            <a:off x="7287768" y="1581912"/>
            <a:ext cx="914400" cy="164592"/>
          </a:xfrm>
          <a:prstGeom prst="rect">
            <a:avLst/>
          </a:prstGeom>
          <a:noFill/>
        </p:spPr>
        <p:txBody>
          <a:bodyPr wrap="square" lIns="0" rIns="0" tIns="0" bIns="0" anchor="ctr">
            <a:spAutoFit/>
          </a:bodyPr>
          <a:lstStyle/>
          <a:p>
            <a:pPr algn="ctr"/>
            <a:r>
              <a:rPr sz="900" b="1" i="0">
                <a:solidFill>
                  <a:srgbClr val="7E8D9B"/>
                </a:solidFill>
                <a:latin typeface="Helvetica Neue"/>
              </a:rPr>
              <a:t>LoCoMo</a:t>
            </a:r>
          </a:p>
        </p:txBody>
      </p:sp>
      <p:sp>
        <p:nvSpPr>
          <p:cNvPr id="27" name="TextBox 26"/>
          <p:cNvSpPr txBox="1"/>
          <p:nvPr/>
        </p:nvSpPr>
        <p:spPr>
          <a:xfrm>
            <a:off x="7287768" y="1746504"/>
            <a:ext cx="914400" cy="164592"/>
          </a:xfrm>
          <a:prstGeom prst="rect">
            <a:avLst/>
          </a:prstGeom>
          <a:noFill/>
        </p:spPr>
        <p:txBody>
          <a:bodyPr wrap="square" lIns="0" rIns="0" tIns="0" bIns="0" anchor="ctr">
            <a:spAutoFit/>
          </a:bodyPr>
          <a:lstStyle/>
          <a:p>
            <a:pPr algn="ctr"/>
            <a:r>
              <a:rPr sz="950" b="1" i="0">
                <a:solidFill>
                  <a:srgbClr val="4C5C6B"/>
                </a:solidFill>
                <a:latin typeface="Helvetica Neue"/>
              </a:rPr>
              <a:t>P5 ↓</a:t>
            </a:r>
          </a:p>
        </p:txBody>
      </p:sp>
      <p:sp>
        <p:nvSpPr>
          <p:cNvPr id="28" name="TextBox 27"/>
          <p:cNvSpPr txBox="1"/>
          <p:nvPr/>
        </p:nvSpPr>
        <p:spPr>
          <a:xfrm>
            <a:off x="8202168" y="1581912"/>
            <a:ext cx="1005840" cy="164592"/>
          </a:xfrm>
          <a:prstGeom prst="rect">
            <a:avLst/>
          </a:prstGeom>
          <a:noFill/>
        </p:spPr>
        <p:txBody>
          <a:bodyPr wrap="square" lIns="0" rIns="0" tIns="0" bIns="0" anchor="ctr">
            <a:spAutoFit/>
          </a:bodyPr>
          <a:lstStyle/>
          <a:p>
            <a:pPr algn="ctr"/>
            <a:r>
              <a:rPr sz="900" b="1" i="0">
                <a:solidFill>
                  <a:srgbClr val="7E8D9B"/>
                </a:solidFill>
                <a:latin typeface="Helvetica Neue"/>
              </a:rPr>
              <a:t>LoCoMo</a:t>
            </a:r>
          </a:p>
        </p:txBody>
      </p:sp>
      <p:sp>
        <p:nvSpPr>
          <p:cNvPr id="29" name="TextBox 28"/>
          <p:cNvSpPr txBox="1"/>
          <p:nvPr/>
        </p:nvSpPr>
        <p:spPr>
          <a:xfrm>
            <a:off x="8202168" y="1746504"/>
            <a:ext cx="1005840" cy="164592"/>
          </a:xfrm>
          <a:prstGeom prst="rect">
            <a:avLst/>
          </a:prstGeom>
          <a:noFill/>
        </p:spPr>
        <p:txBody>
          <a:bodyPr wrap="square" lIns="0" rIns="0" tIns="0" bIns="0" anchor="ctr">
            <a:spAutoFit/>
          </a:bodyPr>
          <a:lstStyle/>
          <a:p>
            <a:pPr algn="ctr"/>
            <a:r>
              <a:rPr sz="950" b="1" i="0">
                <a:solidFill>
                  <a:srgbClr val="4C5C6B"/>
                </a:solidFill>
                <a:latin typeface="Helvetica Neue"/>
              </a:rPr>
              <a:t>error ↓</a:t>
            </a:r>
          </a:p>
        </p:txBody>
      </p:sp>
      <p:sp>
        <p:nvSpPr>
          <p:cNvPr id="30" name="TextBox 29"/>
          <p:cNvSpPr txBox="1"/>
          <p:nvPr/>
        </p:nvSpPr>
        <p:spPr>
          <a:xfrm>
            <a:off x="9208008" y="1581912"/>
            <a:ext cx="960120" cy="164592"/>
          </a:xfrm>
          <a:prstGeom prst="rect">
            <a:avLst/>
          </a:prstGeom>
          <a:noFill/>
        </p:spPr>
        <p:txBody>
          <a:bodyPr wrap="square" lIns="0" rIns="0" tIns="0" bIns="0" anchor="ctr">
            <a:spAutoFit/>
          </a:bodyPr>
          <a:lstStyle/>
          <a:p>
            <a:pPr algn="ctr"/>
            <a:r>
              <a:rPr sz="900" b="1" i="0">
                <a:solidFill>
                  <a:srgbClr val="7E8D9B"/>
                </a:solidFill>
                <a:latin typeface="Helvetica Neue"/>
              </a:rPr>
              <a:t>HaluMem</a:t>
            </a:r>
          </a:p>
        </p:txBody>
      </p:sp>
      <p:sp>
        <p:nvSpPr>
          <p:cNvPr id="31" name="TextBox 30"/>
          <p:cNvSpPr txBox="1"/>
          <p:nvPr/>
        </p:nvSpPr>
        <p:spPr>
          <a:xfrm>
            <a:off x="9208008" y="1746504"/>
            <a:ext cx="960120" cy="164592"/>
          </a:xfrm>
          <a:prstGeom prst="rect">
            <a:avLst/>
          </a:prstGeom>
          <a:noFill/>
        </p:spPr>
        <p:txBody>
          <a:bodyPr wrap="square" lIns="0" rIns="0" tIns="0" bIns="0" anchor="ctr">
            <a:spAutoFit/>
          </a:bodyPr>
          <a:lstStyle/>
          <a:p>
            <a:pPr algn="ctr"/>
            <a:r>
              <a:rPr sz="950" b="1" i="0">
                <a:solidFill>
                  <a:srgbClr val="4C5C6B"/>
                </a:solidFill>
                <a:latin typeface="Helvetica Neue"/>
              </a:rPr>
              <a:t>QA ↑</a:t>
            </a:r>
          </a:p>
        </p:txBody>
      </p:sp>
      <p:sp>
        <p:nvSpPr>
          <p:cNvPr id="32" name="TextBox 31"/>
          <p:cNvSpPr txBox="1"/>
          <p:nvPr/>
        </p:nvSpPr>
        <p:spPr>
          <a:xfrm>
            <a:off x="10168128" y="1581912"/>
            <a:ext cx="960120" cy="164592"/>
          </a:xfrm>
          <a:prstGeom prst="rect">
            <a:avLst/>
          </a:prstGeom>
          <a:noFill/>
        </p:spPr>
        <p:txBody>
          <a:bodyPr wrap="square" lIns="0" rIns="0" tIns="0" bIns="0" anchor="ctr">
            <a:spAutoFit/>
          </a:bodyPr>
          <a:lstStyle/>
          <a:p>
            <a:pPr algn="ctr"/>
            <a:r>
              <a:rPr sz="900" b="1" i="0">
                <a:solidFill>
                  <a:srgbClr val="7E8D9B"/>
                </a:solidFill>
                <a:latin typeface="Helvetica Neue"/>
              </a:rPr>
              <a:t>MemFail</a:t>
            </a:r>
          </a:p>
        </p:txBody>
      </p:sp>
      <p:sp>
        <p:nvSpPr>
          <p:cNvPr id="33" name="TextBox 32"/>
          <p:cNvSpPr txBox="1"/>
          <p:nvPr/>
        </p:nvSpPr>
        <p:spPr>
          <a:xfrm>
            <a:off x="10168128" y="1746504"/>
            <a:ext cx="960120" cy="164592"/>
          </a:xfrm>
          <a:prstGeom prst="rect">
            <a:avLst/>
          </a:prstGeom>
          <a:noFill/>
        </p:spPr>
        <p:txBody>
          <a:bodyPr wrap="square" lIns="0" rIns="0" tIns="0" bIns="0" anchor="ctr">
            <a:spAutoFit/>
          </a:bodyPr>
          <a:lstStyle/>
          <a:p>
            <a:pPr algn="ctr"/>
            <a:r>
              <a:rPr sz="950" b="1" i="0">
                <a:solidFill>
                  <a:srgbClr val="4C5C6B"/>
                </a:solidFill>
                <a:latin typeface="Helvetica Neue"/>
              </a:rPr>
              <a:t>/ 35 ↑</a:t>
            </a:r>
          </a:p>
        </p:txBody>
      </p:sp>
      <p:cxnSp>
        <p:nvCxnSpPr>
          <p:cNvPr id="34" name="Connector 33"/>
          <p:cNvCxnSpPr/>
          <p:nvPr/>
        </p:nvCxnSpPr>
        <p:spPr>
          <a:xfrm>
            <a:off x="502920" y="1956816"/>
            <a:ext cx="10625328" cy="0"/>
          </a:xfrm>
          <a:prstGeom prst="line">
            <a:avLst/>
          </a:prstGeom>
          <a:ln w="11430">
            <a:solidFill>
              <a:srgbClr val="141E27"/>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502920" y="1993392"/>
            <a:ext cx="1207008" cy="201168"/>
          </a:xfrm>
          <a:prstGeom prst="rect">
            <a:avLst/>
          </a:prstGeom>
          <a:noFill/>
        </p:spPr>
        <p:txBody>
          <a:bodyPr wrap="square" lIns="0" rIns="0" tIns="0" bIns="0" anchor="ctr">
            <a:spAutoFit/>
          </a:bodyPr>
          <a:lstStyle/>
          <a:p>
            <a:pPr algn="l"/>
            <a:r>
              <a:rPr sz="1050" b="1" i="0">
                <a:solidFill>
                  <a:srgbClr val="141E27"/>
                </a:solidFill>
                <a:latin typeface="Helvetica Neue"/>
              </a:rPr>
              <a:t>Mem0 v1</a:t>
            </a:r>
          </a:p>
        </p:txBody>
      </p:sp>
      <p:sp>
        <p:nvSpPr>
          <p:cNvPr id="36" name="TextBox 35"/>
          <p:cNvSpPr txBox="1"/>
          <p:nvPr/>
        </p:nvSpPr>
        <p:spPr>
          <a:xfrm>
            <a:off x="1709928" y="1993392"/>
            <a:ext cx="914400" cy="201168"/>
          </a:xfrm>
          <a:prstGeom prst="rect">
            <a:avLst/>
          </a:prstGeom>
          <a:noFill/>
        </p:spPr>
        <p:txBody>
          <a:bodyPr wrap="square" lIns="0" rIns="0" tIns="0" bIns="0" anchor="ctr">
            <a:spAutoFit/>
          </a:bodyPr>
          <a:lstStyle/>
          <a:p>
            <a:pPr algn="ctr"/>
            <a:r>
              <a:rPr sz="950" b="1" i="0">
                <a:solidFill>
                  <a:srgbClr val="9C4221"/>
                </a:solidFill>
                <a:latin typeface="Menlo"/>
              </a:rPr>
              <a:t>0.286</a:t>
            </a:r>
          </a:p>
        </p:txBody>
      </p:sp>
      <p:sp>
        <p:nvSpPr>
          <p:cNvPr id="37" name="TextBox 36"/>
          <p:cNvSpPr txBox="1"/>
          <p:nvPr/>
        </p:nvSpPr>
        <p:spPr>
          <a:xfrm>
            <a:off x="2624328" y="1993392"/>
            <a:ext cx="914400" cy="201168"/>
          </a:xfrm>
          <a:prstGeom prst="rect">
            <a:avLst/>
          </a:prstGeom>
          <a:noFill/>
        </p:spPr>
        <p:txBody>
          <a:bodyPr wrap="square" lIns="0" rIns="0" tIns="0" bIns="0" anchor="ctr">
            <a:spAutoFit/>
          </a:bodyPr>
          <a:lstStyle/>
          <a:p>
            <a:pPr algn="ctr"/>
            <a:r>
              <a:rPr sz="950" b="0" i="0">
                <a:solidFill>
                  <a:srgbClr val="141E27"/>
                </a:solidFill>
                <a:latin typeface="Menlo"/>
              </a:rPr>
              <a:t>0.225</a:t>
            </a:r>
          </a:p>
        </p:txBody>
      </p:sp>
      <p:sp>
        <p:nvSpPr>
          <p:cNvPr id="38" name="TextBox 37"/>
          <p:cNvSpPr txBox="1"/>
          <p:nvPr/>
        </p:nvSpPr>
        <p:spPr>
          <a:xfrm>
            <a:off x="3538728" y="1993392"/>
            <a:ext cx="914400" cy="201168"/>
          </a:xfrm>
          <a:prstGeom prst="rect">
            <a:avLst/>
          </a:prstGeom>
          <a:noFill/>
        </p:spPr>
        <p:txBody>
          <a:bodyPr wrap="square" lIns="0" rIns="0" tIns="0" bIns="0" anchor="ctr">
            <a:spAutoFit/>
          </a:bodyPr>
          <a:lstStyle/>
          <a:p>
            <a:pPr algn="ctr"/>
            <a:r>
              <a:rPr sz="950" b="1" i="0">
                <a:solidFill>
                  <a:srgbClr val="16685A"/>
                </a:solidFill>
                <a:latin typeface="Menlo"/>
              </a:rPr>
              <a:t>0.286</a:t>
            </a:r>
          </a:p>
        </p:txBody>
      </p:sp>
      <p:sp>
        <p:nvSpPr>
          <p:cNvPr id="39" name="TextBox 38"/>
          <p:cNvSpPr txBox="1"/>
          <p:nvPr/>
        </p:nvSpPr>
        <p:spPr>
          <a:xfrm>
            <a:off x="4453128" y="1993392"/>
            <a:ext cx="1005840" cy="201168"/>
          </a:xfrm>
          <a:prstGeom prst="rect">
            <a:avLst/>
          </a:prstGeom>
          <a:noFill/>
        </p:spPr>
        <p:txBody>
          <a:bodyPr wrap="square" lIns="0" rIns="0" tIns="0" bIns="0" anchor="ctr">
            <a:spAutoFit/>
          </a:bodyPr>
          <a:lstStyle/>
          <a:p>
            <a:pPr algn="ctr"/>
            <a:r>
              <a:rPr sz="950" b="0" i="0">
                <a:solidFill>
                  <a:srgbClr val="141E27"/>
                </a:solidFill>
                <a:latin typeface="Menlo"/>
              </a:rPr>
              <a:t>0.796</a:t>
            </a:r>
          </a:p>
        </p:txBody>
      </p:sp>
      <p:sp>
        <p:nvSpPr>
          <p:cNvPr id="40" name="TextBox 39"/>
          <p:cNvSpPr txBox="1"/>
          <p:nvPr/>
        </p:nvSpPr>
        <p:spPr>
          <a:xfrm>
            <a:off x="5458968" y="1993392"/>
            <a:ext cx="914400" cy="201168"/>
          </a:xfrm>
          <a:prstGeom prst="rect">
            <a:avLst/>
          </a:prstGeom>
          <a:noFill/>
        </p:spPr>
        <p:txBody>
          <a:bodyPr wrap="square" lIns="0" rIns="0" tIns="0" bIns="0" anchor="ctr">
            <a:spAutoFit/>
          </a:bodyPr>
          <a:lstStyle/>
          <a:p>
            <a:pPr algn="ctr"/>
            <a:r>
              <a:rPr sz="950" b="0" i="0">
                <a:solidFill>
                  <a:srgbClr val="141E27"/>
                </a:solidFill>
                <a:latin typeface="Menlo"/>
              </a:rPr>
              <a:t>0.259</a:t>
            </a:r>
          </a:p>
        </p:txBody>
      </p:sp>
      <p:sp>
        <p:nvSpPr>
          <p:cNvPr id="41" name="TextBox 40"/>
          <p:cNvSpPr txBox="1"/>
          <p:nvPr/>
        </p:nvSpPr>
        <p:spPr>
          <a:xfrm>
            <a:off x="6373368" y="1993392"/>
            <a:ext cx="914400" cy="201168"/>
          </a:xfrm>
          <a:prstGeom prst="rect">
            <a:avLst/>
          </a:prstGeom>
          <a:noFill/>
        </p:spPr>
        <p:txBody>
          <a:bodyPr wrap="square" lIns="0" rIns="0" tIns="0" bIns="0" anchor="ctr">
            <a:spAutoFit/>
          </a:bodyPr>
          <a:lstStyle/>
          <a:p>
            <a:pPr algn="ctr"/>
            <a:r>
              <a:rPr sz="950" b="1" i="0">
                <a:solidFill>
                  <a:srgbClr val="9C4221"/>
                </a:solidFill>
                <a:latin typeface="Menlo"/>
              </a:rPr>
              <a:t>0.137</a:t>
            </a:r>
          </a:p>
        </p:txBody>
      </p:sp>
      <p:sp>
        <p:nvSpPr>
          <p:cNvPr id="42" name="TextBox 41"/>
          <p:cNvSpPr txBox="1"/>
          <p:nvPr/>
        </p:nvSpPr>
        <p:spPr>
          <a:xfrm>
            <a:off x="7287768" y="1993392"/>
            <a:ext cx="914400" cy="201168"/>
          </a:xfrm>
          <a:prstGeom prst="rect">
            <a:avLst/>
          </a:prstGeom>
          <a:noFill/>
        </p:spPr>
        <p:txBody>
          <a:bodyPr wrap="square" lIns="0" rIns="0" tIns="0" bIns="0" anchor="ctr">
            <a:spAutoFit/>
          </a:bodyPr>
          <a:lstStyle/>
          <a:p>
            <a:pPr algn="ctr"/>
            <a:r>
              <a:rPr sz="950" b="0" i="0">
                <a:solidFill>
                  <a:srgbClr val="141E27"/>
                </a:solidFill>
                <a:latin typeface="Menlo"/>
              </a:rPr>
              <a:t>0.142</a:t>
            </a:r>
          </a:p>
        </p:txBody>
      </p:sp>
      <p:sp>
        <p:nvSpPr>
          <p:cNvPr id="43" name="TextBox 42"/>
          <p:cNvSpPr txBox="1"/>
          <p:nvPr/>
        </p:nvSpPr>
        <p:spPr>
          <a:xfrm>
            <a:off x="8202168" y="1993392"/>
            <a:ext cx="1005840" cy="201168"/>
          </a:xfrm>
          <a:prstGeom prst="rect">
            <a:avLst/>
          </a:prstGeom>
          <a:noFill/>
        </p:spPr>
        <p:txBody>
          <a:bodyPr wrap="square" lIns="0" rIns="0" tIns="0" bIns="0" anchor="ctr">
            <a:spAutoFit/>
          </a:bodyPr>
          <a:lstStyle/>
          <a:p>
            <a:pPr algn="ctr"/>
            <a:r>
              <a:rPr sz="950" b="1" i="0">
                <a:solidFill>
                  <a:srgbClr val="9C4221"/>
                </a:solidFill>
                <a:latin typeface="Menlo"/>
              </a:rPr>
              <a:t>0.538</a:t>
            </a:r>
          </a:p>
        </p:txBody>
      </p:sp>
      <p:sp>
        <p:nvSpPr>
          <p:cNvPr id="44" name="TextBox 43"/>
          <p:cNvSpPr txBox="1"/>
          <p:nvPr/>
        </p:nvSpPr>
        <p:spPr>
          <a:xfrm>
            <a:off x="9208008" y="1993392"/>
            <a:ext cx="960120" cy="201168"/>
          </a:xfrm>
          <a:prstGeom prst="rect">
            <a:avLst/>
          </a:prstGeom>
          <a:noFill/>
        </p:spPr>
        <p:txBody>
          <a:bodyPr wrap="square" lIns="0" rIns="0" tIns="0" bIns="0" anchor="ctr">
            <a:spAutoFit/>
          </a:bodyPr>
          <a:lstStyle/>
          <a:p>
            <a:pPr algn="ctr"/>
            <a:r>
              <a:rPr sz="950" b="0" i="0">
                <a:solidFill>
                  <a:srgbClr val="141E27"/>
                </a:solidFill>
                <a:latin typeface="Menlo"/>
              </a:rPr>
              <a:t>0.372</a:t>
            </a:r>
          </a:p>
        </p:txBody>
      </p:sp>
      <p:sp>
        <p:nvSpPr>
          <p:cNvPr id="45" name="TextBox 44"/>
          <p:cNvSpPr txBox="1"/>
          <p:nvPr/>
        </p:nvSpPr>
        <p:spPr>
          <a:xfrm>
            <a:off x="10168128" y="1993392"/>
            <a:ext cx="960120" cy="201168"/>
          </a:xfrm>
          <a:prstGeom prst="rect">
            <a:avLst/>
          </a:prstGeom>
          <a:noFill/>
        </p:spPr>
        <p:txBody>
          <a:bodyPr wrap="square" lIns="0" rIns="0" tIns="0" bIns="0" anchor="ctr">
            <a:spAutoFit/>
          </a:bodyPr>
          <a:lstStyle/>
          <a:p>
            <a:pPr algn="ctr"/>
            <a:r>
              <a:rPr sz="950" b="0" i="0">
                <a:solidFill>
                  <a:srgbClr val="141E27"/>
                </a:solidFill>
                <a:latin typeface="Menlo"/>
              </a:rPr>
              <a:t>25</a:t>
            </a:r>
          </a:p>
        </p:txBody>
      </p:sp>
      <p:sp>
        <p:nvSpPr>
          <p:cNvPr id="46" name="TextBox 45"/>
          <p:cNvSpPr txBox="1"/>
          <p:nvPr/>
        </p:nvSpPr>
        <p:spPr>
          <a:xfrm>
            <a:off x="502920" y="2267712"/>
            <a:ext cx="1207008" cy="201168"/>
          </a:xfrm>
          <a:prstGeom prst="rect">
            <a:avLst/>
          </a:prstGeom>
          <a:noFill/>
        </p:spPr>
        <p:txBody>
          <a:bodyPr wrap="square" lIns="0" rIns="0" tIns="0" bIns="0" anchor="ctr">
            <a:spAutoFit/>
          </a:bodyPr>
          <a:lstStyle/>
          <a:p>
            <a:pPr algn="l"/>
            <a:r>
              <a:rPr sz="1050" b="1" i="0">
                <a:solidFill>
                  <a:srgbClr val="141E27"/>
                </a:solidFill>
                <a:latin typeface="Helvetica Neue"/>
              </a:rPr>
              <a:t>Mem0 v2</a:t>
            </a:r>
          </a:p>
        </p:txBody>
      </p:sp>
      <p:sp>
        <p:nvSpPr>
          <p:cNvPr id="47" name="TextBox 46"/>
          <p:cNvSpPr txBox="1"/>
          <p:nvPr/>
        </p:nvSpPr>
        <p:spPr>
          <a:xfrm>
            <a:off x="1709928" y="2267712"/>
            <a:ext cx="914400" cy="201168"/>
          </a:xfrm>
          <a:prstGeom prst="rect">
            <a:avLst/>
          </a:prstGeom>
          <a:noFill/>
        </p:spPr>
        <p:txBody>
          <a:bodyPr wrap="square" lIns="0" rIns="0" tIns="0" bIns="0" anchor="ctr">
            <a:spAutoFit/>
          </a:bodyPr>
          <a:lstStyle/>
          <a:p>
            <a:pPr algn="ctr"/>
            <a:r>
              <a:rPr sz="950" b="0" i="0">
                <a:solidFill>
                  <a:srgbClr val="141E27"/>
                </a:solidFill>
                <a:latin typeface="Menlo"/>
              </a:rPr>
              <a:t>0.163</a:t>
            </a:r>
          </a:p>
        </p:txBody>
      </p:sp>
      <p:sp>
        <p:nvSpPr>
          <p:cNvPr id="48" name="TextBox 47"/>
          <p:cNvSpPr txBox="1"/>
          <p:nvPr/>
        </p:nvSpPr>
        <p:spPr>
          <a:xfrm>
            <a:off x="2624328" y="2267712"/>
            <a:ext cx="914400" cy="201168"/>
          </a:xfrm>
          <a:prstGeom prst="rect">
            <a:avLst/>
          </a:prstGeom>
          <a:noFill/>
        </p:spPr>
        <p:txBody>
          <a:bodyPr wrap="square" lIns="0" rIns="0" tIns="0" bIns="0" anchor="ctr">
            <a:spAutoFit/>
          </a:bodyPr>
          <a:lstStyle/>
          <a:p>
            <a:pPr algn="ctr"/>
            <a:r>
              <a:rPr sz="950" b="1" i="0">
                <a:solidFill>
                  <a:srgbClr val="9C4221"/>
                </a:solidFill>
                <a:latin typeface="Menlo"/>
              </a:rPr>
              <a:t>0.265</a:t>
            </a:r>
          </a:p>
        </p:txBody>
      </p:sp>
      <p:sp>
        <p:nvSpPr>
          <p:cNvPr id="49" name="TextBox 48"/>
          <p:cNvSpPr txBox="1"/>
          <p:nvPr/>
        </p:nvSpPr>
        <p:spPr>
          <a:xfrm>
            <a:off x="3538728" y="2267712"/>
            <a:ext cx="914400" cy="201168"/>
          </a:xfrm>
          <a:prstGeom prst="rect">
            <a:avLst/>
          </a:prstGeom>
          <a:noFill/>
        </p:spPr>
        <p:txBody>
          <a:bodyPr wrap="square" lIns="0" rIns="0" tIns="0" bIns="0" anchor="ctr">
            <a:spAutoFit/>
          </a:bodyPr>
          <a:lstStyle/>
          <a:p>
            <a:pPr algn="ctr"/>
            <a:r>
              <a:rPr sz="950" b="1" i="0">
                <a:solidFill>
                  <a:srgbClr val="9C4221"/>
                </a:solidFill>
                <a:latin typeface="Menlo"/>
              </a:rPr>
              <a:t>0.374</a:t>
            </a:r>
          </a:p>
        </p:txBody>
      </p:sp>
      <p:sp>
        <p:nvSpPr>
          <p:cNvPr id="50" name="TextBox 49"/>
          <p:cNvSpPr txBox="1"/>
          <p:nvPr/>
        </p:nvSpPr>
        <p:spPr>
          <a:xfrm>
            <a:off x="4453128" y="2267712"/>
            <a:ext cx="1005840" cy="201168"/>
          </a:xfrm>
          <a:prstGeom prst="rect">
            <a:avLst/>
          </a:prstGeom>
          <a:noFill/>
        </p:spPr>
        <p:txBody>
          <a:bodyPr wrap="square" lIns="0" rIns="0" tIns="0" bIns="0" anchor="ctr">
            <a:spAutoFit/>
          </a:bodyPr>
          <a:lstStyle/>
          <a:p>
            <a:pPr algn="ctr"/>
            <a:r>
              <a:rPr sz="950" b="1" i="0">
                <a:solidFill>
                  <a:srgbClr val="9C4221"/>
                </a:solidFill>
                <a:latin typeface="Menlo"/>
              </a:rPr>
              <a:t>0.803</a:t>
            </a:r>
          </a:p>
        </p:txBody>
      </p:sp>
      <p:sp>
        <p:nvSpPr>
          <p:cNvPr id="51" name="TextBox 50"/>
          <p:cNvSpPr txBox="1"/>
          <p:nvPr/>
        </p:nvSpPr>
        <p:spPr>
          <a:xfrm>
            <a:off x="5458968" y="2267712"/>
            <a:ext cx="914400" cy="201168"/>
          </a:xfrm>
          <a:prstGeom prst="rect">
            <a:avLst/>
          </a:prstGeom>
          <a:noFill/>
        </p:spPr>
        <p:txBody>
          <a:bodyPr wrap="square" lIns="0" rIns="0" tIns="0" bIns="0" anchor="ctr">
            <a:spAutoFit/>
          </a:bodyPr>
          <a:lstStyle/>
          <a:p>
            <a:pPr algn="ctr"/>
            <a:r>
              <a:rPr sz="950" b="0" i="0">
                <a:solidFill>
                  <a:srgbClr val="141E27"/>
                </a:solidFill>
                <a:latin typeface="Menlo"/>
              </a:rPr>
              <a:t>0.236</a:t>
            </a:r>
          </a:p>
        </p:txBody>
      </p:sp>
      <p:sp>
        <p:nvSpPr>
          <p:cNvPr id="52" name="TextBox 51"/>
          <p:cNvSpPr txBox="1"/>
          <p:nvPr/>
        </p:nvSpPr>
        <p:spPr>
          <a:xfrm>
            <a:off x="6373368" y="2267712"/>
            <a:ext cx="914400" cy="201168"/>
          </a:xfrm>
          <a:prstGeom prst="rect">
            <a:avLst/>
          </a:prstGeom>
          <a:noFill/>
        </p:spPr>
        <p:txBody>
          <a:bodyPr wrap="square" lIns="0" rIns="0" tIns="0" bIns="0" anchor="ctr">
            <a:spAutoFit/>
          </a:bodyPr>
          <a:lstStyle/>
          <a:p>
            <a:pPr algn="ctr"/>
            <a:r>
              <a:rPr sz="950" b="0" i="0">
                <a:solidFill>
                  <a:srgbClr val="141E27"/>
                </a:solidFill>
                <a:latin typeface="Menlo"/>
              </a:rPr>
              <a:t>0.060</a:t>
            </a:r>
          </a:p>
        </p:txBody>
      </p:sp>
      <p:sp>
        <p:nvSpPr>
          <p:cNvPr id="53" name="TextBox 52"/>
          <p:cNvSpPr txBox="1"/>
          <p:nvPr/>
        </p:nvSpPr>
        <p:spPr>
          <a:xfrm>
            <a:off x="7287768" y="2267712"/>
            <a:ext cx="914400" cy="201168"/>
          </a:xfrm>
          <a:prstGeom prst="rect">
            <a:avLst/>
          </a:prstGeom>
          <a:noFill/>
        </p:spPr>
        <p:txBody>
          <a:bodyPr wrap="square" lIns="0" rIns="0" tIns="0" bIns="0" anchor="ctr">
            <a:spAutoFit/>
          </a:bodyPr>
          <a:lstStyle/>
          <a:p>
            <a:pPr algn="ctr"/>
            <a:r>
              <a:rPr sz="950" b="1" i="0">
                <a:solidFill>
                  <a:srgbClr val="16685A"/>
                </a:solidFill>
                <a:latin typeface="Menlo"/>
              </a:rPr>
              <a:t>0.090</a:t>
            </a:r>
          </a:p>
        </p:txBody>
      </p:sp>
      <p:sp>
        <p:nvSpPr>
          <p:cNvPr id="54" name="TextBox 53"/>
          <p:cNvSpPr txBox="1"/>
          <p:nvPr/>
        </p:nvSpPr>
        <p:spPr>
          <a:xfrm>
            <a:off x="8202168" y="2267712"/>
            <a:ext cx="1005840" cy="201168"/>
          </a:xfrm>
          <a:prstGeom prst="rect">
            <a:avLst/>
          </a:prstGeom>
          <a:noFill/>
        </p:spPr>
        <p:txBody>
          <a:bodyPr wrap="square" lIns="0" rIns="0" tIns="0" bIns="0" anchor="ctr">
            <a:spAutoFit/>
          </a:bodyPr>
          <a:lstStyle/>
          <a:p>
            <a:pPr algn="ctr"/>
            <a:r>
              <a:rPr sz="950" b="0" i="0">
                <a:solidFill>
                  <a:srgbClr val="141E27"/>
                </a:solidFill>
                <a:latin typeface="Menlo"/>
              </a:rPr>
              <a:t>0.387</a:t>
            </a:r>
          </a:p>
        </p:txBody>
      </p:sp>
      <p:sp>
        <p:nvSpPr>
          <p:cNvPr id="55" name="TextBox 54"/>
          <p:cNvSpPr txBox="1"/>
          <p:nvPr/>
        </p:nvSpPr>
        <p:spPr>
          <a:xfrm>
            <a:off x="9208008" y="2267712"/>
            <a:ext cx="960120" cy="201168"/>
          </a:xfrm>
          <a:prstGeom prst="rect">
            <a:avLst/>
          </a:prstGeom>
          <a:noFill/>
        </p:spPr>
        <p:txBody>
          <a:bodyPr wrap="square" lIns="0" rIns="0" tIns="0" bIns="0" anchor="ctr">
            <a:spAutoFit/>
          </a:bodyPr>
          <a:lstStyle/>
          <a:p>
            <a:pPr algn="ctr"/>
            <a:r>
              <a:rPr sz="950" b="1" i="0">
                <a:solidFill>
                  <a:srgbClr val="9C4221"/>
                </a:solidFill>
                <a:latin typeface="Menlo"/>
              </a:rPr>
              <a:t>0.351</a:t>
            </a:r>
          </a:p>
        </p:txBody>
      </p:sp>
      <p:sp>
        <p:nvSpPr>
          <p:cNvPr id="56" name="TextBox 55"/>
          <p:cNvSpPr txBox="1"/>
          <p:nvPr/>
        </p:nvSpPr>
        <p:spPr>
          <a:xfrm>
            <a:off x="10168128" y="2267712"/>
            <a:ext cx="960120" cy="201168"/>
          </a:xfrm>
          <a:prstGeom prst="rect">
            <a:avLst/>
          </a:prstGeom>
          <a:noFill/>
        </p:spPr>
        <p:txBody>
          <a:bodyPr wrap="square" lIns="0" rIns="0" tIns="0" bIns="0" anchor="ctr">
            <a:spAutoFit/>
          </a:bodyPr>
          <a:lstStyle/>
          <a:p>
            <a:pPr algn="ctr"/>
            <a:r>
              <a:rPr sz="950" b="0" i="0">
                <a:solidFill>
                  <a:srgbClr val="141E27"/>
                </a:solidFill>
                <a:latin typeface="Menlo"/>
              </a:rPr>
              <a:t>27</a:t>
            </a:r>
          </a:p>
        </p:txBody>
      </p:sp>
      <p:sp>
        <p:nvSpPr>
          <p:cNvPr id="58" name="TextBox 57"/>
          <p:cNvSpPr txBox="1"/>
          <p:nvPr/>
        </p:nvSpPr>
        <p:spPr>
          <a:xfrm>
            <a:off x="502920" y="2542032"/>
            <a:ext cx="1207008" cy="201168"/>
          </a:xfrm>
          <a:prstGeom prst="rect">
            <a:avLst/>
          </a:prstGeom>
          <a:noFill/>
        </p:spPr>
        <p:txBody>
          <a:bodyPr wrap="square" lIns="0" rIns="0" tIns="0" bIns="0" anchor="ctr">
            <a:spAutoFit/>
          </a:bodyPr>
          <a:lstStyle/>
          <a:p>
            <a:pPr algn="l"/>
            <a:r>
              <a:rPr sz="1050" b="1" i="0">
                <a:solidFill>
                  <a:srgbClr val="141E27"/>
                </a:solidFill>
                <a:latin typeface="Helvetica Neue"/>
              </a:rPr>
              <a:t>StructMem</a:t>
            </a:r>
          </a:p>
        </p:txBody>
      </p:sp>
      <p:sp>
        <p:nvSpPr>
          <p:cNvPr id="59" name="TextBox 58"/>
          <p:cNvSpPr txBox="1"/>
          <p:nvPr/>
        </p:nvSpPr>
        <p:spPr>
          <a:xfrm>
            <a:off x="1709928" y="2542032"/>
            <a:ext cx="914400" cy="201168"/>
          </a:xfrm>
          <a:prstGeom prst="rect">
            <a:avLst/>
          </a:prstGeom>
          <a:noFill/>
        </p:spPr>
        <p:txBody>
          <a:bodyPr wrap="square" lIns="0" rIns="0" tIns="0" bIns="0" anchor="ctr">
            <a:spAutoFit/>
          </a:bodyPr>
          <a:lstStyle/>
          <a:p>
            <a:pPr algn="ctr"/>
            <a:r>
              <a:rPr sz="950" b="0" i="0">
                <a:solidFill>
                  <a:srgbClr val="141E27"/>
                </a:solidFill>
                <a:latin typeface="Menlo"/>
              </a:rPr>
              <a:t>0.068</a:t>
            </a:r>
          </a:p>
        </p:txBody>
      </p:sp>
      <p:sp>
        <p:nvSpPr>
          <p:cNvPr id="60" name="TextBox 59"/>
          <p:cNvSpPr txBox="1"/>
          <p:nvPr/>
        </p:nvSpPr>
        <p:spPr>
          <a:xfrm>
            <a:off x="2624328" y="2542032"/>
            <a:ext cx="914400" cy="201168"/>
          </a:xfrm>
          <a:prstGeom prst="rect">
            <a:avLst/>
          </a:prstGeom>
          <a:noFill/>
        </p:spPr>
        <p:txBody>
          <a:bodyPr wrap="square" lIns="0" rIns="0" tIns="0" bIns="0" anchor="ctr">
            <a:spAutoFit/>
          </a:bodyPr>
          <a:lstStyle/>
          <a:p>
            <a:pPr algn="ctr"/>
            <a:r>
              <a:rPr sz="950" b="0" i="0">
                <a:solidFill>
                  <a:srgbClr val="141E27"/>
                </a:solidFill>
                <a:latin typeface="Menlo"/>
              </a:rPr>
              <a:t>0.245</a:t>
            </a:r>
          </a:p>
        </p:txBody>
      </p:sp>
      <p:sp>
        <p:nvSpPr>
          <p:cNvPr id="61" name="TextBox 60"/>
          <p:cNvSpPr txBox="1"/>
          <p:nvPr/>
        </p:nvSpPr>
        <p:spPr>
          <a:xfrm>
            <a:off x="3538728" y="2542032"/>
            <a:ext cx="914400" cy="201168"/>
          </a:xfrm>
          <a:prstGeom prst="rect">
            <a:avLst/>
          </a:prstGeom>
          <a:noFill/>
        </p:spPr>
        <p:txBody>
          <a:bodyPr wrap="square" lIns="0" rIns="0" tIns="0" bIns="0" anchor="ctr">
            <a:spAutoFit/>
          </a:bodyPr>
          <a:lstStyle/>
          <a:p>
            <a:pPr algn="ctr"/>
            <a:r>
              <a:rPr sz="950" b="0" i="0">
                <a:solidFill>
                  <a:srgbClr val="141E27"/>
                </a:solidFill>
                <a:latin typeface="Menlo"/>
              </a:rPr>
              <a:t>0.340</a:t>
            </a:r>
          </a:p>
        </p:txBody>
      </p:sp>
      <p:sp>
        <p:nvSpPr>
          <p:cNvPr id="62" name="TextBox 61"/>
          <p:cNvSpPr txBox="1"/>
          <p:nvPr/>
        </p:nvSpPr>
        <p:spPr>
          <a:xfrm>
            <a:off x="4453128" y="2542032"/>
            <a:ext cx="1005840" cy="201168"/>
          </a:xfrm>
          <a:prstGeom prst="rect">
            <a:avLst/>
          </a:prstGeom>
          <a:noFill/>
        </p:spPr>
        <p:txBody>
          <a:bodyPr wrap="square" lIns="0" rIns="0" tIns="0" bIns="0" anchor="ctr">
            <a:spAutoFit/>
          </a:bodyPr>
          <a:lstStyle/>
          <a:p>
            <a:pPr algn="ctr"/>
            <a:r>
              <a:rPr sz="950" b="0" i="0">
                <a:solidFill>
                  <a:srgbClr val="141E27"/>
                </a:solidFill>
                <a:latin typeface="Menlo"/>
              </a:rPr>
              <a:t>0.653</a:t>
            </a:r>
          </a:p>
        </p:txBody>
      </p:sp>
      <p:sp>
        <p:nvSpPr>
          <p:cNvPr id="63" name="TextBox 62"/>
          <p:cNvSpPr txBox="1"/>
          <p:nvPr/>
        </p:nvSpPr>
        <p:spPr>
          <a:xfrm>
            <a:off x="5458968" y="2542032"/>
            <a:ext cx="914400" cy="201168"/>
          </a:xfrm>
          <a:prstGeom prst="rect">
            <a:avLst/>
          </a:prstGeom>
          <a:noFill/>
        </p:spPr>
        <p:txBody>
          <a:bodyPr wrap="square" lIns="0" rIns="0" tIns="0" bIns="0" anchor="ctr">
            <a:spAutoFit/>
          </a:bodyPr>
          <a:lstStyle/>
          <a:p>
            <a:pPr algn="ctr"/>
            <a:r>
              <a:rPr sz="950" b="1" i="0">
                <a:solidFill>
                  <a:srgbClr val="16685A"/>
                </a:solidFill>
                <a:latin typeface="Menlo"/>
              </a:rPr>
              <a:t>0.091</a:t>
            </a:r>
          </a:p>
        </p:txBody>
      </p:sp>
      <p:sp>
        <p:nvSpPr>
          <p:cNvPr id="64" name="TextBox 63"/>
          <p:cNvSpPr txBox="1"/>
          <p:nvPr/>
        </p:nvSpPr>
        <p:spPr>
          <a:xfrm>
            <a:off x="6373368" y="2542032"/>
            <a:ext cx="914400" cy="201168"/>
          </a:xfrm>
          <a:prstGeom prst="rect">
            <a:avLst/>
          </a:prstGeom>
          <a:noFill/>
        </p:spPr>
        <p:txBody>
          <a:bodyPr wrap="square" lIns="0" rIns="0" tIns="0" bIns="0" anchor="ctr">
            <a:spAutoFit/>
          </a:bodyPr>
          <a:lstStyle/>
          <a:p>
            <a:pPr algn="ctr"/>
            <a:r>
              <a:rPr sz="950" b="0" i="0">
                <a:solidFill>
                  <a:srgbClr val="141E27"/>
                </a:solidFill>
                <a:latin typeface="Menlo"/>
              </a:rPr>
              <a:t>0.111</a:t>
            </a:r>
          </a:p>
        </p:txBody>
      </p:sp>
      <p:sp>
        <p:nvSpPr>
          <p:cNvPr id="65" name="TextBox 64"/>
          <p:cNvSpPr txBox="1"/>
          <p:nvPr/>
        </p:nvSpPr>
        <p:spPr>
          <a:xfrm>
            <a:off x="7287768" y="2542032"/>
            <a:ext cx="914400" cy="201168"/>
          </a:xfrm>
          <a:prstGeom prst="rect">
            <a:avLst/>
          </a:prstGeom>
          <a:noFill/>
        </p:spPr>
        <p:txBody>
          <a:bodyPr wrap="square" lIns="0" rIns="0" tIns="0" bIns="0" anchor="ctr">
            <a:spAutoFit/>
          </a:bodyPr>
          <a:lstStyle/>
          <a:p>
            <a:pPr algn="ctr"/>
            <a:r>
              <a:rPr sz="950" b="0" i="0">
                <a:solidFill>
                  <a:srgbClr val="141E27"/>
                </a:solidFill>
                <a:latin typeface="Menlo"/>
              </a:rPr>
              <a:t>0.121</a:t>
            </a:r>
          </a:p>
        </p:txBody>
      </p:sp>
      <p:sp>
        <p:nvSpPr>
          <p:cNvPr id="66" name="TextBox 65"/>
          <p:cNvSpPr txBox="1"/>
          <p:nvPr/>
        </p:nvSpPr>
        <p:spPr>
          <a:xfrm>
            <a:off x="8202168" y="2542032"/>
            <a:ext cx="1005840" cy="201168"/>
          </a:xfrm>
          <a:prstGeom prst="rect">
            <a:avLst/>
          </a:prstGeom>
          <a:noFill/>
        </p:spPr>
        <p:txBody>
          <a:bodyPr wrap="square" lIns="0" rIns="0" tIns="0" bIns="0" anchor="ctr">
            <a:spAutoFit/>
          </a:bodyPr>
          <a:lstStyle/>
          <a:p>
            <a:pPr algn="ctr"/>
            <a:r>
              <a:rPr sz="950" b="1" i="0">
                <a:solidFill>
                  <a:srgbClr val="16685A"/>
                </a:solidFill>
                <a:latin typeface="Menlo"/>
              </a:rPr>
              <a:t>0.323</a:t>
            </a:r>
          </a:p>
        </p:txBody>
      </p:sp>
      <p:sp>
        <p:nvSpPr>
          <p:cNvPr id="67" name="TextBox 66"/>
          <p:cNvSpPr txBox="1"/>
          <p:nvPr/>
        </p:nvSpPr>
        <p:spPr>
          <a:xfrm>
            <a:off x="9208008" y="2542032"/>
            <a:ext cx="960120" cy="201168"/>
          </a:xfrm>
          <a:prstGeom prst="rect">
            <a:avLst/>
          </a:prstGeom>
          <a:noFill/>
        </p:spPr>
        <p:txBody>
          <a:bodyPr wrap="square" lIns="0" rIns="0" tIns="0" bIns="0" anchor="ctr">
            <a:spAutoFit/>
          </a:bodyPr>
          <a:lstStyle/>
          <a:p>
            <a:pPr algn="ctr"/>
            <a:r>
              <a:rPr sz="950" b="0" i="0">
                <a:solidFill>
                  <a:srgbClr val="141E27"/>
                </a:solidFill>
                <a:latin typeface="Menlo"/>
              </a:rPr>
              <a:t>0.473</a:t>
            </a:r>
          </a:p>
        </p:txBody>
      </p:sp>
      <p:sp>
        <p:nvSpPr>
          <p:cNvPr id="68" name="TextBox 67"/>
          <p:cNvSpPr txBox="1"/>
          <p:nvPr/>
        </p:nvSpPr>
        <p:spPr>
          <a:xfrm>
            <a:off x="10168128" y="2542032"/>
            <a:ext cx="960120" cy="201168"/>
          </a:xfrm>
          <a:prstGeom prst="rect">
            <a:avLst/>
          </a:prstGeom>
          <a:noFill/>
        </p:spPr>
        <p:txBody>
          <a:bodyPr wrap="square" lIns="0" rIns="0" tIns="0" bIns="0" anchor="ctr">
            <a:spAutoFit/>
          </a:bodyPr>
          <a:lstStyle/>
          <a:p>
            <a:pPr algn="ctr"/>
            <a:r>
              <a:rPr sz="950" b="1" i="0">
                <a:solidFill>
                  <a:srgbClr val="9C4221"/>
                </a:solidFill>
                <a:latin typeface="Menlo"/>
              </a:rPr>
              <a:t>24</a:t>
            </a:r>
          </a:p>
        </p:txBody>
      </p:sp>
      <p:sp>
        <p:nvSpPr>
          <p:cNvPr id="69" name="TextBox 68"/>
          <p:cNvSpPr txBox="1"/>
          <p:nvPr/>
        </p:nvSpPr>
        <p:spPr>
          <a:xfrm>
            <a:off x="502920" y="2816352"/>
            <a:ext cx="1207008" cy="201168"/>
          </a:xfrm>
          <a:prstGeom prst="rect">
            <a:avLst/>
          </a:prstGeom>
          <a:noFill/>
        </p:spPr>
        <p:txBody>
          <a:bodyPr wrap="square" lIns="0" rIns="0" tIns="0" bIns="0" anchor="ctr">
            <a:spAutoFit/>
          </a:bodyPr>
          <a:lstStyle/>
          <a:p>
            <a:pPr algn="l"/>
            <a:r>
              <a:rPr sz="1050" b="1" i="0">
                <a:solidFill>
                  <a:srgbClr val="141E27"/>
                </a:solidFill>
                <a:latin typeface="Helvetica Neue"/>
              </a:rPr>
              <a:t>A-MEM</a:t>
            </a:r>
          </a:p>
        </p:txBody>
      </p:sp>
      <p:sp>
        <p:nvSpPr>
          <p:cNvPr id="70" name="TextBox 69"/>
          <p:cNvSpPr txBox="1"/>
          <p:nvPr/>
        </p:nvSpPr>
        <p:spPr>
          <a:xfrm>
            <a:off x="1709928" y="2816352"/>
            <a:ext cx="914400" cy="201168"/>
          </a:xfrm>
          <a:prstGeom prst="rect">
            <a:avLst/>
          </a:prstGeom>
          <a:noFill/>
        </p:spPr>
        <p:txBody>
          <a:bodyPr wrap="square" lIns="0" rIns="0" tIns="0" bIns="0" anchor="ctr">
            <a:spAutoFit/>
          </a:bodyPr>
          <a:lstStyle/>
          <a:p>
            <a:pPr algn="ctr"/>
            <a:r>
              <a:rPr sz="950" b="1" i="0">
                <a:solidFill>
                  <a:srgbClr val="16685A"/>
                </a:solidFill>
                <a:latin typeface="Menlo"/>
              </a:rPr>
              <a:t>0.020</a:t>
            </a:r>
          </a:p>
        </p:txBody>
      </p:sp>
      <p:sp>
        <p:nvSpPr>
          <p:cNvPr id="71" name="TextBox 70"/>
          <p:cNvSpPr txBox="1"/>
          <p:nvPr/>
        </p:nvSpPr>
        <p:spPr>
          <a:xfrm>
            <a:off x="2624328" y="2816352"/>
            <a:ext cx="914400" cy="201168"/>
          </a:xfrm>
          <a:prstGeom prst="rect">
            <a:avLst/>
          </a:prstGeom>
          <a:noFill/>
        </p:spPr>
        <p:txBody>
          <a:bodyPr wrap="square" lIns="0" rIns="0" tIns="0" bIns="0" anchor="ctr">
            <a:spAutoFit/>
          </a:bodyPr>
          <a:lstStyle/>
          <a:p>
            <a:pPr algn="ctr"/>
            <a:r>
              <a:rPr sz="950" b="0" i="0">
                <a:solidFill>
                  <a:srgbClr val="141E27"/>
                </a:solidFill>
                <a:latin typeface="Menlo"/>
              </a:rPr>
              <a:t>0.082</a:t>
            </a:r>
          </a:p>
        </p:txBody>
      </p:sp>
      <p:sp>
        <p:nvSpPr>
          <p:cNvPr id="72" name="TextBox 71"/>
          <p:cNvSpPr txBox="1"/>
          <p:nvPr/>
        </p:nvSpPr>
        <p:spPr>
          <a:xfrm>
            <a:off x="3538728" y="2816352"/>
            <a:ext cx="914400" cy="201168"/>
          </a:xfrm>
          <a:prstGeom prst="rect">
            <a:avLst/>
          </a:prstGeom>
          <a:noFill/>
        </p:spPr>
        <p:txBody>
          <a:bodyPr wrap="square" lIns="0" rIns="0" tIns="0" bIns="0" anchor="ctr">
            <a:spAutoFit/>
          </a:bodyPr>
          <a:lstStyle/>
          <a:p>
            <a:pPr algn="ctr"/>
            <a:r>
              <a:rPr sz="950" b="1" i="0">
                <a:solidFill>
                  <a:srgbClr val="9C4221"/>
                </a:solidFill>
                <a:latin typeface="Menlo"/>
              </a:rPr>
              <a:t>0.374</a:t>
            </a:r>
          </a:p>
        </p:txBody>
      </p:sp>
      <p:sp>
        <p:nvSpPr>
          <p:cNvPr id="73" name="TextBox 72"/>
          <p:cNvSpPr txBox="1"/>
          <p:nvPr/>
        </p:nvSpPr>
        <p:spPr>
          <a:xfrm>
            <a:off x="4453128" y="2816352"/>
            <a:ext cx="1005840" cy="201168"/>
          </a:xfrm>
          <a:prstGeom prst="rect">
            <a:avLst/>
          </a:prstGeom>
          <a:noFill/>
        </p:spPr>
        <p:txBody>
          <a:bodyPr wrap="square" lIns="0" rIns="0" tIns="0" bIns="0" anchor="ctr">
            <a:spAutoFit/>
          </a:bodyPr>
          <a:lstStyle/>
          <a:p>
            <a:pPr algn="ctr"/>
            <a:r>
              <a:rPr sz="950" b="1" i="0">
                <a:solidFill>
                  <a:srgbClr val="16685A"/>
                </a:solidFill>
                <a:latin typeface="Menlo"/>
              </a:rPr>
              <a:t>0.476</a:t>
            </a:r>
          </a:p>
        </p:txBody>
      </p:sp>
      <p:sp>
        <p:nvSpPr>
          <p:cNvPr id="74" name="TextBox 73"/>
          <p:cNvSpPr txBox="1"/>
          <p:nvPr/>
        </p:nvSpPr>
        <p:spPr>
          <a:xfrm>
            <a:off x="5458968" y="2816352"/>
            <a:ext cx="914400" cy="201168"/>
          </a:xfrm>
          <a:prstGeom prst="rect">
            <a:avLst/>
          </a:prstGeom>
          <a:noFill/>
        </p:spPr>
        <p:txBody>
          <a:bodyPr wrap="square" lIns="0" rIns="0" tIns="0" bIns="0" anchor="ctr">
            <a:spAutoFit/>
          </a:bodyPr>
          <a:lstStyle/>
          <a:p>
            <a:pPr algn="ctr"/>
            <a:r>
              <a:rPr sz="950" b="0" i="0">
                <a:solidFill>
                  <a:srgbClr val="141E27"/>
                </a:solidFill>
                <a:latin typeface="Menlo"/>
              </a:rPr>
              <a:t>0.227</a:t>
            </a:r>
          </a:p>
        </p:txBody>
      </p:sp>
      <p:sp>
        <p:nvSpPr>
          <p:cNvPr id="75" name="TextBox 74"/>
          <p:cNvSpPr txBox="1"/>
          <p:nvPr/>
        </p:nvSpPr>
        <p:spPr>
          <a:xfrm>
            <a:off x="6373368" y="2816352"/>
            <a:ext cx="914400" cy="201168"/>
          </a:xfrm>
          <a:prstGeom prst="rect">
            <a:avLst/>
          </a:prstGeom>
          <a:noFill/>
        </p:spPr>
        <p:txBody>
          <a:bodyPr wrap="square" lIns="0" rIns="0" tIns="0" bIns="0" anchor="ctr">
            <a:spAutoFit/>
          </a:bodyPr>
          <a:lstStyle/>
          <a:p>
            <a:pPr algn="ctr"/>
            <a:r>
              <a:rPr sz="950" b="0" i="0">
                <a:solidFill>
                  <a:srgbClr val="141E27"/>
                </a:solidFill>
                <a:latin typeface="Menlo"/>
              </a:rPr>
              <a:t>0.129</a:t>
            </a:r>
          </a:p>
        </p:txBody>
      </p:sp>
      <p:sp>
        <p:nvSpPr>
          <p:cNvPr id="76" name="TextBox 75"/>
          <p:cNvSpPr txBox="1"/>
          <p:nvPr/>
        </p:nvSpPr>
        <p:spPr>
          <a:xfrm>
            <a:off x="7287768" y="2816352"/>
            <a:ext cx="914400" cy="201168"/>
          </a:xfrm>
          <a:prstGeom prst="rect">
            <a:avLst/>
          </a:prstGeom>
          <a:noFill/>
        </p:spPr>
        <p:txBody>
          <a:bodyPr wrap="square" lIns="0" rIns="0" tIns="0" bIns="0" anchor="ctr">
            <a:spAutoFit/>
          </a:bodyPr>
          <a:lstStyle/>
          <a:p>
            <a:pPr algn="ctr"/>
            <a:r>
              <a:rPr sz="950" b="1" i="0">
                <a:solidFill>
                  <a:srgbClr val="9C4221"/>
                </a:solidFill>
                <a:latin typeface="Menlo"/>
              </a:rPr>
              <a:t>0.149</a:t>
            </a:r>
          </a:p>
        </p:txBody>
      </p:sp>
      <p:sp>
        <p:nvSpPr>
          <p:cNvPr id="77" name="TextBox 76"/>
          <p:cNvSpPr txBox="1"/>
          <p:nvPr/>
        </p:nvSpPr>
        <p:spPr>
          <a:xfrm>
            <a:off x="8202168" y="2816352"/>
            <a:ext cx="1005840" cy="201168"/>
          </a:xfrm>
          <a:prstGeom prst="rect">
            <a:avLst/>
          </a:prstGeom>
          <a:noFill/>
        </p:spPr>
        <p:txBody>
          <a:bodyPr wrap="square" lIns="0" rIns="0" tIns="0" bIns="0" anchor="ctr">
            <a:spAutoFit/>
          </a:bodyPr>
          <a:lstStyle/>
          <a:p>
            <a:pPr algn="ctr"/>
            <a:r>
              <a:rPr sz="950" b="0" i="0">
                <a:solidFill>
                  <a:srgbClr val="141E27"/>
                </a:solidFill>
                <a:latin typeface="Menlo"/>
              </a:rPr>
              <a:t>0.505</a:t>
            </a:r>
          </a:p>
        </p:txBody>
      </p:sp>
      <p:sp>
        <p:nvSpPr>
          <p:cNvPr id="78" name="TextBox 77"/>
          <p:cNvSpPr txBox="1"/>
          <p:nvPr/>
        </p:nvSpPr>
        <p:spPr>
          <a:xfrm>
            <a:off x="9208008" y="2816352"/>
            <a:ext cx="960120" cy="201168"/>
          </a:xfrm>
          <a:prstGeom prst="rect">
            <a:avLst/>
          </a:prstGeom>
          <a:noFill/>
        </p:spPr>
        <p:txBody>
          <a:bodyPr wrap="square" lIns="0" rIns="0" tIns="0" bIns="0" anchor="ctr">
            <a:spAutoFit/>
          </a:bodyPr>
          <a:lstStyle/>
          <a:p>
            <a:pPr algn="ctr"/>
            <a:r>
              <a:rPr sz="950" b="0" i="0">
                <a:solidFill>
                  <a:srgbClr val="141E27"/>
                </a:solidFill>
                <a:latin typeface="Menlo"/>
              </a:rPr>
              <a:t>0.553</a:t>
            </a:r>
          </a:p>
        </p:txBody>
      </p:sp>
      <p:sp>
        <p:nvSpPr>
          <p:cNvPr id="79" name="TextBox 78"/>
          <p:cNvSpPr txBox="1"/>
          <p:nvPr/>
        </p:nvSpPr>
        <p:spPr>
          <a:xfrm>
            <a:off x="10168128" y="2816352"/>
            <a:ext cx="960120" cy="201168"/>
          </a:xfrm>
          <a:prstGeom prst="rect">
            <a:avLst/>
          </a:prstGeom>
          <a:noFill/>
        </p:spPr>
        <p:txBody>
          <a:bodyPr wrap="square" lIns="0" rIns="0" tIns="0" bIns="0" anchor="ctr">
            <a:spAutoFit/>
          </a:bodyPr>
          <a:lstStyle/>
          <a:p>
            <a:pPr algn="ctr"/>
            <a:r>
              <a:rPr sz="950" b="1" i="0">
                <a:solidFill>
                  <a:srgbClr val="16685A"/>
                </a:solidFill>
                <a:latin typeface="Menlo"/>
              </a:rPr>
              <a:t>29</a:t>
            </a:r>
          </a:p>
        </p:txBody>
      </p:sp>
      <p:sp>
        <p:nvSpPr>
          <p:cNvPr id="80" name="TextBox 79"/>
          <p:cNvSpPr txBox="1"/>
          <p:nvPr/>
        </p:nvSpPr>
        <p:spPr>
          <a:xfrm>
            <a:off x="502920" y="3090672"/>
            <a:ext cx="1207008" cy="201168"/>
          </a:xfrm>
          <a:prstGeom prst="rect">
            <a:avLst/>
          </a:prstGeom>
          <a:noFill/>
        </p:spPr>
        <p:txBody>
          <a:bodyPr wrap="square" lIns="0" rIns="0" tIns="0" bIns="0" anchor="ctr">
            <a:spAutoFit/>
          </a:bodyPr>
          <a:lstStyle/>
          <a:p>
            <a:pPr algn="l"/>
            <a:r>
              <a:rPr sz="1050" b="1" i="0">
                <a:solidFill>
                  <a:srgbClr val="141E27"/>
                </a:solidFill>
                <a:latin typeface="Helvetica Neue"/>
              </a:rPr>
              <a:t>Letta</a:t>
            </a:r>
          </a:p>
        </p:txBody>
      </p:sp>
      <p:sp>
        <p:nvSpPr>
          <p:cNvPr id="81" name="TextBox 80"/>
          <p:cNvSpPr txBox="1"/>
          <p:nvPr/>
        </p:nvSpPr>
        <p:spPr>
          <a:xfrm>
            <a:off x="1709928" y="3090672"/>
            <a:ext cx="914400" cy="201168"/>
          </a:xfrm>
          <a:prstGeom prst="rect">
            <a:avLst/>
          </a:prstGeom>
          <a:noFill/>
        </p:spPr>
        <p:txBody>
          <a:bodyPr wrap="square" lIns="0" rIns="0" tIns="0" bIns="0" anchor="ctr">
            <a:spAutoFit/>
          </a:bodyPr>
          <a:lstStyle/>
          <a:p>
            <a:pPr algn="ctr"/>
            <a:r>
              <a:rPr sz="950" b="0" i="0">
                <a:solidFill>
                  <a:srgbClr val="141E27"/>
                </a:solidFill>
                <a:latin typeface="Menlo"/>
              </a:rPr>
              <a:t>0.170</a:t>
            </a:r>
          </a:p>
        </p:txBody>
      </p:sp>
      <p:sp>
        <p:nvSpPr>
          <p:cNvPr id="82" name="TextBox 81"/>
          <p:cNvSpPr txBox="1"/>
          <p:nvPr/>
        </p:nvSpPr>
        <p:spPr>
          <a:xfrm>
            <a:off x="2624328" y="3090672"/>
            <a:ext cx="914400" cy="201168"/>
          </a:xfrm>
          <a:prstGeom prst="rect">
            <a:avLst/>
          </a:prstGeom>
          <a:noFill/>
        </p:spPr>
        <p:txBody>
          <a:bodyPr wrap="square" lIns="0" rIns="0" tIns="0" bIns="0" anchor="ctr">
            <a:spAutoFit/>
          </a:bodyPr>
          <a:lstStyle/>
          <a:p>
            <a:pPr algn="ctr"/>
            <a:r>
              <a:rPr sz="950" b="1" i="0">
                <a:solidFill>
                  <a:srgbClr val="16685A"/>
                </a:solidFill>
                <a:latin typeface="Menlo"/>
              </a:rPr>
              <a:t>0.027</a:t>
            </a:r>
          </a:p>
        </p:txBody>
      </p:sp>
      <p:sp>
        <p:nvSpPr>
          <p:cNvPr id="83" name="TextBox 82"/>
          <p:cNvSpPr txBox="1"/>
          <p:nvPr/>
        </p:nvSpPr>
        <p:spPr>
          <a:xfrm>
            <a:off x="3538728" y="3090672"/>
            <a:ext cx="914400" cy="201168"/>
          </a:xfrm>
          <a:prstGeom prst="rect">
            <a:avLst/>
          </a:prstGeom>
          <a:noFill/>
        </p:spPr>
        <p:txBody>
          <a:bodyPr wrap="square" lIns="0" rIns="0" tIns="0" bIns="0" anchor="ctr">
            <a:spAutoFit/>
          </a:bodyPr>
          <a:lstStyle/>
          <a:p>
            <a:pPr algn="ctr"/>
            <a:r>
              <a:rPr sz="950" b="0" i="0">
                <a:solidFill>
                  <a:srgbClr val="141E27"/>
                </a:solidFill>
                <a:latin typeface="Menlo"/>
              </a:rPr>
              <a:t>0.320</a:t>
            </a:r>
          </a:p>
        </p:txBody>
      </p:sp>
      <p:sp>
        <p:nvSpPr>
          <p:cNvPr id="84" name="TextBox 83"/>
          <p:cNvSpPr txBox="1"/>
          <p:nvPr/>
        </p:nvSpPr>
        <p:spPr>
          <a:xfrm>
            <a:off x="4453128" y="3090672"/>
            <a:ext cx="1005840" cy="201168"/>
          </a:xfrm>
          <a:prstGeom prst="rect">
            <a:avLst/>
          </a:prstGeom>
          <a:noFill/>
        </p:spPr>
        <p:txBody>
          <a:bodyPr wrap="square" lIns="0" rIns="0" tIns="0" bIns="0" anchor="ctr">
            <a:spAutoFit/>
          </a:bodyPr>
          <a:lstStyle/>
          <a:p>
            <a:pPr algn="ctr"/>
            <a:r>
              <a:rPr sz="950" b="0" i="0">
                <a:solidFill>
                  <a:srgbClr val="141E27"/>
                </a:solidFill>
                <a:latin typeface="Menlo"/>
              </a:rPr>
              <a:t>0.517</a:t>
            </a:r>
          </a:p>
        </p:txBody>
      </p:sp>
      <p:sp>
        <p:nvSpPr>
          <p:cNvPr id="85" name="TextBox 84"/>
          <p:cNvSpPr txBox="1"/>
          <p:nvPr/>
        </p:nvSpPr>
        <p:spPr>
          <a:xfrm>
            <a:off x="5458968" y="3090672"/>
            <a:ext cx="914400" cy="201168"/>
          </a:xfrm>
          <a:prstGeom prst="rect">
            <a:avLst/>
          </a:prstGeom>
          <a:noFill/>
        </p:spPr>
        <p:txBody>
          <a:bodyPr wrap="square" lIns="0" rIns="0" tIns="0" bIns="0" anchor="ctr">
            <a:spAutoFit/>
          </a:bodyPr>
          <a:lstStyle/>
          <a:p>
            <a:pPr algn="ctr"/>
            <a:r>
              <a:rPr sz="950" b="1" i="0">
                <a:solidFill>
                  <a:srgbClr val="9C4221"/>
                </a:solidFill>
                <a:latin typeface="Menlo"/>
              </a:rPr>
              <a:t>0.266</a:t>
            </a:r>
          </a:p>
        </p:txBody>
      </p:sp>
      <p:sp>
        <p:nvSpPr>
          <p:cNvPr id="86" name="TextBox 85"/>
          <p:cNvSpPr txBox="1"/>
          <p:nvPr/>
        </p:nvSpPr>
        <p:spPr>
          <a:xfrm>
            <a:off x="6373368" y="3090672"/>
            <a:ext cx="914400" cy="201168"/>
          </a:xfrm>
          <a:prstGeom prst="rect">
            <a:avLst/>
          </a:prstGeom>
          <a:noFill/>
        </p:spPr>
        <p:txBody>
          <a:bodyPr wrap="square" lIns="0" rIns="0" tIns="0" bIns="0" anchor="ctr">
            <a:spAutoFit/>
          </a:bodyPr>
          <a:lstStyle/>
          <a:p>
            <a:pPr algn="ctr"/>
            <a:r>
              <a:rPr sz="950" b="1" i="0">
                <a:solidFill>
                  <a:srgbClr val="16685A"/>
                </a:solidFill>
                <a:latin typeface="Menlo"/>
              </a:rPr>
              <a:t>0.000</a:t>
            </a:r>
          </a:p>
        </p:txBody>
      </p:sp>
      <p:sp>
        <p:nvSpPr>
          <p:cNvPr id="87" name="TextBox 86"/>
          <p:cNvSpPr txBox="1"/>
          <p:nvPr/>
        </p:nvSpPr>
        <p:spPr>
          <a:xfrm>
            <a:off x="7287768" y="3090672"/>
            <a:ext cx="914400" cy="201168"/>
          </a:xfrm>
          <a:prstGeom prst="rect">
            <a:avLst/>
          </a:prstGeom>
          <a:noFill/>
        </p:spPr>
        <p:txBody>
          <a:bodyPr wrap="square" lIns="0" rIns="0" tIns="0" bIns="0" anchor="ctr">
            <a:spAutoFit/>
          </a:bodyPr>
          <a:lstStyle/>
          <a:p>
            <a:pPr algn="ctr"/>
            <a:r>
              <a:rPr sz="950" b="0" i="0">
                <a:solidFill>
                  <a:srgbClr val="141E27"/>
                </a:solidFill>
                <a:latin typeface="Menlo"/>
              </a:rPr>
              <a:t>0.146</a:t>
            </a:r>
          </a:p>
        </p:txBody>
      </p:sp>
      <p:sp>
        <p:nvSpPr>
          <p:cNvPr id="88" name="TextBox 87"/>
          <p:cNvSpPr txBox="1"/>
          <p:nvPr/>
        </p:nvSpPr>
        <p:spPr>
          <a:xfrm>
            <a:off x="8202168" y="3090672"/>
            <a:ext cx="1005840" cy="201168"/>
          </a:xfrm>
          <a:prstGeom prst="rect">
            <a:avLst/>
          </a:prstGeom>
          <a:noFill/>
        </p:spPr>
        <p:txBody>
          <a:bodyPr wrap="square" lIns="0" rIns="0" tIns="0" bIns="0" anchor="ctr">
            <a:spAutoFit/>
          </a:bodyPr>
          <a:lstStyle/>
          <a:p>
            <a:pPr algn="ctr"/>
            <a:r>
              <a:rPr sz="950" b="0" i="0">
                <a:solidFill>
                  <a:srgbClr val="141E27"/>
                </a:solidFill>
                <a:latin typeface="Menlo"/>
              </a:rPr>
              <a:t>0.412</a:t>
            </a:r>
          </a:p>
        </p:txBody>
      </p:sp>
      <p:sp>
        <p:nvSpPr>
          <p:cNvPr id="89" name="TextBox 88"/>
          <p:cNvSpPr txBox="1"/>
          <p:nvPr/>
        </p:nvSpPr>
        <p:spPr>
          <a:xfrm>
            <a:off x="9208008" y="3090672"/>
            <a:ext cx="960120" cy="201168"/>
          </a:xfrm>
          <a:prstGeom prst="rect">
            <a:avLst/>
          </a:prstGeom>
          <a:noFill/>
        </p:spPr>
        <p:txBody>
          <a:bodyPr wrap="square" lIns="0" rIns="0" tIns="0" bIns="0" anchor="ctr">
            <a:spAutoFit/>
          </a:bodyPr>
          <a:lstStyle/>
          <a:p>
            <a:pPr algn="ctr"/>
            <a:r>
              <a:rPr sz="950" b="1" i="0">
                <a:solidFill>
                  <a:srgbClr val="16685A"/>
                </a:solidFill>
                <a:latin typeface="Menlo"/>
              </a:rPr>
              <a:t>0.580</a:t>
            </a:r>
          </a:p>
        </p:txBody>
      </p:sp>
      <p:sp>
        <p:nvSpPr>
          <p:cNvPr id="90" name="TextBox 89"/>
          <p:cNvSpPr txBox="1"/>
          <p:nvPr/>
        </p:nvSpPr>
        <p:spPr>
          <a:xfrm>
            <a:off x="10168128" y="3090672"/>
            <a:ext cx="960120" cy="201168"/>
          </a:xfrm>
          <a:prstGeom prst="rect">
            <a:avLst/>
          </a:prstGeom>
          <a:noFill/>
        </p:spPr>
        <p:txBody>
          <a:bodyPr wrap="square" lIns="0" rIns="0" tIns="0" bIns="0" anchor="ctr">
            <a:spAutoFit/>
          </a:bodyPr>
          <a:lstStyle/>
          <a:p>
            <a:pPr algn="ctr"/>
            <a:r>
              <a:rPr sz="950" b="0" i="0">
                <a:solidFill>
                  <a:srgbClr val="141E27"/>
                </a:solidFill>
                <a:latin typeface="Menlo"/>
              </a:rPr>
              <a:t>26</a:t>
            </a:r>
          </a:p>
        </p:txBody>
      </p:sp>
      <p:cxnSp>
        <p:nvCxnSpPr>
          <p:cNvPr id="91" name="Connector 90"/>
          <p:cNvCxnSpPr/>
          <p:nvPr/>
        </p:nvCxnSpPr>
        <p:spPr>
          <a:xfrm>
            <a:off x="502920" y="3328415"/>
            <a:ext cx="10625328" cy="0"/>
          </a:xfrm>
          <a:prstGeom prst="line">
            <a:avLst/>
          </a:prstGeom>
          <a:ln w="22225">
            <a:solidFill>
              <a:srgbClr val="141E27"/>
            </a:solidFill>
          </a:ln>
        </p:spPr>
        <p:style>
          <a:lnRef idx="2">
            <a:schemeClr val="accent1"/>
          </a:lnRef>
          <a:fillRef idx="0">
            <a:schemeClr val="accent1"/>
          </a:fillRef>
          <a:effectRef idx="1">
            <a:schemeClr val="accent1"/>
          </a:effectRef>
          <a:fontRef idx="minor">
            <a:schemeClr val="tx1"/>
          </a:fontRef>
        </p:style>
      </p:cxnSp>
      <p:sp>
        <p:nvSpPr>
          <p:cNvPr id="92" name="TextBox 91"/>
          <p:cNvSpPr txBox="1"/>
          <p:nvPr/>
        </p:nvSpPr>
        <p:spPr>
          <a:xfrm>
            <a:off x="502920" y="3392423"/>
            <a:ext cx="10881360" cy="182880"/>
          </a:xfrm>
          <a:prstGeom prst="rect">
            <a:avLst/>
          </a:prstGeom>
          <a:noFill/>
        </p:spPr>
        <p:txBody>
          <a:bodyPr wrap="square" lIns="0" rIns="0" tIns="0" bIns="0" anchor="ctr">
            <a:spAutoFit/>
          </a:bodyPr>
          <a:lstStyle/>
          <a:p>
            <a:pPr algn="l"/>
            <a:r>
              <a:rPr sz="850" b="0" i="1">
                <a:solidFill>
                  <a:srgbClr val="7E8D9B"/>
                </a:solidFill>
                <a:latin typeface="Helvetica Neue"/>
              </a:rPr>
              <a:t>Green marks the best value in a column, brown the worst. StructMem owns the two LoCoMo columns that measure what it writes, and neither HaluMem column that measures what it keeps.</a:t>
            </a:r>
          </a:p>
        </p:txBody>
      </p:sp>
      <p:sp>
        <p:nvSpPr>
          <p:cNvPr id="93" name="TextBox 92"/>
          <p:cNvSpPr txBox="1"/>
          <p:nvPr/>
        </p:nvSpPr>
        <p:spPr>
          <a:xfrm>
            <a:off x="502920" y="3602736"/>
            <a:ext cx="6035040" cy="201168"/>
          </a:xfrm>
          <a:prstGeom prst="rect">
            <a:avLst/>
          </a:prstGeom>
          <a:noFill/>
        </p:spPr>
        <p:txBody>
          <a:bodyPr wrap="square" lIns="0" rIns="0" tIns="0" bIns="0" anchor="ctr">
            <a:spAutoFit/>
          </a:bodyPr>
          <a:lstStyle/>
          <a:p>
            <a:pPr algn="l"/>
            <a:r>
              <a:rPr sz="1050" b="1" i="0">
                <a:solidFill>
                  <a:srgbClr val="4C5C6B"/>
                </a:solidFill>
                <a:latin typeface="Helvetica Neue"/>
              </a:rPr>
              <a:t>Table 2.  Where the failures go  (HaluMem, item-level, vs the two append-only systems)</a:t>
            </a:r>
          </a:p>
        </p:txBody>
      </p:sp>
      <p:cxnSp>
        <p:nvCxnSpPr>
          <p:cNvPr id="94" name="Connector 93"/>
          <p:cNvCxnSpPr/>
          <p:nvPr/>
        </p:nvCxnSpPr>
        <p:spPr>
          <a:xfrm>
            <a:off x="502920" y="3840480"/>
            <a:ext cx="5285232" cy="0"/>
          </a:xfrm>
          <a:prstGeom prst="line">
            <a:avLst/>
          </a:prstGeom>
          <a:ln w="22225">
            <a:solidFill>
              <a:srgbClr val="141E27"/>
            </a:solidFill>
          </a:ln>
        </p:spPr>
        <p:style>
          <a:lnRef idx="2">
            <a:schemeClr val="accent1"/>
          </a:lnRef>
          <a:fillRef idx="0">
            <a:schemeClr val="accent1"/>
          </a:fillRef>
          <a:effectRef idx="1">
            <a:schemeClr val="accent1"/>
          </a:effectRef>
          <a:fontRef idx="minor">
            <a:schemeClr val="tx1"/>
          </a:fontRef>
        </p:style>
      </p:cxnSp>
      <p:sp>
        <p:nvSpPr>
          <p:cNvPr id="95" name="TextBox 94"/>
          <p:cNvSpPr txBox="1"/>
          <p:nvPr/>
        </p:nvSpPr>
        <p:spPr>
          <a:xfrm>
            <a:off x="502920" y="3895344"/>
            <a:ext cx="786384" cy="173736"/>
          </a:xfrm>
          <a:prstGeom prst="rect">
            <a:avLst/>
          </a:prstGeom>
          <a:noFill/>
        </p:spPr>
        <p:txBody>
          <a:bodyPr wrap="square" lIns="0" rIns="0" tIns="0" bIns="0" anchor="ctr">
            <a:spAutoFit/>
          </a:bodyPr>
          <a:lstStyle/>
          <a:p>
            <a:pPr algn="l"/>
            <a:r>
              <a:rPr sz="950" b="1" i="0">
                <a:solidFill>
                  <a:srgbClr val="4C5C6B"/>
                </a:solidFill>
                <a:latin typeface="Helvetica Neue"/>
              </a:rPr>
              <a:t>Stage</a:t>
            </a:r>
          </a:p>
        </p:txBody>
      </p:sp>
      <p:sp>
        <p:nvSpPr>
          <p:cNvPr id="96" name="TextBox 95"/>
          <p:cNvSpPr txBox="1"/>
          <p:nvPr/>
        </p:nvSpPr>
        <p:spPr>
          <a:xfrm>
            <a:off x="1289304" y="3895344"/>
            <a:ext cx="1847088" cy="173736"/>
          </a:xfrm>
          <a:prstGeom prst="rect">
            <a:avLst/>
          </a:prstGeom>
          <a:noFill/>
        </p:spPr>
        <p:txBody>
          <a:bodyPr wrap="square" lIns="0" rIns="0" tIns="0" bIns="0" anchor="ctr">
            <a:spAutoFit/>
          </a:bodyPr>
          <a:lstStyle/>
          <a:p>
            <a:pPr algn="l"/>
            <a:r>
              <a:rPr sz="950" b="1" i="0">
                <a:solidFill>
                  <a:srgbClr val="4C5C6B"/>
                </a:solidFill>
                <a:latin typeface="Helvetica Neue"/>
              </a:rPr>
              <a:t>Metric</a:t>
            </a:r>
          </a:p>
        </p:txBody>
      </p:sp>
      <p:sp>
        <p:nvSpPr>
          <p:cNvPr id="97" name="TextBox 96"/>
          <p:cNvSpPr txBox="1"/>
          <p:nvPr/>
        </p:nvSpPr>
        <p:spPr>
          <a:xfrm>
            <a:off x="3136392" y="3895344"/>
            <a:ext cx="969264" cy="173736"/>
          </a:xfrm>
          <a:prstGeom prst="rect">
            <a:avLst/>
          </a:prstGeom>
          <a:noFill/>
        </p:spPr>
        <p:txBody>
          <a:bodyPr wrap="square" lIns="0" rIns="0" tIns="0" bIns="0" anchor="ctr">
            <a:spAutoFit/>
          </a:bodyPr>
          <a:lstStyle/>
          <a:p>
            <a:pPr algn="ctr"/>
            <a:r>
              <a:rPr sz="950" b="1" i="0">
                <a:solidFill>
                  <a:srgbClr val="4C5C6B"/>
                </a:solidFill>
                <a:latin typeface="Helvetica Neue"/>
              </a:rPr>
              <a:t>StructMem</a:t>
            </a:r>
          </a:p>
        </p:txBody>
      </p:sp>
      <p:sp>
        <p:nvSpPr>
          <p:cNvPr id="98" name="TextBox 97"/>
          <p:cNvSpPr txBox="1"/>
          <p:nvPr/>
        </p:nvSpPr>
        <p:spPr>
          <a:xfrm>
            <a:off x="4105656" y="3895344"/>
            <a:ext cx="841248" cy="173736"/>
          </a:xfrm>
          <a:prstGeom prst="rect">
            <a:avLst/>
          </a:prstGeom>
          <a:noFill/>
        </p:spPr>
        <p:txBody>
          <a:bodyPr wrap="square" lIns="0" rIns="0" tIns="0" bIns="0" anchor="ctr">
            <a:spAutoFit/>
          </a:bodyPr>
          <a:lstStyle/>
          <a:p>
            <a:pPr algn="ctr"/>
            <a:r>
              <a:rPr sz="950" b="1" i="0">
                <a:solidFill>
                  <a:srgbClr val="4C5C6B"/>
                </a:solidFill>
                <a:latin typeface="Helvetica Neue"/>
              </a:rPr>
              <a:t>A-MEM</a:t>
            </a:r>
          </a:p>
        </p:txBody>
      </p:sp>
      <p:sp>
        <p:nvSpPr>
          <p:cNvPr id="99" name="TextBox 98"/>
          <p:cNvSpPr txBox="1"/>
          <p:nvPr/>
        </p:nvSpPr>
        <p:spPr>
          <a:xfrm>
            <a:off x="4946904" y="3895344"/>
            <a:ext cx="841248" cy="173736"/>
          </a:xfrm>
          <a:prstGeom prst="rect">
            <a:avLst/>
          </a:prstGeom>
          <a:noFill/>
        </p:spPr>
        <p:txBody>
          <a:bodyPr wrap="square" lIns="0" rIns="0" tIns="0" bIns="0" anchor="ctr">
            <a:spAutoFit/>
          </a:bodyPr>
          <a:lstStyle/>
          <a:p>
            <a:pPr algn="ctr"/>
            <a:r>
              <a:rPr sz="950" b="1" i="0">
                <a:solidFill>
                  <a:srgbClr val="4C5C6B"/>
                </a:solidFill>
                <a:latin typeface="Helvetica Neue"/>
              </a:rPr>
              <a:t>Mem0 v2</a:t>
            </a:r>
          </a:p>
        </p:txBody>
      </p:sp>
      <p:cxnSp>
        <p:nvCxnSpPr>
          <p:cNvPr id="100" name="Connector 99"/>
          <p:cNvCxnSpPr/>
          <p:nvPr/>
        </p:nvCxnSpPr>
        <p:spPr>
          <a:xfrm>
            <a:off x="502920" y="4123944"/>
            <a:ext cx="5285232" cy="0"/>
          </a:xfrm>
          <a:prstGeom prst="line">
            <a:avLst/>
          </a:prstGeom>
          <a:ln w="11430">
            <a:solidFill>
              <a:srgbClr val="141E27"/>
            </a:solidFill>
          </a:ln>
        </p:spPr>
        <p:style>
          <a:lnRef idx="2">
            <a:schemeClr val="accent1"/>
          </a:lnRef>
          <a:fillRef idx="0">
            <a:schemeClr val="accent1"/>
          </a:fillRef>
          <a:effectRef idx="1">
            <a:schemeClr val="accent1"/>
          </a:effectRef>
          <a:fontRef idx="minor">
            <a:schemeClr val="tx1"/>
          </a:fontRef>
        </p:style>
      </p:cxnSp>
      <p:sp>
        <p:nvSpPr>
          <p:cNvPr id="101" name="TextBox 100"/>
          <p:cNvSpPr txBox="1"/>
          <p:nvPr/>
        </p:nvSpPr>
        <p:spPr>
          <a:xfrm>
            <a:off x="502920" y="4160520"/>
            <a:ext cx="786384" cy="192024"/>
          </a:xfrm>
          <a:prstGeom prst="rect">
            <a:avLst/>
          </a:prstGeom>
          <a:noFill/>
        </p:spPr>
        <p:txBody>
          <a:bodyPr wrap="square" lIns="0" rIns="0" tIns="0" bIns="0" anchor="ctr">
            <a:spAutoFit/>
          </a:bodyPr>
          <a:lstStyle/>
          <a:p>
            <a:pPr algn="l"/>
            <a:r>
              <a:rPr sz="950" b="1" i="0">
                <a:solidFill>
                  <a:srgbClr val="4C5C6B"/>
                </a:solidFill>
                <a:latin typeface="Helvetica Neue"/>
              </a:rPr>
              <a:t>Write</a:t>
            </a:r>
          </a:p>
        </p:txBody>
      </p:sp>
      <p:sp>
        <p:nvSpPr>
          <p:cNvPr id="102" name="TextBox 101"/>
          <p:cNvSpPr txBox="1"/>
          <p:nvPr/>
        </p:nvSpPr>
        <p:spPr>
          <a:xfrm>
            <a:off x="1289304" y="4160520"/>
            <a:ext cx="1847088" cy="192024"/>
          </a:xfrm>
          <a:prstGeom prst="rect">
            <a:avLst/>
          </a:prstGeom>
          <a:noFill/>
        </p:spPr>
        <p:txBody>
          <a:bodyPr wrap="square" lIns="0" rIns="0" tIns="0" bIns="0" anchor="ctr">
            <a:spAutoFit/>
          </a:bodyPr>
          <a:lstStyle/>
          <a:p>
            <a:pPr algn="l"/>
            <a:r>
              <a:rPr sz="950" b="0" i="0">
                <a:solidFill>
                  <a:srgbClr val="141E27"/>
                </a:solidFill>
                <a:latin typeface="Helvetica Neue"/>
              </a:rPr>
              <a:t>Extraction F1 ↑</a:t>
            </a:r>
          </a:p>
        </p:txBody>
      </p:sp>
      <p:sp>
        <p:nvSpPr>
          <p:cNvPr id="103" name="TextBox 102"/>
          <p:cNvSpPr txBox="1"/>
          <p:nvPr/>
        </p:nvSpPr>
        <p:spPr>
          <a:xfrm>
            <a:off x="3136392" y="4160520"/>
            <a:ext cx="969264" cy="192024"/>
          </a:xfrm>
          <a:prstGeom prst="rect">
            <a:avLst/>
          </a:prstGeom>
          <a:noFill/>
        </p:spPr>
        <p:txBody>
          <a:bodyPr wrap="square" lIns="0" rIns="0" tIns="0" bIns="0" anchor="ctr">
            <a:spAutoFit/>
          </a:bodyPr>
          <a:lstStyle/>
          <a:p>
            <a:pPr algn="ctr"/>
            <a:r>
              <a:rPr sz="950" b="1" i="0">
                <a:solidFill>
                  <a:srgbClr val="16685A"/>
                </a:solidFill>
                <a:latin typeface="Menlo"/>
              </a:rPr>
              <a:t>0.8926</a:t>
            </a:r>
          </a:p>
        </p:txBody>
      </p:sp>
      <p:sp>
        <p:nvSpPr>
          <p:cNvPr id="104" name="TextBox 103"/>
          <p:cNvSpPr txBox="1"/>
          <p:nvPr/>
        </p:nvSpPr>
        <p:spPr>
          <a:xfrm>
            <a:off x="4105656" y="4160520"/>
            <a:ext cx="841248" cy="192024"/>
          </a:xfrm>
          <a:prstGeom prst="rect">
            <a:avLst/>
          </a:prstGeom>
          <a:noFill/>
        </p:spPr>
        <p:txBody>
          <a:bodyPr wrap="square" lIns="0" rIns="0" tIns="0" bIns="0" anchor="ctr">
            <a:spAutoFit/>
          </a:bodyPr>
          <a:lstStyle/>
          <a:p>
            <a:pPr algn="ctr"/>
            <a:r>
              <a:rPr sz="950" b="0" i="0">
                <a:solidFill>
                  <a:srgbClr val="141E27"/>
                </a:solidFill>
                <a:latin typeface="Menlo"/>
              </a:rPr>
              <a:t>0.8891</a:t>
            </a:r>
          </a:p>
        </p:txBody>
      </p:sp>
      <p:sp>
        <p:nvSpPr>
          <p:cNvPr id="105" name="TextBox 104"/>
          <p:cNvSpPr txBox="1"/>
          <p:nvPr/>
        </p:nvSpPr>
        <p:spPr>
          <a:xfrm>
            <a:off x="4946904" y="4160520"/>
            <a:ext cx="841248" cy="192024"/>
          </a:xfrm>
          <a:prstGeom prst="rect">
            <a:avLst/>
          </a:prstGeom>
          <a:noFill/>
        </p:spPr>
        <p:txBody>
          <a:bodyPr wrap="square" lIns="0" rIns="0" tIns="0" bIns="0" anchor="ctr">
            <a:spAutoFit/>
          </a:bodyPr>
          <a:lstStyle/>
          <a:p>
            <a:pPr algn="ctr"/>
            <a:r>
              <a:rPr sz="950" b="0" i="0">
                <a:solidFill>
                  <a:srgbClr val="141E27"/>
                </a:solidFill>
                <a:latin typeface="Menlo"/>
              </a:rPr>
              <a:t>0.8425</a:t>
            </a:r>
          </a:p>
        </p:txBody>
      </p:sp>
      <p:cxnSp>
        <p:nvCxnSpPr>
          <p:cNvPr id="106" name="Connector 105"/>
          <p:cNvCxnSpPr/>
          <p:nvPr/>
        </p:nvCxnSpPr>
        <p:spPr>
          <a:xfrm>
            <a:off x="502920" y="4375404"/>
            <a:ext cx="5285232" cy="0"/>
          </a:xfrm>
          <a:prstGeom prst="line">
            <a:avLst/>
          </a:prstGeom>
          <a:ln w="6350">
            <a:solidFill>
              <a:srgbClr val="DBE2E9"/>
            </a:solidFill>
          </a:ln>
        </p:spPr>
        <p:style>
          <a:lnRef idx="2">
            <a:schemeClr val="accent1"/>
          </a:lnRef>
          <a:fillRef idx="0">
            <a:schemeClr val="accent1"/>
          </a:fillRef>
          <a:effectRef idx="1">
            <a:schemeClr val="accent1"/>
          </a:effectRef>
          <a:fontRef idx="minor">
            <a:schemeClr val="tx1"/>
          </a:fontRef>
        </p:style>
      </p:cxnSp>
      <p:sp>
        <p:nvSpPr>
          <p:cNvPr id="107" name="TextBox 106"/>
          <p:cNvSpPr txBox="1"/>
          <p:nvPr/>
        </p:nvSpPr>
        <p:spPr>
          <a:xfrm>
            <a:off x="502920" y="4393692"/>
            <a:ext cx="786384" cy="192024"/>
          </a:xfrm>
          <a:prstGeom prst="rect">
            <a:avLst/>
          </a:prstGeom>
          <a:noFill/>
        </p:spPr>
        <p:txBody>
          <a:bodyPr wrap="square" lIns="0" rIns="0" tIns="0" bIns="0" anchor="ctr">
            <a:spAutoFit/>
          </a:bodyPr>
          <a:lstStyle/>
          <a:p>
            <a:pPr algn="l"/>
            <a:r>
              <a:rPr sz="950" b="1" i="0">
                <a:solidFill>
                  <a:srgbClr val="4C5C6B"/>
                </a:solidFill>
                <a:latin typeface="Helvetica Neue"/>
              </a:rPr>
              <a:t>Update</a:t>
            </a:r>
          </a:p>
        </p:txBody>
      </p:sp>
      <p:sp>
        <p:nvSpPr>
          <p:cNvPr id="108" name="TextBox 107"/>
          <p:cNvSpPr txBox="1"/>
          <p:nvPr/>
        </p:nvSpPr>
        <p:spPr>
          <a:xfrm>
            <a:off x="1289304" y="4393692"/>
            <a:ext cx="1847088" cy="192024"/>
          </a:xfrm>
          <a:prstGeom prst="rect">
            <a:avLst/>
          </a:prstGeom>
          <a:noFill/>
        </p:spPr>
        <p:txBody>
          <a:bodyPr wrap="square" lIns="0" rIns="0" tIns="0" bIns="0" anchor="ctr">
            <a:spAutoFit/>
          </a:bodyPr>
          <a:lstStyle/>
          <a:p>
            <a:pPr algn="l"/>
            <a:r>
              <a:rPr sz="950" b="0" i="0">
                <a:solidFill>
                  <a:srgbClr val="141E27"/>
                </a:solidFill>
                <a:latin typeface="Helvetica Neue"/>
              </a:rPr>
              <a:t>Update items failed ↓</a:t>
            </a:r>
          </a:p>
        </p:txBody>
      </p:sp>
      <p:sp>
        <p:nvSpPr>
          <p:cNvPr id="109" name="TextBox 108"/>
          <p:cNvSpPr txBox="1"/>
          <p:nvPr/>
        </p:nvSpPr>
        <p:spPr>
          <a:xfrm>
            <a:off x="3136392" y="4393692"/>
            <a:ext cx="969264" cy="192024"/>
          </a:xfrm>
          <a:prstGeom prst="rect">
            <a:avLst/>
          </a:prstGeom>
          <a:noFill/>
        </p:spPr>
        <p:txBody>
          <a:bodyPr wrap="square" lIns="0" rIns="0" tIns="0" bIns="0" anchor="ctr">
            <a:spAutoFit/>
          </a:bodyPr>
          <a:lstStyle/>
          <a:p>
            <a:pPr algn="ctr"/>
            <a:r>
              <a:rPr sz="950" b="1" i="0">
                <a:solidFill>
                  <a:srgbClr val="9C4221"/>
                </a:solidFill>
                <a:latin typeface="Menlo"/>
              </a:rPr>
              <a:t>56/162</a:t>
            </a:r>
          </a:p>
        </p:txBody>
      </p:sp>
      <p:sp>
        <p:nvSpPr>
          <p:cNvPr id="110" name="TextBox 109"/>
          <p:cNvSpPr txBox="1"/>
          <p:nvPr/>
        </p:nvSpPr>
        <p:spPr>
          <a:xfrm>
            <a:off x="4105656" y="4393692"/>
            <a:ext cx="841248" cy="192024"/>
          </a:xfrm>
          <a:prstGeom prst="rect">
            <a:avLst/>
          </a:prstGeom>
          <a:noFill/>
        </p:spPr>
        <p:txBody>
          <a:bodyPr wrap="square" lIns="0" rIns="0" tIns="0" bIns="0" anchor="ctr">
            <a:spAutoFit/>
          </a:bodyPr>
          <a:lstStyle/>
          <a:p>
            <a:pPr algn="ctr"/>
            <a:r>
              <a:rPr sz="950" b="0" i="0">
                <a:solidFill>
                  <a:srgbClr val="141E27"/>
                </a:solidFill>
                <a:latin typeface="Menlo"/>
              </a:rPr>
              <a:t>30/162</a:t>
            </a:r>
          </a:p>
        </p:txBody>
      </p:sp>
      <p:sp>
        <p:nvSpPr>
          <p:cNvPr id="111" name="TextBox 110"/>
          <p:cNvSpPr txBox="1"/>
          <p:nvPr/>
        </p:nvSpPr>
        <p:spPr>
          <a:xfrm>
            <a:off x="4946904" y="4393692"/>
            <a:ext cx="841248" cy="192024"/>
          </a:xfrm>
          <a:prstGeom prst="rect">
            <a:avLst/>
          </a:prstGeom>
          <a:noFill/>
        </p:spPr>
        <p:txBody>
          <a:bodyPr wrap="square" lIns="0" rIns="0" tIns="0" bIns="0" anchor="ctr">
            <a:spAutoFit/>
          </a:bodyPr>
          <a:lstStyle/>
          <a:p>
            <a:pPr algn="ctr"/>
            <a:r>
              <a:rPr sz="950" b="0" i="0">
                <a:solidFill>
                  <a:srgbClr val="141E27"/>
                </a:solidFill>
                <a:latin typeface="Menlo"/>
              </a:rPr>
              <a:t>36/162</a:t>
            </a:r>
          </a:p>
        </p:txBody>
      </p:sp>
      <p:sp>
        <p:nvSpPr>
          <p:cNvPr id="112" name="TextBox 111"/>
          <p:cNvSpPr txBox="1"/>
          <p:nvPr/>
        </p:nvSpPr>
        <p:spPr>
          <a:xfrm>
            <a:off x="1417320" y="4626864"/>
            <a:ext cx="1847088" cy="192024"/>
          </a:xfrm>
          <a:prstGeom prst="rect">
            <a:avLst/>
          </a:prstGeom>
          <a:noFill/>
        </p:spPr>
        <p:txBody>
          <a:bodyPr wrap="square" lIns="0" rIns="0" tIns="0" bIns="0" anchor="ctr">
            <a:spAutoFit/>
          </a:bodyPr>
          <a:lstStyle/>
          <a:p>
            <a:pPr algn="l"/>
            <a:r>
              <a:rPr sz="900" b="0" i="0">
                <a:solidFill>
                  <a:srgbClr val="4C5C6B"/>
                </a:solidFill>
                <a:latin typeface="Helvetica Neue"/>
              </a:rPr>
              <a:t>· new value omitted</a:t>
            </a:r>
          </a:p>
        </p:txBody>
      </p:sp>
      <p:sp>
        <p:nvSpPr>
          <p:cNvPr id="113" name="TextBox 112"/>
          <p:cNvSpPr txBox="1"/>
          <p:nvPr/>
        </p:nvSpPr>
        <p:spPr>
          <a:xfrm>
            <a:off x="3136392" y="4626864"/>
            <a:ext cx="969264" cy="192024"/>
          </a:xfrm>
          <a:prstGeom prst="rect">
            <a:avLst/>
          </a:prstGeom>
          <a:noFill/>
        </p:spPr>
        <p:txBody>
          <a:bodyPr wrap="square" lIns="0" rIns="0" tIns="0" bIns="0" anchor="ctr">
            <a:spAutoFit/>
          </a:bodyPr>
          <a:lstStyle/>
          <a:p>
            <a:pPr algn="ctr"/>
            <a:r>
              <a:rPr sz="900" b="1" i="0">
                <a:solidFill>
                  <a:srgbClr val="141E27"/>
                </a:solidFill>
                <a:latin typeface="Menlo"/>
              </a:rPr>
              <a:t>98.2%</a:t>
            </a:r>
          </a:p>
        </p:txBody>
      </p:sp>
      <p:sp>
        <p:nvSpPr>
          <p:cNvPr id="114" name="TextBox 113"/>
          <p:cNvSpPr txBox="1"/>
          <p:nvPr/>
        </p:nvSpPr>
        <p:spPr>
          <a:xfrm>
            <a:off x="4105656" y="4626864"/>
            <a:ext cx="841248" cy="192024"/>
          </a:xfrm>
          <a:prstGeom prst="rect">
            <a:avLst/>
          </a:prstGeom>
          <a:noFill/>
        </p:spPr>
        <p:txBody>
          <a:bodyPr wrap="square" lIns="0" rIns="0" tIns="0" bIns="0" anchor="ctr">
            <a:spAutoFit/>
          </a:bodyPr>
          <a:lstStyle/>
          <a:p>
            <a:pPr algn="ctr"/>
            <a:r>
              <a:rPr sz="900" b="0" i="0">
                <a:solidFill>
                  <a:srgbClr val="4C5C6B"/>
                </a:solidFill>
                <a:latin typeface="Menlo"/>
              </a:rPr>
              <a:t>90.0%</a:t>
            </a:r>
          </a:p>
        </p:txBody>
      </p:sp>
      <p:sp>
        <p:nvSpPr>
          <p:cNvPr id="115" name="TextBox 114"/>
          <p:cNvSpPr txBox="1"/>
          <p:nvPr/>
        </p:nvSpPr>
        <p:spPr>
          <a:xfrm>
            <a:off x="4946904" y="4626864"/>
            <a:ext cx="841248" cy="192024"/>
          </a:xfrm>
          <a:prstGeom prst="rect">
            <a:avLst/>
          </a:prstGeom>
          <a:noFill/>
        </p:spPr>
        <p:txBody>
          <a:bodyPr wrap="square" lIns="0" rIns="0" tIns="0" bIns="0" anchor="ctr">
            <a:spAutoFit/>
          </a:bodyPr>
          <a:lstStyle/>
          <a:p>
            <a:pPr algn="ctr"/>
            <a:r>
              <a:rPr sz="900" b="0" i="0">
                <a:solidFill>
                  <a:srgbClr val="4C5C6B"/>
                </a:solidFill>
                <a:latin typeface="Menlo"/>
              </a:rPr>
              <a:t>83.3%</a:t>
            </a:r>
          </a:p>
        </p:txBody>
      </p:sp>
      <p:sp>
        <p:nvSpPr>
          <p:cNvPr id="116" name="TextBox 115"/>
          <p:cNvSpPr txBox="1"/>
          <p:nvPr/>
        </p:nvSpPr>
        <p:spPr>
          <a:xfrm>
            <a:off x="1417320" y="4860036"/>
            <a:ext cx="1847088" cy="192024"/>
          </a:xfrm>
          <a:prstGeom prst="rect">
            <a:avLst/>
          </a:prstGeom>
          <a:noFill/>
        </p:spPr>
        <p:txBody>
          <a:bodyPr wrap="square" lIns="0" rIns="0" tIns="0" bIns="0" anchor="ctr">
            <a:spAutoFit/>
          </a:bodyPr>
          <a:lstStyle/>
          <a:p>
            <a:pPr algn="l"/>
            <a:r>
              <a:rPr sz="900" b="0" i="0">
                <a:solidFill>
                  <a:srgbClr val="4C5C6B"/>
                </a:solidFill>
                <a:latin typeface="Helvetica Neue"/>
              </a:rPr>
              <a:t>· hallucination / other</a:t>
            </a:r>
          </a:p>
        </p:txBody>
      </p:sp>
      <p:sp>
        <p:nvSpPr>
          <p:cNvPr id="117" name="TextBox 116"/>
          <p:cNvSpPr txBox="1"/>
          <p:nvPr/>
        </p:nvSpPr>
        <p:spPr>
          <a:xfrm>
            <a:off x="3136392" y="4860036"/>
            <a:ext cx="969264" cy="192024"/>
          </a:xfrm>
          <a:prstGeom prst="rect">
            <a:avLst/>
          </a:prstGeom>
          <a:noFill/>
        </p:spPr>
        <p:txBody>
          <a:bodyPr wrap="square" lIns="0" rIns="0" tIns="0" bIns="0" anchor="ctr">
            <a:spAutoFit/>
          </a:bodyPr>
          <a:lstStyle/>
          <a:p>
            <a:pPr algn="ctr"/>
            <a:r>
              <a:rPr sz="900" b="1" i="0">
                <a:solidFill>
                  <a:srgbClr val="141E27"/>
                </a:solidFill>
                <a:latin typeface="Menlo"/>
              </a:rPr>
              <a:t>1.8%</a:t>
            </a:r>
          </a:p>
        </p:txBody>
      </p:sp>
      <p:sp>
        <p:nvSpPr>
          <p:cNvPr id="118" name="TextBox 117"/>
          <p:cNvSpPr txBox="1"/>
          <p:nvPr/>
        </p:nvSpPr>
        <p:spPr>
          <a:xfrm>
            <a:off x="4105656" y="4860036"/>
            <a:ext cx="841248" cy="192024"/>
          </a:xfrm>
          <a:prstGeom prst="rect">
            <a:avLst/>
          </a:prstGeom>
          <a:noFill/>
        </p:spPr>
        <p:txBody>
          <a:bodyPr wrap="square" lIns="0" rIns="0" tIns="0" bIns="0" anchor="ctr">
            <a:spAutoFit/>
          </a:bodyPr>
          <a:lstStyle/>
          <a:p>
            <a:pPr algn="ctr"/>
            <a:r>
              <a:rPr sz="900" b="0" i="0">
                <a:solidFill>
                  <a:srgbClr val="4C5C6B"/>
                </a:solidFill>
                <a:latin typeface="Menlo"/>
              </a:rPr>
              <a:t>10.0%</a:t>
            </a:r>
          </a:p>
        </p:txBody>
      </p:sp>
      <p:sp>
        <p:nvSpPr>
          <p:cNvPr id="119" name="TextBox 118"/>
          <p:cNvSpPr txBox="1"/>
          <p:nvPr/>
        </p:nvSpPr>
        <p:spPr>
          <a:xfrm>
            <a:off x="4946904" y="4860036"/>
            <a:ext cx="841248" cy="192024"/>
          </a:xfrm>
          <a:prstGeom prst="rect">
            <a:avLst/>
          </a:prstGeom>
          <a:noFill/>
        </p:spPr>
        <p:txBody>
          <a:bodyPr wrap="square" lIns="0" rIns="0" tIns="0" bIns="0" anchor="ctr">
            <a:spAutoFit/>
          </a:bodyPr>
          <a:lstStyle/>
          <a:p>
            <a:pPr algn="ctr"/>
            <a:r>
              <a:rPr sz="900" b="0" i="0">
                <a:solidFill>
                  <a:srgbClr val="4C5C6B"/>
                </a:solidFill>
                <a:latin typeface="Menlo"/>
              </a:rPr>
              <a:t>16.7%</a:t>
            </a:r>
          </a:p>
        </p:txBody>
      </p:sp>
      <p:cxnSp>
        <p:nvCxnSpPr>
          <p:cNvPr id="120" name="Connector 119"/>
          <p:cNvCxnSpPr/>
          <p:nvPr/>
        </p:nvCxnSpPr>
        <p:spPr>
          <a:xfrm>
            <a:off x="502920" y="5074920"/>
            <a:ext cx="5285232" cy="0"/>
          </a:xfrm>
          <a:prstGeom prst="line">
            <a:avLst/>
          </a:prstGeom>
          <a:ln w="6350">
            <a:solidFill>
              <a:srgbClr val="DBE2E9"/>
            </a:solidFill>
          </a:ln>
        </p:spPr>
        <p:style>
          <a:lnRef idx="2">
            <a:schemeClr val="accent1"/>
          </a:lnRef>
          <a:fillRef idx="0">
            <a:schemeClr val="accent1"/>
          </a:fillRef>
          <a:effectRef idx="1">
            <a:schemeClr val="accent1"/>
          </a:effectRef>
          <a:fontRef idx="minor">
            <a:schemeClr val="tx1"/>
          </a:fontRef>
        </p:style>
      </p:cxnSp>
      <p:sp>
        <p:nvSpPr>
          <p:cNvPr id="121" name="TextBox 120"/>
          <p:cNvSpPr txBox="1"/>
          <p:nvPr/>
        </p:nvSpPr>
        <p:spPr>
          <a:xfrm>
            <a:off x="502920" y="5093207"/>
            <a:ext cx="786384" cy="192024"/>
          </a:xfrm>
          <a:prstGeom prst="rect">
            <a:avLst/>
          </a:prstGeom>
          <a:noFill/>
        </p:spPr>
        <p:txBody>
          <a:bodyPr wrap="square" lIns="0" rIns="0" tIns="0" bIns="0" anchor="ctr">
            <a:spAutoFit/>
          </a:bodyPr>
          <a:lstStyle/>
          <a:p>
            <a:pPr algn="l"/>
            <a:r>
              <a:rPr sz="950" b="1" i="0">
                <a:solidFill>
                  <a:srgbClr val="4C5C6B"/>
                </a:solidFill>
                <a:latin typeface="Helvetica Neue"/>
              </a:rPr>
              <a:t>Answer</a:t>
            </a:r>
          </a:p>
        </p:txBody>
      </p:sp>
      <p:sp>
        <p:nvSpPr>
          <p:cNvPr id="122" name="TextBox 121"/>
          <p:cNvSpPr txBox="1"/>
          <p:nvPr/>
        </p:nvSpPr>
        <p:spPr>
          <a:xfrm>
            <a:off x="1289304" y="5093207"/>
            <a:ext cx="1847088" cy="192024"/>
          </a:xfrm>
          <a:prstGeom prst="rect">
            <a:avLst/>
          </a:prstGeom>
          <a:noFill/>
        </p:spPr>
        <p:txBody>
          <a:bodyPr wrap="square" lIns="0" rIns="0" tIns="0" bIns="0" anchor="ctr">
            <a:spAutoFit/>
          </a:bodyPr>
          <a:lstStyle/>
          <a:p>
            <a:pPr algn="l"/>
            <a:r>
              <a:rPr sz="950" b="0" i="0">
                <a:solidFill>
                  <a:srgbClr val="141E27"/>
                </a:solidFill>
                <a:latin typeface="Helvetica Neue"/>
              </a:rPr>
              <a:t>QA correct ↑</a:t>
            </a:r>
          </a:p>
        </p:txBody>
      </p:sp>
      <p:sp>
        <p:nvSpPr>
          <p:cNvPr id="123" name="TextBox 122"/>
          <p:cNvSpPr txBox="1"/>
          <p:nvPr/>
        </p:nvSpPr>
        <p:spPr>
          <a:xfrm>
            <a:off x="3136392" y="5093207"/>
            <a:ext cx="969264" cy="192024"/>
          </a:xfrm>
          <a:prstGeom prst="rect">
            <a:avLst/>
          </a:prstGeom>
          <a:noFill/>
        </p:spPr>
        <p:txBody>
          <a:bodyPr wrap="square" lIns="0" rIns="0" tIns="0" bIns="0" anchor="ctr">
            <a:spAutoFit/>
          </a:bodyPr>
          <a:lstStyle/>
          <a:p>
            <a:pPr algn="ctr"/>
            <a:r>
              <a:rPr sz="950" b="0" i="0">
                <a:solidFill>
                  <a:srgbClr val="141E27"/>
                </a:solidFill>
                <a:latin typeface="Menlo"/>
              </a:rPr>
              <a:t>0.4734</a:t>
            </a:r>
          </a:p>
        </p:txBody>
      </p:sp>
      <p:sp>
        <p:nvSpPr>
          <p:cNvPr id="124" name="TextBox 123"/>
          <p:cNvSpPr txBox="1"/>
          <p:nvPr/>
        </p:nvSpPr>
        <p:spPr>
          <a:xfrm>
            <a:off x="4105656" y="5093207"/>
            <a:ext cx="841248" cy="192024"/>
          </a:xfrm>
          <a:prstGeom prst="rect">
            <a:avLst/>
          </a:prstGeom>
          <a:noFill/>
        </p:spPr>
        <p:txBody>
          <a:bodyPr wrap="square" lIns="0" rIns="0" tIns="0" bIns="0" anchor="ctr">
            <a:spAutoFit/>
          </a:bodyPr>
          <a:lstStyle/>
          <a:p>
            <a:pPr algn="ctr"/>
            <a:r>
              <a:rPr sz="950" b="0" i="0">
                <a:solidFill>
                  <a:srgbClr val="141E27"/>
                </a:solidFill>
                <a:latin typeface="Menlo"/>
              </a:rPr>
              <a:t>0.5532</a:t>
            </a:r>
          </a:p>
        </p:txBody>
      </p:sp>
      <p:sp>
        <p:nvSpPr>
          <p:cNvPr id="125" name="TextBox 124"/>
          <p:cNvSpPr txBox="1"/>
          <p:nvPr/>
        </p:nvSpPr>
        <p:spPr>
          <a:xfrm>
            <a:off x="4946904" y="5093207"/>
            <a:ext cx="841248" cy="192024"/>
          </a:xfrm>
          <a:prstGeom prst="rect">
            <a:avLst/>
          </a:prstGeom>
          <a:noFill/>
        </p:spPr>
        <p:txBody>
          <a:bodyPr wrap="square" lIns="0" rIns="0" tIns="0" bIns="0" anchor="ctr">
            <a:spAutoFit/>
          </a:bodyPr>
          <a:lstStyle/>
          <a:p>
            <a:pPr algn="ctr"/>
            <a:r>
              <a:rPr sz="950" b="0" i="0">
                <a:solidFill>
                  <a:srgbClr val="141E27"/>
                </a:solidFill>
                <a:latin typeface="Menlo"/>
              </a:rPr>
              <a:t>0.3511</a:t>
            </a:r>
          </a:p>
        </p:txBody>
      </p:sp>
      <p:sp>
        <p:nvSpPr>
          <p:cNvPr id="126" name="TextBox 125"/>
          <p:cNvSpPr txBox="1"/>
          <p:nvPr/>
        </p:nvSpPr>
        <p:spPr>
          <a:xfrm>
            <a:off x="1289304" y="5326379"/>
            <a:ext cx="1847088" cy="192024"/>
          </a:xfrm>
          <a:prstGeom prst="rect">
            <a:avLst/>
          </a:prstGeom>
          <a:noFill/>
        </p:spPr>
        <p:txBody>
          <a:bodyPr wrap="square" lIns="0" rIns="0" tIns="0" bIns="0" anchor="ctr">
            <a:spAutoFit/>
          </a:bodyPr>
          <a:lstStyle/>
          <a:p>
            <a:pPr algn="l"/>
            <a:r>
              <a:rPr sz="950" b="0" i="0">
                <a:solidFill>
                  <a:srgbClr val="141E27"/>
                </a:solidFill>
                <a:latin typeface="Helvetica Neue"/>
              </a:rPr>
              <a:t>Wrong, attributable ↓</a:t>
            </a:r>
          </a:p>
        </p:txBody>
      </p:sp>
      <p:sp>
        <p:nvSpPr>
          <p:cNvPr id="127" name="TextBox 126"/>
          <p:cNvSpPr txBox="1"/>
          <p:nvPr/>
        </p:nvSpPr>
        <p:spPr>
          <a:xfrm>
            <a:off x="3136392" y="5326379"/>
            <a:ext cx="969264" cy="192024"/>
          </a:xfrm>
          <a:prstGeom prst="rect">
            <a:avLst/>
          </a:prstGeom>
          <a:noFill/>
        </p:spPr>
        <p:txBody>
          <a:bodyPr wrap="square" lIns="0" rIns="0" tIns="0" bIns="0" anchor="ctr">
            <a:spAutoFit/>
          </a:bodyPr>
          <a:lstStyle/>
          <a:p>
            <a:pPr algn="ctr"/>
            <a:r>
              <a:rPr sz="950" b="0" i="0">
                <a:solidFill>
                  <a:srgbClr val="141E27"/>
                </a:solidFill>
                <a:latin typeface="Menlo"/>
              </a:rPr>
              <a:t>96/188</a:t>
            </a:r>
          </a:p>
        </p:txBody>
      </p:sp>
      <p:sp>
        <p:nvSpPr>
          <p:cNvPr id="128" name="TextBox 127"/>
          <p:cNvSpPr txBox="1"/>
          <p:nvPr/>
        </p:nvSpPr>
        <p:spPr>
          <a:xfrm>
            <a:off x="4105656" y="5326379"/>
            <a:ext cx="841248" cy="192024"/>
          </a:xfrm>
          <a:prstGeom prst="rect">
            <a:avLst/>
          </a:prstGeom>
          <a:noFill/>
        </p:spPr>
        <p:txBody>
          <a:bodyPr wrap="square" lIns="0" rIns="0" tIns="0" bIns="0" anchor="ctr">
            <a:spAutoFit/>
          </a:bodyPr>
          <a:lstStyle/>
          <a:p>
            <a:pPr algn="ctr"/>
            <a:r>
              <a:rPr sz="950" b="0" i="0">
                <a:solidFill>
                  <a:srgbClr val="141E27"/>
                </a:solidFill>
                <a:latin typeface="Menlo"/>
              </a:rPr>
              <a:t>70/188</a:t>
            </a:r>
          </a:p>
        </p:txBody>
      </p:sp>
      <p:sp>
        <p:nvSpPr>
          <p:cNvPr id="129" name="TextBox 128"/>
          <p:cNvSpPr txBox="1"/>
          <p:nvPr/>
        </p:nvSpPr>
        <p:spPr>
          <a:xfrm>
            <a:off x="4946904" y="5326379"/>
            <a:ext cx="841248" cy="192024"/>
          </a:xfrm>
          <a:prstGeom prst="rect">
            <a:avLst/>
          </a:prstGeom>
          <a:noFill/>
        </p:spPr>
        <p:txBody>
          <a:bodyPr wrap="square" lIns="0" rIns="0" tIns="0" bIns="0" anchor="ctr">
            <a:spAutoFit/>
          </a:bodyPr>
          <a:lstStyle/>
          <a:p>
            <a:pPr algn="ctr"/>
            <a:r>
              <a:rPr sz="950" b="0" i="0">
                <a:solidFill>
                  <a:srgbClr val="141E27"/>
                </a:solidFill>
                <a:latin typeface="Menlo"/>
              </a:rPr>
              <a:t>115/188</a:t>
            </a:r>
          </a:p>
        </p:txBody>
      </p:sp>
      <p:sp>
        <p:nvSpPr>
          <p:cNvPr id="130" name="TextBox 129"/>
          <p:cNvSpPr txBox="1"/>
          <p:nvPr/>
        </p:nvSpPr>
        <p:spPr>
          <a:xfrm>
            <a:off x="1417320" y="5559551"/>
            <a:ext cx="1847088" cy="192024"/>
          </a:xfrm>
          <a:prstGeom prst="rect">
            <a:avLst/>
          </a:prstGeom>
          <a:noFill/>
        </p:spPr>
        <p:txBody>
          <a:bodyPr wrap="square" lIns="0" rIns="0" tIns="0" bIns="0" anchor="ctr">
            <a:spAutoFit/>
          </a:bodyPr>
          <a:lstStyle/>
          <a:p>
            <a:pPr algn="l"/>
            <a:r>
              <a:rPr sz="900" b="0" i="0">
                <a:solidFill>
                  <a:srgbClr val="4C5C6B"/>
                </a:solidFill>
                <a:latin typeface="Helvetica Neue"/>
              </a:rPr>
              <a:t>· storage</a:t>
            </a:r>
          </a:p>
        </p:txBody>
      </p:sp>
      <p:sp>
        <p:nvSpPr>
          <p:cNvPr id="131" name="TextBox 130"/>
          <p:cNvSpPr txBox="1"/>
          <p:nvPr/>
        </p:nvSpPr>
        <p:spPr>
          <a:xfrm>
            <a:off x="3136392" y="5559551"/>
            <a:ext cx="969264" cy="192024"/>
          </a:xfrm>
          <a:prstGeom prst="rect">
            <a:avLst/>
          </a:prstGeom>
          <a:noFill/>
        </p:spPr>
        <p:txBody>
          <a:bodyPr wrap="square" lIns="0" rIns="0" tIns="0" bIns="0" anchor="ctr">
            <a:spAutoFit/>
          </a:bodyPr>
          <a:lstStyle/>
          <a:p>
            <a:pPr algn="ctr"/>
            <a:r>
              <a:rPr sz="900" b="1" i="0">
                <a:solidFill>
                  <a:srgbClr val="141E27"/>
                </a:solidFill>
                <a:latin typeface="Menlo"/>
              </a:rPr>
              <a:t>59.4%</a:t>
            </a:r>
          </a:p>
        </p:txBody>
      </p:sp>
      <p:sp>
        <p:nvSpPr>
          <p:cNvPr id="132" name="TextBox 131"/>
          <p:cNvSpPr txBox="1"/>
          <p:nvPr/>
        </p:nvSpPr>
        <p:spPr>
          <a:xfrm>
            <a:off x="4105656" y="5559551"/>
            <a:ext cx="841248" cy="192024"/>
          </a:xfrm>
          <a:prstGeom prst="rect">
            <a:avLst/>
          </a:prstGeom>
          <a:noFill/>
        </p:spPr>
        <p:txBody>
          <a:bodyPr wrap="square" lIns="0" rIns="0" tIns="0" bIns="0" anchor="ctr">
            <a:spAutoFit/>
          </a:bodyPr>
          <a:lstStyle/>
          <a:p>
            <a:pPr algn="ctr"/>
            <a:r>
              <a:rPr sz="900" b="0" i="0">
                <a:solidFill>
                  <a:srgbClr val="4C5C6B"/>
                </a:solidFill>
                <a:latin typeface="Menlo"/>
              </a:rPr>
              <a:t>21.4%</a:t>
            </a:r>
          </a:p>
        </p:txBody>
      </p:sp>
      <p:sp>
        <p:nvSpPr>
          <p:cNvPr id="133" name="TextBox 132"/>
          <p:cNvSpPr txBox="1"/>
          <p:nvPr/>
        </p:nvSpPr>
        <p:spPr>
          <a:xfrm>
            <a:off x="4946904" y="5559551"/>
            <a:ext cx="841248" cy="192024"/>
          </a:xfrm>
          <a:prstGeom prst="rect">
            <a:avLst/>
          </a:prstGeom>
          <a:noFill/>
        </p:spPr>
        <p:txBody>
          <a:bodyPr wrap="square" lIns="0" rIns="0" tIns="0" bIns="0" anchor="ctr">
            <a:spAutoFit/>
          </a:bodyPr>
          <a:lstStyle/>
          <a:p>
            <a:pPr algn="ctr"/>
            <a:r>
              <a:rPr sz="900" b="0" i="0">
                <a:solidFill>
                  <a:srgbClr val="4C5C6B"/>
                </a:solidFill>
                <a:latin typeface="Menlo"/>
              </a:rPr>
              <a:t>46.1%</a:t>
            </a:r>
          </a:p>
        </p:txBody>
      </p:sp>
      <p:sp>
        <p:nvSpPr>
          <p:cNvPr id="134" name="TextBox 133"/>
          <p:cNvSpPr txBox="1"/>
          <p:nvPr/>
        </p:nvSpPr>
        <p:spPr>
          <a:xfrm>
            <a:off x="1417320" y="5792723"/>
            <a:ext cx="1847088" cy="192024"/>
          </a:xfrm>
          <a:prstGeom prst="rect">
            <a:avLst/>
          </a:prstGeom>
          <a:noFill/>
        </p:spPr>
        <p:txBody>
          <a:bodyPr wrap="square" lIns="0" rIns="0" tIns="0" bIns="0" anchor="ctr">
            <a:spAutoFit/>
          </a:bodyPr>
          <a:lstStyle/>
          <a:p>
            <a:pPr algn="l"/>
            <a:r>
              <a:rPr sz="900" b="0" i="0">
                <a:solidFill>
                  <a:srgbClr val="4C5C6B"/>
                </a:solidFill>
                <a:latin typeface="Helvetica Neue"/>
              </a:rPr>
              <a:t>· retrieval</a:t>
            </a:r>
          </a:p>
        </p:txBody>
      </p:sp>
      <p:sp>
        <p:nvSpPr>
          <p:cNvPr id="135" name="TextBox 134"/>
          <p:cNvSpPr txBox="1"/>
          <p:nvPr/>
        </p:nvSpPr>
        <p:spPr>
          <a:xfrm>
            <a:off x="3136392" y="5792723"/>
            <a:ext cx="969264" cy="192024"/>
          </a:xfrm>
          <a:prstGeom prst="rect">
            <a:avLst/>
          </a:prstGeom>
          <a:noFill/>
        </p:spPr>
        <p:txBody>
          <a:bodyPr wrap="square" lIns="0" rIns="0" tIns="0" bIns="0" anchor="ctr">
            <a:spAutoFit/>
          </a:bodyPr>
          <a:lstStyle/>
          <a:p>
            <a:pPr algn="ctr"/>
            <a:r>
              <a:rPr sz="900" b="1" i="0">
                <a:solidFill>
                  <a:srgbClr val="141E27"/>
                </a:solidFill>
                <a:latin typeface="Menlo"/>
              </a:rPr>
              <a:t>31.3%</a:t>
            </a:r>
          </a:p>
        </p:txBody>
      </p:sp>
      <p:sp>
        <p:nvSpPr>
          <p:cNvPr id="136" name="TextBox 135"/>
          <p:cNvSpPr txBox="1"/>
          <p:nvPr/>
        </p:nvSpPr>
        <p:spPr>
          <a:xfrm>
            <a:off x="4105656" y="5792723"/>
            <a:ext cx="841248" cy="192024"/>
          </a:xfrm>
          <a:prstGeom prst="rect">
            <a:avLst/>
          </a:prstGeom>
          <a:noFill/>
        </p:spPr>
        <p:txBody>
          <a:bodyPr wrap="square" lIns="0" rIns="0" tIns="0" bIns="0" anchor="ctr">
            <a:spAutoFit/>
          </a:bodyPr>
          <a:lstStyle/>
          <a:p>
            <a:pPr algn="ctr"/>
            <a:r>
              <a:rPr sz="900" b="0" i="0">
                <a:solidFill>
                  <a:srgbClr val="4C5C6B"/>
                </a:solidFill>
                <a:latin typeface="Menlo"/>
              </a:rPr>
              <a:t>34.3%</a:t>
            </a:r>
          </a:p>
        </p:txBody>
      </p:sp>
      <p:sp>
        <p:nvSpPr>
          <p:cNvPr id="137" name="TextBox 136"/>
          <p:cNvSpPr txBox="1"/>
          <p:nvPr/>
        </p:nvSpPr>
        <p:spPr>
          <a:xfrm>
            <a:off x="4946904" y="5792723"/>
            <a:ext cx="841248" cy="192024"/>
          </a:xfrm>
          <a:prstGeom prst="rect">
            <a:avLst/>
          </a:prstGeom>
          <a:noFill/>
        </p:spPr>
        <p:txBody>
          <a:bodyPr wrap="square" lIns="0" rIns="0" tIns="0" bIns="0" anchor="ctr">
            <a:spAutoFit/>
          </a:bodyPr>
          <a:lstStyle/>
          <a:p>
            <a:pPr algn="ctr"/>
            <a:r>
              <a:rPr sz="900" b="0" i="0">
                <a:solidFill>
                  <a:srgbClr val="4C5C6B"/>
                </a:solidFill>
                <a:latin typeface="Menlo"/>
              </a:rPr>
              <a:t>24.3%</a:t>
            </a:r>
          </a:p>
        </p:txBody>
      </p:sp>
      <p:sp>
        <p:nvSpPr>
          <p:cNvPr id="138" name="TextBox 137"/>
          <p:cNvSpPr txBox="1"/>
          <p:nvPr/>
        </p:nvSpPr>
        <p:spPr>
          <a:xfrm>
            <a:off x="1417320" y="6025895"/>
            <a:ext cx="1847088" cy="192024"/>
          </a:xfrm>
          <a:prstGeom prst="rect">
            <a:avLst/>
          </a:prstGeom>
          <a:noFill/>
        </p:spPr>
        <p:txBody>
          <a:bodyPr wrap="square" lIns="0" rIns="0" tIns="0" bIns="0" anchor="ctr">
            <a:spAutoFit/>
          </a:bodyPr>
          <a:lstStyle/>
          <a:p>
            <a:pPr algn="l"/>
            <a:r>
              <a:rPr sz="900" b="0" i="0">
                <a:solidFill>
                  <a:srgbClr val="4C5C6B"/>
                </a:solidFill>
                <a:latin typeface="Helvetica Neue"/>
              </a:rPr>
              <a:t>· generation</a:t>
            </a:r>
          </a:p>
        </p:txBody>
      </p:sp>
      <p:sp>
        <p:nvSpPr>
          <p:cNvPr id="139" name="TextBox 138"/>
          <p:cNvSpPr txBox="1"/>
          <p:nvPr/>
        </p:nvSpPr>
        <p:spPr>
          <a:xfrm>
            <a:off x="3136392" y="6025895"/>
            <a:ext cx="969264" cy="192024"/>
          </a:xfrm>
          <a:prstGeom prst="rect">
            <a:avLst/>
          </a:prstGeom>
          <a:noFill/>
        </p:spPr>
        <p:txBody>
          <a:bodyPr wrap="square" lIns="0" rIns="0" tIns="0" bIns="0" anchor="ctr">
            <a:spAutoFit/>
          </a:bodyPr>
          <a:lstStyle/>
          <a:p>
            <a:pPr algn="ctr"/>
            <a:r>
              <a:rPr sz="900" b="1" i="0">
                <a:solidFill>
                  <a:srgbClr val="141E27"/>
                </a:solidFill>
                <a:latin typeface="Menlo"/>
              </a:rPr>
              <a:t>9.4%</a:t>
            </a:r>
          </a:p>
        </p:txBody>
      </p:sp>
      <p:sp>
        <p:nvSpPr>
          <p:cNvPr id="140" name="TextBox 139"/>
          <p:cNvSpPr txBox="1"/>
          <p:nvPr/>
        </p:nvSpPr>
        <p:spPr>
          <a:xfrm>
            <a:off x="4105656" y="6025895"/>
            <a:ext cx="841248" cy="192024"/>
          </a:xfrm>
          <a:prstGeom prst="rect">
            <a:avLst/>
          </a:prstGeom>
          <a:noFill/>
        </p:spPr>
        <p:txBody>
          <a:bodyPr wrap="square" lIns="0" rIns="0" tIns="0" bIns="0" anchor="ctr">
            <a:spAutoFit/>
          </a:bodyPr>
          <a:lstStyle/>
          <a:p>
            <a:pPr algn="ctr"/>
            <a:r>
              <a:rPr sz="900" b="0" i="0">
                <a:solidFill>
                  <a:srgbClr val="4C5C6B"/>
                </a:solidFill>
                <a:latin typeface="Menlo"/>
              </a:rPr>
              <a:t>44.3%</a:t>
            </a:r>
          </a:p>
        </p:txBody>
      </p:sp>
      <p:sp>
        <p:nvSpPr>
          <p:cNvPr id="141" name="TextBox 140"/>
          <p:cNvSpPr txBox="1"/>
          <p:nvPr/>
        </p:nvSpPr>
        <p:spPr>
          <a:xfrm>
            <a:off x="4946904" y="6025895"/>
            <a:ext cx="841248" cy="192024"/>
          </a:xfrm>
          <a:prstGeom prst="rect">
            <a:avLst/>
          </a:prstGeom>
          <a:noFill/>
        </p:spPr>
        <p:txBody>
          <a:bodyPr wrap="square" lIns="0" rIns="0" tIns="0" bIns="0" anchor="ctr">
            <a:spAutoFit/>
          </a:bodyPr>
          <a:lstStyle/>
          <a:p>
            <a:pPr algn="ctr"/>
            <a:r>
              <a:rPr sz="900" b="0" i="0">
                <a:solidFill>
                  <a:srgbClr val="4C5C6B"/>
                </a:solidFill>
                <a:latin typeface="Menlo"/>
              </a:rPr>
              <a:t>29.6%</a:t>
            </a:r>
          </a:p>
        </p:txBody>
      </p:sp>
      <p:cxnSp>
        <p:nvCxnSpPr>
          <p:cNvPr id="142" name="Connector 141"/>
          <p:cNvCxnSpPr/>
          <p:nvPr/>
        </p:nvCxnSpPr>
        <p:spPr>
          <a:xfrm>
            <a:off x="502920" y="6222491"/>
            <a:ext cx="5285232" cy="0"/>
          </a:xfrm>
          <a:prstGeom prst="line">
            <a:avLst/>
          </a:prstGeom>
          <a:ln w="22225">
            <a:solidFill>
              <a:srgbClr val="141E27"/>
            </a:solidFill>
          </a:ln>
        </p:spPr>
        <p:style>
          <a:lnRef idx="2">
            <a:schemeClr val="accent1"/>
          </a:lnRef>
          <a:fillRef idx="0">
            <a:schemeClr val="accent1"/>
          </a:fillRef>
          <a:effectRef idx="1">
            <a:schemeClr val="accent1"/>
          </a:effectRef>
          <a:fontRef idx="minor">
            <a:schemeClr val="tx1"/>
          </a:fontRef>
        </p:style>
      </p:cxnSp>
      <p:sp>
        <p:nvSpPr>
          <p:cNvPr id="143" name="TextBox 142"/>
          <p:cNvSpPr txBox="1"/>
          <p:nvPr/>
        </p:nvSpPr>
        <p:spPr>
          <a:xfrm>
            <a:off x="502920" y="6304787"/>
            <a:ext cx="6126480" cy="182880"/>
          </a:xfrm>
          <a:prstGeom prst="rect">
            <a:avLst/>
          </a:prstGeom>
          <a:noFill/>
        </p:spPr>
        <p:txBody>
          <a:bodyPr wrap="square" lIns="0" rIns="0" tIns="0" bIns="0" anchor="ctr">
            <a:spAutoFit/>
          </a:bodyPr>
          <a:lstStyle/>
          <a:p>
            <a:pPr algn="l"/>
            <a:r>
              <a:rPr sz="850" b="0" i="1">
                <a:solidFill>
                  <a:srgbClr val="7E8D9B"/>
                </a:solidFill>
                <a:latin typeface="Helvetica Neue"/>
              </a:rPr>
              <a:t>Failure counts recount every judge label, including three the HaluMem scorer drops; each “·” group sums to 100%.</a:t>
            </a:r>
          </a:p>
        </p:txBody>
      </p:sp>
      <p:sp>
        <p:nvSpPr>
          <p:cNvPr id="144" name="TextBox 143"/>
          <p:cNvSpPr txBox="1"/>
          <p:nvPr/>
        </p:nvSpPr>
        <p:spPr>
          <a:xfrm>
            <a:off x="6510528" y="3602736"/>
            <a:ext cx="5212080" cy="201168"/>
          </a:xfrm>
          <a:prstGeom prst="rect">
            <a:avLst/>
          </a:prstGeom>
          <a:noFill/>
        </p:spPr>
        <p:txBody>
          <a:bodyPr wrap="square" lIns="0" rIns="0" tIns="0" bIns="0" anchor="ctr">
            <a:spAutoFit/>
          </a:bodyPr>
          <a:lstStyle/>
          <a:p>
            <a:pPr algn="l"/>
            <a:r>
              <a:rPr sz="1050" b="1" i="0">
                <a:solidFill>
                  <a:srgbClr val="4C5C6B"/>
                </a:solidFill>
                <a:latin typeface="Helvetica Neue"/>
              </a:rPr>
              <a:t>Key findings</a:t>
            </a:r>
          </a:p>
        </p:txBody>
      </p:sp>
      <p:sp>
        <p:nvSpPr>
          <p:cNvPr id="145" name="TextBox 144"/>
          <p:cNvSpPr txBox="1"/>
          <p:nvPr/>
        </p:nvSpPr>
        <p:spPr>
          <a:xfrm>
            <a:off x="6510528" y="3840480"/>
            <a:ext cx="256032" cy="182880"/>
          </a:xfrm>
          <a:prstGeom prst="rect">
            <a:avLst/>
          </a:prstGeom>
          <a:noFill/>
        </p:spPr>
        <p:txBody>
          <a:bodyPr wrap="square" lIns="0" rIns="0" tIns="0" bIns="0" anchor="ctr">
            <a:spAutoFit/>
          </a:bodyPr>
          <a:lstStyle/>
          <a:p>
            <a:pPr algn="l"/>
            <a:r>
              <a:rPr sz="1100" b="1" i="0">
                <a:solidFill>
                  <a:srgbClr val="16685A"/>
                </a:solidFill>
                <a:latin typeface="Helvetica Neue"/>
              </a:rPr>
              <a:t>1</a:t>
            </a:r>
          </a:p>
        </p:txBody>
      </p:sp>
      <p:sp>
        <p:nvSpPr>
          <p:cNvPr id="146" name="TextBox 145"/>
          <p:cNvSpPr txBox="1"/>
          <p:nvPr/>
        </p:nvSpPr>
        <p:spPr>
          <a:xfrm>
            <a:off x="6784848" y="3840480"/>
            <a:ext cx="4937760" cy="182880"/>
          </a:xfrm>
          <a:prstGeom prst="rect">
            <a:avLst/>
          </a:prstGeom>
          <a:noFill/>
        </p:spPr>
        <p:txBody>
          <a:bodyPr wrap="square" lIns="0" rIns="0" tIns="0" bIns="0" anchor="ctr">
            <a:spAutoFit/>
          </a:bodyPr>
          <a:lstStyle/>
          <a:p>
            <a:pPr algn="l"/>
            <a:r>
              <a:rPr sz="1000" b="1" i="0">
                <a:solidFill>
                  <a:srgbClr val="141E27"/>
                </a:solidFill>
                <a:latin typeface="Helvetica Neue"/>
              </a:rPr>
              <a:t>Extraction is the strongest in the study, and it is not the bottleneck.</a:t>
            </a:r>
          </a:p>
        </p:txBody>
      </p:sp>
      <p:sp>
        <p:nvSpPr>
          <p:cNvPr id="147" name="TextBox 146"/>
          <p:cNvSpPr txBox="1"/>
          <p:nvPr/>
        </p:nvSpPr>
        <p:spPr>
          <a:xfrm>
            <a:off x="6784848" y="4023360"/>
            <a:ext cx="4937760" cy="502920"/>
          </a:xfrm>
          <a:prstGeom prst="rect">
            <a:avLst/>
          </a:prstGeom>
          <a:noFill/>
        </p:spPr>
        <p:txBody>
          <a:bodyPr wrap="square" lIns="0" rIns="0" tIns="0" bIns="0">
            <a:spAutoFit/>
          </a:bodyPr>
          <a:lstStyle/>
          <a:p>
            <a:pPr>
              <a:lnSpc>
                <a:spcPct val="108000"/>
              </a:lnSpc>
            </a:pPr>
            <a:r>
              <a:rPr sz="860">
                <a:solidFill>
                  <a:srgbClr val="4C5C6B"/>
                </a:solidFill>
                <a:latin typeface="Helvetica Neue"/>
              </a:rPr>
              <a:t>StructMem leads extraction F1 on HaluMem (0.8926) and LoCoMo (0.8160), and its LoCoMo P1 failure is 0.091 against 0.227 to 0.266 for every other system. What goes wrong downstream is not that the fact was never written.</a:t>
            </a:r>
          </a:p>
        </p:txBody>
      </p:sp>
      <p:sp>
        <p:nvSpPr>
          <p:cNvPr id="148" name="TextBox 147"/>
          <p:cNvSpPr txBox="1"/>
          <p:nvPr/>
        </p:nvSpPr>
        <p:spPr>
          <a:xfrm>
            <a:off x="6510528" y="4443984"/>
            <a:ext cx="256032" cy="182880"/>
          </a:xfrm>
          <a:prstGeom prst="rect">
            <a:avLst/>
          </a:prstGeom>
          <a:noFill/>
        </p:spPr>
        <p:txBody>
          <a:bodyPr wrap="square" lIns="0" rIns="0" tIns="0" bIns="0" anchor="ctr">
            <a:spAutoFit/>
          </a:bodyPr>
          <a:lstStyle/>
          <a:p>
            <a:pPr algn="l"/>
            <a:r>
              <a:rPr sz="1100" b="1" i="0">
                <a:solidFill>
                  <a:srgbClr val="16685A"/>
                </a:solidFill>
                <a:latin typeface="Helvetica Neue"/>
              </a:rPr>
              <a:t>2</a:t>
            </a:r>
          </a:p>
        </p:txBody>
      </p:sp>
      <p:sp>
        <p:nvSpPr>
          <p:cNvPr id="149" name="TextBox 148"/>
          <p:cNvSpPr txBox="1"/>
          <p:nvPr/>
        </p:nvSpPr>
        <p:spPr>
          <a:xfrm>
            <a:off x="6784848" y="4443984"/>
            <a:ext cx="4937760" cy="182880"/>
          </a:xfrm>
          <a:prstGeom prst="rect">
            <a:avLst/>
          </a:prstGeom>
          <a:noFill/>
        </p:spPr>
        <p:txBody>
          <a:bodyPr wrap="square" lIns="0" rIns="0" tIns="0" bIns="0" anchor="ctr">
            <a:spAutoFit/>
          </a:bodyPr>
          <a:lstStyle/>
          <a:p>
            <a:pPr algn="l"/>
            <a:r>
              <a:rPr sz="1000" b="1" i="0">
                <a:solidFill>
                  <a:srgbClr val="141E27"/>
                </a:solidFill>
                <a:latin typeface="Helvetica Neue"/>
              </a:rPr>
              <a:t>The loss sits in the update operator, and it is pure omission.</a:t>
            </a:r>
          </a:p>
        </p:txBody>
      </p:sp>
      <p:sp>
        <p:nvSpPr>
          <p:cNvPr id="150" name="TextBox 149"/>
          <p:cNvSpPr txBox="1"/>
          <p:nvPr/>
        </p:nvSpPr>
        <p:spPr>
          <a:xfrm>
            <a:off x="6784848" y="4626864"/>
            <a:ext cx="4937760" cy="502920"/>
          </a:xfrm>
          <a:prstGeom prst="rect">
            <a:avLst/>
          </a:prstGeom>
          <a:noFill/>
        </p:spPr>
        <p:txBody>
          <a:bodyPr wrap="square" lIns="0" rIns="0" tIns="0" bIns="0">
            <a:spAutoFit/>
          </a:bodyPr>
          <a:lstStyle/>
          <a:p>
            <a:pPr>
              <a:lnSpc>
                <a:spcPct val="108000"/>
              </a:lnSpc>
            </a:pPr>
            <a:r>
              <a:rPr sz="860">
                <a:solidFill>
                  <a:srgbClr val="4C5C6B"/>
                </a:solidFill>
                <a:latin typeface="Helvetica Neue"/>
              </a:rPr>
              <a:t>56 of 162 update items fail, against 30 for A-MEM and 36 for Mem0 v2, and 98.2% of those failures are the new value never landing. Exactly one item in the whole run is a wrong value written. StructMem does not corrupt state, it leaves the old value standing beside the new one.</a:t>
            </a:r>
          </a:p>
        </p:txBody>
      </p:sp>
      <p:sp>
        <p:nvSpPr>
          <p:cNvPr id="151" name="TextBox 150"/>
          <p:cNvSpPr txBox="1"/>
          <p:nvPr/>
        </p:nvSpPr>
        <p:spPr>
          <a:xfrm>
            <a:off x="6510528" y="5047488"/>
            <a:ext cx="256032" cy="182880"/>
          </a:xfrm>
          <a:prstGeom prst="rect">
            <a:avLst/>
          </a:prstGeom>
          <a:noFill/>
        </p:spPr>
        <p:txBody>
          <a:bodyPr wrap="square" lIns="0" rIns="0" tIns="0" bIns="0" anchor="ctr">
            <a:spAutoFit/>
          </a:bodyPr>
          <a:lstStyle/>
          <a:p>
            <a:pPr algn="l"/>
            <a:r>
              <a:rPr sz="1100" b="1" i="0">
                <a:solidFill>
                  <a:srgbClr val="16685A"/>
                </a:solidFill>
                <a:latin typeface="Helvetica Neue"/>
              </a:rPr>
              <a:t>3</a:t>
            </a:r>
          </a:p>
        </p:txBody>
      </p:sp>
      <p:sp>
        <p:nvSpPr>
          <p:cNvPr id="152" name="TextBox 151"/>
          <p:cNvSpPr txBox="1"/>
          <p:nvPr/>
        </p:nvSpPr>
        <p:spPr>
          <a:xfrm>
            <a:off x="6784848" y="5047488"/>
            <a:ext cx="4937760" cy="182880"/>
          </a:xfrm>
          <a:prstGeom prst="rect">
            <a:avLst/>
          </a:prstGeom>
          <a:noFill/>
        </p:spPr>
        <p:txBody>
          <a:bodyPr wrap="square" lIns="0" rIns="0" tIns="0" bIns="0" anchor="ctr">
            <a:spAutoFit/>
          </a:bodyPr>
          <a:lstStyle/>
          <a:p>
            <a:pPr algn="l"/>
            <a:r>
              <a:rPr sz="1000" b="1" i="0">
                <a:solidFill>
                  <a:srgbClr val="141E27"/>
                </a:solidFill>
                <a:latin typeface="Helvetica Neue"/>
              </a:rPr>
              <a:t>A worked case: both career values live, neither labelled.</a:t>
            </a:r>
          </a:p>
        </p:txBody>
      </p:sp>
      <p:sp>
        <p:nvSpPr>
          <p:cNvPr id="153" name="TextBox 152"/>
          <p:cNvSpPr txBox="1"/>
          <p:nvPr/>
        </p:nvSpPr>
        <p:spPr>
          <a:xfrm>
            <a:off x="6784848" y="5230368"/>
            <a:ext cx="4937760" cy="502920"/>
          </a:xfrm>
          <a:prstGeom prst="rect">
            <a:avLst/>
          </a:prstGeom>
          <a:noFill/>
        </p:spPr>
        <p:txBody>
          <a:bodyPr wrap="square" lIns="0" rIns="0" tIns="0" bIns="0">
            <a:spAutoFit/>
          </a:bodyPr>
          <a:lstStyle/>
          <a:p>
            <a:pPr>
              <a:lnSpc>
                <a:spcPct val="108000"/>
              </a:lnSpc>
            </a:pPr>
            <a:r>
              <a:rPr sz="860">
                <a:solidFill>
                  <a:srgbClr val="4C5C6B"/>
                </a:solidFill>
                <a:latin typeface="Helvetica Neue"/>
              </a:rPr>
              <a:t>The store keeps the session-1 entry “manages all aspects of the business” beside the session-4 entry “focusing on partnerships and guest engagement”. Both are is_valid = true, neither links to the other, and the judge scored the update Omitted.</a:t>
            </a:r>
          </a:p>
        </p:txBody>
      </p:sp>
      <p:sp>
        <p:nvSpPr>
          <p:cNvPr id="154" name="TextBox 153"/>
          <p:cNvSpPr txBox="1"/>
          <p:nvPr/>
        </p:nvSpPr>
        <p:spPr>
          <a:xfrm>
            <a:off x="6510528" y="5650992"/>
            <a:ext cx="256032" cy="182880"/>
          </a:xfrm>
          <a:prstGeom prst="rect">
            <a:avLst/>
          </a:prstGeom>
          <a:noFill/>
        </p:spPr>
        <p:txBody>
          <a:bodyPr wrap="square" lIns="0" rIns="0" tIns="0" bIns="0" anchor="ctr">
            <a:spAutoFit/>
          </a:bodyPr>
          <a:lstStyle/>
          <a:p>
            <a:pPr algn="l"/>
            <a:r>
              <a:rPr sz="1100" b="1" i="0">
                <a:solidFill>
                  <a:srgbClr val="16685A"/>
                </a:solidFill>
                <a:latin typeface="Helvetica Neue"/>
              </a:rPr>
              <a:t>4</a:t>
            </a:r>
          </a:p>
        </p:txBody>
      </p:sp>
      <p:sp>
        <p:nvSpPr>
          <p:cNvPr id="155" name="TextBox 154"/>
          <p:cNvSpPr txBox="1"/>
          <p:nvPr/>
        </p:nvSpPr>
        <p:spPr>
          <a:xfrm>
            <a:off x="6784848" y="5650992"/>
            <a:ext cx="4937760" cy="182880"/>
          </a:xfrm>
          <a:prstGeom prst="rect">
            <a:avLst/>
          </a:prstGeom>
          <a:noFill/>
        </p:spPr>
        <p:txBody>
          <a:bodyPr wrap="square" lIns="0" rIns="0" tIns="0" bIns="0" anchor="ctr">
            <a:spAutoFit/>
          </a:bodyPr>
          <a:lstStyle/>
          <a:p>
            <a:pPr algn="l"/>
            <a:r>
              <a:rPr sz="1000" b="1" i="0">
                <a:solidFill>
                  <a:srgbClr val="141E27"/>
                </a:solidFill>
                <a:latin typeface="Helvetica Neue"/>
              </a:rPr>
              <a:t>The read stage then pays for it.</a:t>
            </a:r>
          </a:p>
        </p:txBody>
      </p:sp>
      <p:sp>
        <p:nvSpPr>
          <p:cNvPr id="156" name="TextBox 155"/>
          <p:cNvSpPr txBox="1"/>
          <p:nvPr/>
        </p:nvSpPr>
        <p:spPr>
          <a:xfrm>
            <a:off x="6784848" y="5833872"/>
            <a:ext cx="4937760" cy="502920"/>
          </a:xfrm>
          <a:prstGeom prst="rect">
            <a:avLst/>
          </a:prstGeom>
          <a:noFill/>
        </p:spPr>
        <p:txBody>
          <a:bodyPr wrap="square" lIns="0" rIns="0" tIns="0" bIns="0">
            <a:spAutoFit/>
          </a:bodyPr>
          <a:lstStyle/>
          <a:p>
            <a:pPr>
              <a:lnSpc>
                <a:spcPct val="108000"/>
              </a:lnSpc>
            </a:pPr>
            <a:r>
              <a:rPr sz="860">
                <a:solidFill>
                  <a:srgbClr val="4C5C6B"/>
                </a:solidFill>
                <a:latin typeface="Helvetica Neue"/>
              </a:rPr>
              <a:t>P4 failure is 0.245, fourth of five, against Letta 0.027, while P1 failure is only 0.068. Of 96 attributable wrong answers, 59.4% land on storage and 31.3% on retrieval; with extraction this strong, that storage bucket is a stale entry outranking the fresh one, not a missing fact.</a:t>
            </a:r>
          </a:p>
        </p:txBody>
      </p:sp>
      <p:cxnSp>
        <p:nvCxnSpPr>
          <p:cNvPr id="157" name="Connector 156"/>
          <p:cNvCxnSpPr/>
          <p:nvPr/>
        </p:nvCxnSpPr>
        <p:spPr>
          <a:xfrm>
            <a:off x="502920" y="6345936"/>
            <a:ext cx="11183112" cy="0"/>
          </a:xfrm>
          <a:prstGeom prst="line">
            <a:avLst/>
          </a:prstGeom>
          <a:ln w="9525">
            <a:solidFill>
              <a:srgbClr val="DBE2E9"/>
            </a:solidFill>
          </a:ln>
        </p:spPr>
        <p:style>
          <a:lnRef idx="2">
            <a:schemeClr val="accent1"/>
          </a:lnRef>
          <a:fillRef idx="0">
            <a:schemeClr val="accent1"/>
          </a:fillRef>
          <a:effectRef idx="1">
            <a:schemeClr val="accent1"/>
          </a:effectRef>
          <a:fontRef idx="minor">
            <a:schemeClr val="tx1"/>
          </a:fontRef>
        </p:style>
      </p:cxnSp>
      <p:sp>
        <p:nvSpPr>
          <p:cNvPr id="158" name="TextBox 157"/>
          <p:cNvSpPr txBox="1"/>
          <p:nvPr/>
        </p:nvSpPr>
        <p:spPr>
          <a:xfrm>
            <a:off x="502920" y="6400800"/>
            <a:ext cx="11155680" cy="420624"/>
          </a:xfrm>
          <a:prstGeom prst="rect">
            <a:avLst/>
          </a:prstGeom>
          <a:noFill/>
        </p:spPr>
        <p:txBody>
          <a:bodyPr wrap="square" lIns="0" rIns="0" tIns="0" bIns="0">
            <a:spAutoFit/>
          </a:bodyPr>
          <a:lstStyle/>
          <a:p>
            <a:pPr>
              <a:lnSpc>
                <a:spcPct val="112000"/>
              </a:lnSpc>
            </a:pPr>
            <a:r>
              <a:rPr sz="850" b="1">
                <a:solidFill>
                  <a:srgbClr val="141E27"/>
                </a:solidFill>
                <a:latin typeface="Helvetica Neue"/>
              </a:rPr>
              <a:t>Design implication.  </a:t>
            </a:r>
            <a:r>
              <a:rPr sz="850" i="1">
                <a:solidFill>
                  <a:srgbClr val="4C5C6B"/>
                </a:solidFill>
                <a:latin typeface="Helvetica Neue"/>
              </a:rPr>
              <a:t>The timestamp that orders those two entries is already on every StructMem payload and is never consulted at update time. This is what the ablation adds: a non-destructive state bank (M1) that marks the old entry superseded instead of deleting it, so the write path keeps its 1-in-56 hallucination rate; summary synchronisation (M3); and state-aware retrieval (M4), which is where the P4 failure lives.</a:t>
            </a:r>
          </a:p>
          <a:p>
            <a:pPr>
              <a:lnSpc>
                <a:spcPct val="112000"/>
              </a:lnSpc>
            </a:pPr>
            <a:r>
              <a:rPr sz="850" b="1">
                <a:solidFill>
                  <a:srgbClr val="141E27"/>
                </a:solidFill>
                <a:latin typeface="Helvetica Neue"/>
              </a:rPr>
              <a:t>Guardrail.  </a:t>
            </a:r>
            <a:r>
              <a:rPr sz="850" i="1">
                <a:solidFill>
                  <a:srgbClr val="7E8D9B"/>
                </a:solidFill>
                <a:latin typeface="Helvetica Neue"/>
              </a:rPr>
              <a:t>MemFail coexisting_facts, where StructMem scores 2 of 5, holds preferences that may legitimately hold at once. Any supersession rule has to raise the update score without turning those into false conflicts.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