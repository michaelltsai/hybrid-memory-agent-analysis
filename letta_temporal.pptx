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0" name="Rectangle 109"/>
          <p:cNvSpPr/>
          <p:nvPr/>
        </p:nvSpPr>
        <p:spPr>
          <a:xfrm>
            <a:off x="384048" y="5961888"/>
            <a:ext cx="6766559" cy="256032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980176" y="5961888"/>
            <a:ext cx="1133856" cy="256032"/>
          </a:xfrm>
          <a:prstGeom prst="rect">
            <a:avLst/>
          </a:prstGeom>
          <a:solidFill>
            <a:srgbClr val="FA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84048" y="3273551"/>
            <a:ext cx="6766559" cy="256032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980176" y="3273551"/>
            <a:ext cx="1133856" cy="256032"/>
          </a:xfrm>
          <a:prstGeom prst="rect">
            <a:avLst/>
          </a:prstGeom>
          <a:solidFill>
            <a:srgbClr val="FA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874519" cy="274320"/>
          </a:xfrm>
          <a:prstGeom prst="rect">
            <a:avLst/>
          </a:prstGeom>
          <a:solidFill>
            <a:srgbClr val="F0F1F3"/>
          </a:solidFill>
          <a:ln w="6350">
            <a:solidFill>
              <a:srgbClr val="7E8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/>
            <a:r>
              <a:rPr sz="950">
                <a:solidFill>
                  <a:srgbClr val="141E27"/>
                </a:solidFill>
                <a:latin typeface="Helvetica Neue"/>
              </a:rPr>
              <a:t>Problem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874519" y="0"/>
            <a:ext cx="1051560" cy="274320"/>
          </a:xfrm>
          <a:prstGeom prst="rect">
            <a:avLst/>
          </a:prstGeom>
          <a:solidFill>
            <a:srgbClr val="F0F1F3"/>
          </a:solidFill>
          <a:ln w="6350">
            <a:solidFill>
              <a:srgbClr val="7E8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/>
            <a:r>
              <a:rPr sz="950">
                <a:solidFill>
                  <a:srgbClr val="141E27"/>
                </a:solidFill>
                <a:latin typeface="Helvetica Neue"/>
              </a:rPr>
              <a:t>RQ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79" y="0"/>
            <a:ext cx="2560320" cy="274320"/>
          </a:xfrm>
          <a:prstGeom prst="rect">
            <a:avLst/>
          </a:prstGeom>
          <a:solidFill>
            <a:srgbClr val="F0F1F3"/>
          </a:solidFill>
          <a:ln w="6350">
            <a:solidFill>
              <a:srgbClr val="7E8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/>
            <a:r>
              <a:rPr sz="950">
                <a:solidFill>
                  <a:srgbClr val="141E27"/>
                </a:solidFill>
                <a:latin typeface="Helvetica Neue"/>
              </a:rPr>
              <a:t>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0"/>
            <a:ext cx="2103120" cy="274320"/>
          </a:xfrm>
          <a:prstGeom prst="rect">
            <a:avLst/>
          </a:prstGeom>
          <a:solidFill>
            <a:srgbClr val="8AA9F7"/>
          </a:solidFill>
          <a:ln w="6350">
            <a:solidFill>
              <a:srgbClr val="7E8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/>
            <a:r>
              <a:rPr sz="950">
                <a:solidFill>
                  <a:srgbClr val="141E27"/>
                </a:solidFill>
                <a:latin typeface="Helvetica Neue"/>
              </a:rPr>
              <a:t>Experimental Results &amp;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0" y="0"/>
            <a:ext cx="2423160" cy="274320"/>
          </a:xfrm>
          <a:prstGeom prst="rect">
            <a:avLst/>
          </a:prstGeom>
          <a:solidFill>
            <a:srgbClr val="F0F1F3"/>
          </a:solidFill>
          <a:ln w="6350">
            <a:solidFill>
              <a:srgbClr val="7E8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/>
            <a:r>
              <a:rPr sz="950">
                <a:solidFill>
                  <a:srgbClr val="141E27"/>
                </a:solidFill>
                <a:latin typeface="Helvetica Neue"/>
              </a:rPr>
              <a:t>Proposed Improvements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0"/>
            <a:ext cx="2176272" cy="274320"/>
          </a:xfrm>
          <a:prstGeom prst="rect">
            <a:avLst/>
          </a:prstGeom>
          <a:solidFill>
            <a:srgbClr val="F0F1F3"/>
          </a:solidFill>
          <a:ln w="6350">
            <a:solidFill>
              <a:srgbClr val="7E8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/>
            <a:r>
              <a:rPr sz="950">
                <a:solidFill>
                  <a:srgbClr val="141E27"/>
                </a:solidFill>
                <a:latin typeface="Helvetica Neue"/>
              </a:rPr>
              <a:t>Validation &amp; Conclusions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384048"/>
            <a:ext cx="113385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 u="none">
                <a:solidFill>
                  <a:srgbClr val="141E27"/>
                </a:solidFill>
                <a:latin typeface="Helvetica Neue"/>
              </a:rPr>
              <a:t>A Wide Window Buys Access, Not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804672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1" u="none">
                <a:solidFill>
                  <a:srgbClr val="4C5C6B"/>
                </a:solidFill>
                <a:latin typeface="Helvetica Neue"/>
              </a:rPr>
              <a:t>Letta leads every multi-hop subset and answers none of LoCoMo's temporal ones. Subsets are shown separately: pooling would hide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261872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u="none">
                <a:solidFill>
                  <a:srgbClr val="141E27"/>
                </a:solidFill>
                <a:latin typeface="Helvetica Neue"/>
              </a:rPr>
              <a:t>Table 1.  Accuracy ↑ by subset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9344" y="1481328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u="none">
                <a:solidFill>
                  <a:srgbClr val="16685A"/>
                </a:solidFill>
                <a:latin typeface="Helvetica Neue"/>
              </a:rPr>
              <a:t>Multi-hop composition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45920" y="1673352"/>
            <a:ext cx="3218688" cy="0"/>
          </a:xfrm>
          <a:prstGeom prst="line">
            <a:avLst/>
          </a:prstGeom>
          <a:ln w="11430">
            <a:solidFill>
              <a:srgbClr val="166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901183" y="148132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u="none">
                <a:solidFill>
                  <a:srgbClr val="16685A"/>
                </a:solidFill>
                <a:latin typeface="Helvetica Neue"/>
              </a:rPr>
              <a:t>Temporal reasoning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37759" y="1673352"/>
            <a:ext cx="2121409" cy="0"/>
          </a:xfrm>
          <a:prstGeom prst="line">
            <a:avLst/>
          </a:prstGeom>
          <a:ln w="11430">
            <a:solidFill>
              <a:srgbClr val="166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09344" y="173736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 u="none">
                <a:solidFill>
                  <a:srgbClr val="4C5C6B"/>
                </a:solidFill>
                <a:latin typeface="Helvetica Neue"/>
              </a:rPr>
              <a:t>LoCoMo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344" y="1901952"/>
            <a:ext cx="10972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0" i="0" u="none">
                <a:solidFill>
                  <a:srgbClr val="7E8D9B"/>
                </a:solidFill>
                <a:latin typeface="Menlo"/>
              </a:rPr>
              <a:t>cat1 multi_hop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9344" y="2048256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0" i="0" u="none">
                <a:solidFill>
                  <a:srgbClr val="7E8D9B"/>
                </a:solidFill>
                <a:latin typeface="Menlo"/>
              </a:rPr>
              <a:t>n = 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6624" y="173736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 u="none">
                <a:solidFill>
                  <a:srgbClr val="4C5C6B"/>
                </a:solidFill>
                <a:latin typeface="Helvetica Neue"/>
              </a:rPr>
              <a:t>HaluMem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6624" y="1901952"/>
            <a:ext cx="10972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0" i="0" u="none">
                <a:solidFill>
                  <a:srgbClr val="7E8D9B"/>
                </a:solidFill>
                <a:latin typeface="Menlo"/>
              </a:rPr>
              <a:t>Multi-hop Inference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06624" y="2048256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0" i="0" u="none">
                <a:solidFill>
                  <a:srgbClr val="7E8D9B"/>
                </a:solidFill>
                <a:latin typeface="Menlo"/>
              </a:rPr>
              <a:t>n = 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03904" y="173736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 u="none">
                <a:solidFill>
                  <a:srgbClr val="4C5C6B"/>
                </a:solidFill>
                <a:latin typeface="Helvetica Neue"/>
              </a:rPr>
              <a:t>MemFail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1901952"/>
            <a:ext cx="10972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0" i="0" u="none">
                <a:solidFill>
                  <a:srgbClr val="7E8D9B"/>
                </a:solidFill>
                <a:latin typeface="Menlo"/>
              </a:rPr>
              <a:t>long_hop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03904" y="2048256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0" i="0" u="none">
                <a:solidFill>
                  <a:srgbClr val="7E8D9B"/>
                </a:solidFill>
                <a:latin typeface="Menlo"/>
              </a:rPr>
              <a:t>n =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01183" y="173736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 u="none">
                <a:solidFill>
                  <a:srgbClr val="4C5C6B"/>
                </a:solidFill>
                <a:latin typeface="Helvetica Neue"/>
              </a:rPr>
              <a:t>LongMemEval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01183" y="1901952"/>
            <a:ext cx="10972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0" i="0" u="none">
                <a:solidFill>
                  <a:srgbClr val="7E8D9B"/>
                </a:solidFill>
                <a:latin typeface="Menlo"/>
              </a:rPr>
              <a:t>temporal-reasoning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01183" y="2048256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0" i="0" u="none">
                <a:solidFill>
                  <a:srgbClr val="7E8D9B"/>
                </a:solidFill>
                <a:latin typeface="Menlo"/>
              </a:rPr>
              <a:t>n =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98464" y="173736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 u="none">
                <a:solidFill>
                  <a:srgbClr val="4C5C6B"/>
                </a:solidFill>
                <a:latin typeface="Helvetica Neue"/>
              </a:rPr>
              <a:t>LoCoMo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98464" y="1901952"/>
            <a:ext cx="10972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0" i="0" u="none">
                <a:solidFill>
                  <a:srgbClr val="7E8D9B"/>
                </a:solidFill>
                <a:latin typeface="Menlo"/>
              </a:rPr>
              <a:t>cat2 temporal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98464" y="2048256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0" i="0" u="none">
                <a:solidFill>
                  <a:srgbClr val="7E8D9B"/>
                </a:solidFill>
                <a:latin typeface="Menlo"/>
              </a:rPr>
              <a:t>n = 37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38912" y="2231136"/>
            <a:ext cx="6656832" cy="0"/>
          </a:xfrm>
          <a:prstGeom prst="line">
            <a:avLst/>
          </a:prstGeom>
          <a:ln w="20320">
            <a:solidFill>
              <a:srgbClr val="141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38912" y="2276856"/>
            <a:ext cx="11704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u="none">
                <a:solidFill>
                  <a:srgbClr val="141E27"/>
                </a:solidFill>
                <a:latin typeface="Helvetica Neue"/>
              </a:rPr>
              <a:t>Mem0 v1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9344" y="227685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 u="none">
                <a:solidFill>
                  <a:srgbClr val="141E27"/>
                </a:solidFill>
                <a:latin typeface="Menlo"/>
              </a:rPr>
              <a:t>0.406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6624" y="227685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 u="none">
                <a:solidFill>
                  <a:srgbClr val="141E27"/>
                </a:solidFill>
                <a:latin typeface="Menlo"/>
              </a:rPr>
              <a:t>0.120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03904" y="227685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 u="none">
                <a:solidFill>
                  <a:srgbClr val="141E27"/>
                </a:solidFill>
                <a:latin typeface="Menlo"/>
              </a:rPr>
              <a:t>1.000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01183" y="227685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 u="none">
                <a:solidFill>
                  <a:srgbClr val="141E27"/>
                </a:solidFill>
                <a:latin typeface="Menlo"/>
              </a:rPr>
              <a:t>0.000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98464" y="227685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 u="none">
                <a:solidFill>
                  <a:srgbClr val="141E27"/>
                </a:solidFill>
                <a:latin typeface="Menlo"/>
              </a:rPr>
              <a:t>0.000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" y="2532888"/>
            <a:ext cx="11704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u="none">
                <a:solidFill>
                  <a:srgbClr val="141E27"/>
                </a:solidFill>
                <a:latin typeface="Helvetica Neue"/>
              </a:rPr>
              <a:t>Mem0 v2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9344" y="253288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 u="none">
                <a:solidFill>
                  <a:srgbClr val="141E27"/>
                </a:solidFill>
                <a:latin typeface="Menlo"/>
              </a:rPr>
              <a:t>0.500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06624" y="253288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 u="none">
                <a:solidFill>
                  <a:srgbClr val="141E27"/>
                </a:solidFill>
                <a:latin typeface="Menlo"/>
              </a:rPr>
              <a:t>0.120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03904" y="253288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 u="none">
                <a:solidFill>
                  <a:srgbClr val="141E27"/>
                </a:solidFill>
                <a:latin typeface="Menlo"/>
              </a:rPr>
              <a:t>1.000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01183" y="253288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 u="none">
                <a:solidFill>
                  <a:srgbClr val="141E27"/>
                </a:solidFill>
                <a:latin typeface="Menlo"/>
              </a:rPr>
              <a:t>0.333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98464" y="253288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 u="none">
                <a:solidFill>
                  <a:srgbClr val="141E27"/>
                </a:solidFill>
                <a:latin typeface="Menlo"/>
              </a:rPr>
              <a:t>0.054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" y="2788920"/>
            <a:ext cx="11704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u="none">
                <a:solidFill>
                  <a:srgbClr val="141E27"/>
                </a:solidFill>
                <a:latin typeface="Helvetica Neue"/>
              </a:rPr>
              <a:t>StructMem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09344" y="278892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 u="none">
                <a:solidFill>
                  <a:srgbClr val="141E27"/>
                </a:solidFill>
                <a:latin typeface="Menlo"/>
              </a:rPr>
              <a:t>0.531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06624" y="278892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 u="none">
                <a:solidFill>
                  <a:srgbClr val="141E27"/>
                </a:solidFill>
                <a:latin typeface="Menlo"/>
              </a:rPr>
              <a:t>0.043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03904" y="278892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 u="none">
                <a:solidFill>
                  <a:srgbClr val="141E27"/>
                </a:solidFill>
                <a:latin typeface="Menlo"/>
              </a:rPr>
              <a:t>1.000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01183" y="278892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 u="none">
                <a:solidFill>
                  <a:srgbClr val="141E27"/>
                </a:solidFill>
                <a:latin typeface="Menlo"/>
              </a:rPr>
              <a:t>0.667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98464" y="278892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 u="none">
                <a:solidFill>
                  <a:srgbClr val="141E27"/>
                </a:solidFill>
                <a:latin typeface="Menlo"/>
              </a:rPr>
              <a:t>0.838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" y="3044951"/>
            <a:ext cx="11704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u="none">
                <a:solidFill>
                  <a:srgbClr val="141E27"/>
                </a:solidFill>
                <a:latin typeface="Helvetica Neue"/>
              </a:rPr>
              <a:t>A-MEM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09344" y="3044951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 u="none">
                <a:solidFill>
                  <a:srgbClr val="141E27"/>
                </a:solidFill>
                <a:latin typeface="Menlo"/>
              </a:rPr>
              <a:t>0.281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06624" y="3044951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 u="none">
                <a:solidFill>
                  <a:srgbClr val="141E27"/>
                </a:solidFill>
                <a:latin typeface="Menlo"/>
              </a:rPr>
              <a:t>0.120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03904" y="3044951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 u="none">
                <a:solidFill>
                  <a:srgbClr val="141E27"/>
                </a:solidFill>
                <a:latin typeface="Menlo"/>
              </a:rPr>
              <a:t>0.600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01183" y="3044951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 u="none">
                <a:solidFill>
                  <a:srgbClr val="141E27"/>
                </a:solidFill>
                <a:latin typeface="Menlo"/>
              </a:rPr>
              <a:t>0.000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98464" y="3044951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 u="none">
                <a:solidFill>
                  <a:srgbClr val="141E27"/>
                </a:solidFill>
                <a:latin typeface="Menlo"/>
              </a:rPr>
              <a:t>0.027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" y="3300983"/>
            <a:ext cx="11704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u="none">
                <a:solidFill>
                  <a:srgbClr val="141E27"/>
                </a:solidFill>
                <a:latin typeface="Helvetica Neue"/>
              </a:rPr>
              <a:t>Letta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609344" y="3300983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 u="none">
                <a:solidFill>
                  <a:srgbClr val="141E27"/>
                </a:solidFill>
                <a:latin typeface="Menlo"/>
              </a:rPr>
              <a:t>0.625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06624" y="3300983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 u="none">
                <a:solidFill>
                  <a:srgbClr val="141E27"/>
                </a:solidFill>
                <a:latin typeface="Menlo"/>
              </a:rPr>
              <a:t>0.160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03904" y="3300983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 u="none">
                <a:solidFill>
                  <a:srgbClr val="141E27"/>
                </a:solidFill>
                <a:latin typeface="Menlo"/>
              </a:rPr>
              <a:t>0.800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01183" y="3300983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 u="none">
                <a:solidFill>
                  <a:srgbClr val="141E27"/>
                </a:solidFill>
                <a:latin typeface="Menlo"/>
              </a:rPr>
              <a:t>0.333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98464" y="3300983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 u="none">
                <a:solidFill>
                  <a:srgbClr val="AC4712"/>
                </a:solidFill>
                <a:latin typeface="Menlo"/>
              </a:rPr>
              <a:t>0.000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438912" y="3511295"/>
            <a:ext cx="6656832" cy="0"/>
          </a:xfrm>
          <a:prstGeom prst="line">
            <a:avLst/>
          </a:prstGeom>
          <a:ln w="20320">
            <a:solidFill>
              <a:srgbClr val="141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438912" y="3950207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u="none">
                <a:solidFill>
                  <a:srgbClr val="141E27"/>
                </a:solidFill>
                <a:latin typeface="Helvetica Neue"/>
              </a:rPr>
              <a:t>Table 2.  P1 extraction failure ↓, the same subsets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609344" y="4169663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u="none">
                <a:solidFill>
                  <a:srgbClr val="16685A"/>
                </a:solidFill>
                <a:latin typeface="Helvetica Neue"/>
              </a:rPr>
              <a:t>Multi-hop composition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645920" y="4361688"/>
            <a:ext cx="3218688" cy="0"/>
          </a:xfrm>
          <a:prstGeom prst="line">
            <a:avLst/>
          </a:prstGeom>
          <a:ln w="11430">
            <a:solidFill>
              <a:srgbClr val="166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4901183" y="4169663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u="none">
                <a:solidFill>
                  <a:srgbClr val="16685A"/>
                </a:solidFill>
                <a:latin typeface="Helvetica Neue"/>
              </a:rPr>
              <a:t>Temporal reasoning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4937759" y="4361688"/>
            <a:ext cx="2121409" cy="0"/>
          </a:xfrm>
          <a:prstGeom prst="line">
            <a:avLst/>
          </a:prstGeom>
          <a:ln w="11430">
            <a:solidFill>
              <a:srgbClr val="166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609344" y="4425696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 u="none">
                <a:solidFill>
                  <a:srgbClr val="4C5C6B"/>
                </a:solidFill>
                <a:latin typeface="Helvetica Neue"/>
              </a:rPr>
              <a:t>LoCoMo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09344" y="4590288"/>
            <a:ext cx="10972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0" i="0" u="none">
                <a:solidFill>
                  <a:srgbClr val="7E8D9B"/>
                </a:solidFill>
                <a:latin typeface="Menlo"/>
              </a:rPr>
              <a:t>cat1 multi_hop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609344" y="4736592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0" i="0" u="none">
                <a:solidFill>
                  <a:srgbClr val="7E8D9B"/>
                </a:solidFill>
                <a:latin typeface="Menlo"/>
              </a:rPr>
              <a:t>n = 32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06624" y="4425696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 u="none">
                <a:solidFill>
                  <a:srgbClr val="4C5C6B"/>
                </a:solidFill>
                <a:latin typeface="Helvetica Neue"/>
              </a:rPr>
              <a:t>HaluMem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06624" y="4590288"/>
            <a:ext cx="10972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0" i="0" u="none">
                <a:solidFill>
                  <a:srgbClr val="7E8D9B"/>
                </a:solidFill>
                <a:latin typeface="Menlo"/>
              </a:rPr>
              <a:t>Multi-hop Inference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06624" y="4736592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0" i="0" u="none">
                <a:solidFill>
                  <a:srgbClr val="7E8D9B"/>
                </a:solidFill>
                <a:latin typeface="Menlo"/>
              </a:rPr>
              <a:t>n = 25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803904" y="4425696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 u="none">
                <a:solidFill>
                  <a:srgbClr val="4C5C6B"/>
                </a:solidFill>
                <a:latin typeface="Helvetica Neue"/>
              </a:rPr>
              <a:t>MemFail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03904" y="4590288"/>
            <a:ext cx="10972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0" i="0" u="none">
                <a:solidFill>
                  <a:srgbClr val="7E8D9B"/>
                </a:solidFill>
                <a:latin typeface="Menlo"/>
              </a:rPr>
              <a:t>long_hop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803904" y="4736592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0" i="0" u="none">
                <a:solidFill>
                  <a:srgbClr val="7E8D9B"/>
                </a:solidFill>
                <a:latin typeface="Menlo"/>
              </a:rPr>
              <a:t>n = 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901183" y="4425696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 u="none">
                <a:solidFill>
                  <a:srgbClr val="4C5C6B"/>
                </a:solidFill>
                <a:latin typeface="Helvetica Neue"/>
              </a:rPr>
              <a:t>LongMemEval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901183" y="4590288"/>
            <a:ext cx="10972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0" i="0" u="none">
                <a:solidFill>
                  <a:srgbClr val="7E8D9B"/>
                </a:solidFill>
                <a:latin typeface="Menlo"/>
              </a:rPr>
              <a:t>temporal-reasoning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901183" y="4736592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0" i="0" u="none">
                <a:solidFill>
                  <a:srgbClr val="7E8D9B"/>
                </a:solidFill>
                <a:latin typeface="Menlo"/>
              </a:rPr>
              <a:t>n = 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998464" y="4425696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 u="none">
                <a:solidFill>
                  <a:srgbClr val="4C5C6B"/>
                </a:solidFill>
                <a:latin typeface="Helvetica Neue"/>
              </a:rPr>
              <a:t>LoCoMo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998464" y="4590288"/>
            <a:ext cx="10972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0" i="0" u="none">
                <a:solidFill>
                  <a:srgbClr val="7E8D9B"/>
                </a:solidFill>
                <a:latin typeface="Menlo"/>
              </a:rPr>
              <a:t>cat2 temporal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998464" y="4736592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0" i="0" u="none">
                <a:solidFill>
                  <a:srgbClr val="7E8D9B"/>
                </a:solidFill>
                <a:latin typeface="Menlo"/>
              </a:rPr>
              <a:t>n = 37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438912" y="4919472"/>
            <a:ext cx="6656832" cy="0"/>
          </a:xfrm>
          <a:prstGeom prst="line">
            <a:avLst/>
          </a:prstGeom>
          <a:ln w="20320">
            <a:solidFill>
              <a:srgbClr val="141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438912" y="4965192"/>
            <a:ext cx="11704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u="none">
                <a:solidFill>
                  <a:srgbClr val="141E27"/>
                </a:solidFill>
                <a:latin typeface="Helvetica Neue"/>
              </a:rPr>
              <a:t>Mem0 v1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609344" y="49651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 u="none">
                <a:solidFill>
                  <a:srgbClr val="141E27"/>
                </a:solidFill>
                <a:latin typeface="Menlo"/>
              </a:rPr>
              <a:t>0.281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706624" y="49651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 u="none">
                <a:solidFill>
                  <a:srgbClr val="141E27"/>
                </a:solidFill>
                <a:latin typeface="Menlo"/>
              </a:rPr>
              <a:t>0.120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803904" y="49651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 u="none">
                <a:solidFill>
                  <a:srgbClr val="141E27"/>
                </a:solidFill>
                <a:latin typeface="Menlo"/>
              </a:rPr>
              <a:t>n/a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901183" y="49651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 u="none">
                <a:solidFill>
                  <a:srgbClr val="141E27"/>
                </a:solidFill>
                <a:latin typeface="Menlo"/>
              </a:rPr>
              <a:t>0.667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998464" y="49651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 u="none">
                <a:solidFill>
                  <a:srgbClr val="141E27"/>
                </a:solidFill>
                <a:latin typeface="Menlo"/>
              </a:rPr>
              <a:t>0.946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38912" y="5221224"/>
            <a:ext cx="11704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u="none">
                <a:solidFill>
                  <a:srgbClr val="141E27"/>
                </a:solidFill>
                <a:latin typeface="Helvetica Neue"/>
              </a:rPr>
              <a:t>Mem0 v2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609344" y="522122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 u="none">
                <a:solidFill>
                  <a:srgbClr val="141E27"/>
                </a:solidFill>
                <a:latin typeface="Menlo"/>
              </a:rPr>
              <a:t>0.156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706624" y="522122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 u="none">
                <a:solidFill>
                  <a:srgbClr val="141E27"/>
                </a:solidFill>
                <a:latin typeface="Menlo"/>
              </a:rPr>
              <a:t>0.000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803904" y="522122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 u="none">
                <a:solidFill>
                  <a:srgbClr val="141E27"/>
                </a:solidFill>
                <a:latin typeface="Menlo"/>
              </a:rPr>
              <a:t>n/a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901183" y="522122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 u="none">
                <a:solidFill>
                  <a:srgbClr val="141E27"/>
                </a:solidFill>
                <a:latin typeface="Menlo"/>
              </a:rPr>
              <a:t>0.667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998464" y="522122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 u="none">
                <a:solidFill>
                  <a:srgbClr val="141E27"/>
                </a:solidFill>
                <a:latin typeface="Menlo"/>
              </a:rPr>
              <a:t>0.919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38912" y="5477256"/>
            <a:ext cx="11704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u="none">
                <a:solidFill>
                  <a:srgbClr val="141E27"/>
                </a:solidFill>
                <a:latin typeface="Helvetica Neue"/>
              </a:rPr>
              <a:t>StructMem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609344" y="547725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 u="none">
                <a:solidFill>
                  <a:srgbClr val="141E27"/>
                </a:solidFill>
                <a:latin typeface="Menlo"/>
              </a:rPr>
              <a:t>0.062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706624" y="547725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 u="none">
                <a:solidFill>
                  <a:srgbClr val="141E27"/>
                </a:solidFill>
                <a:latin typeface="Menlo"/>
              </a:rPr>
              <a:t>0.043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803904" y="547725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 u="none">
                <a:solidFill>
                  <a:srgbClr val="141E27"/>
                </a:solidFill>
                <a:latin typeface="Menlo"/>
              </a:rPr>
              <a:t>n/a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901183" y="547725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 u="none">
                <a:solidFill>
                  <a:srgbClr val="141E27"/>
                </a:solidFill>
                <a:latin typeface="Menlo"/>
              </a:rPr>
              <a:t>0.333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998464" y="547725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 u="none">
                <a:solidFill>
                  <a:srgbClr val="141E27"/>
                </a:solidFill>
                <a:latin typeface="Menlo"/>
              </a:rPr>
              <a:t>0.054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38912" y="5733288"/>
            <a:ext cx="11704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u="none">
                <a:solidFill>
                  <a:srgbClr val="141E27"/>
                </a:solidFill>
                <a:latin typeface="Helvetica Neue"/>
              </a:rPr>
              <a:t>A-MEM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609344" y="573328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 u="none">
                <a:solidFill>
                  <a:srgbClr val="141E27"/>
                </a:solidFill>
                <a:latin typeface="Menlo"/>
              </a:rPr>
              <a:t>0.156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706624" y="573328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 u="none">
                <a:solidFill>
                  <a:srgbClr val="141E27"/>
                </a:solidFill>
                <a:latin typeface="Menlo"/>
              </a:rPr>
              <a:t>0.000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803904" y="573328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 u="none">
                <a:solidFill>
                  <a:srgbClr val="141E27"/>
                </a:solidFill>
                <a:latin typeface="Menlo"/>
              </a:rPr>
              <a:t>n/a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901183" y="573328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 u="none">
                <a:solidFill>
                  <a:srgbClr val="141E27"/>
                </a:solidFill>
                <a:latin typeface="Menlo"/>
              </a:rPr>
              <a:t>0.667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998464" y="573328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 u="none">
                <a:solidFill>
                  <a:srgbClr val="141E27"/>
                </a:solidFill>
                <a:latin typeface="Menlo"/>
              </a:rPr>
              <a:t>0.865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38912" y="5989320"/>
            <a:ext cx="11704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u="none">
                <a:solidFill>
                  <a:srgbClr val="141E27"/>
                </a:solidFill>
                <a:latin typeface="Helvetica Neue"/>
              </a:rPr>
              <a:t>Letta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609344" y="598932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 u="none">
                <a:solidFill>
                  <a:srgbClr val="141E27"/>
                </a:solidFill>
                <a:latin typeface="Menlo"/>
              </a:rPr>
              <a:t>0.094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706624" y="598932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 u="none">
                <a:solidFill>
                  <a:srgbClr val="141E27"/>
                </a:solidFill>
                <a:latin typeface="Menlo"/>
              </a:rPr>
              <a:t>0.120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803904" y="598932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 u="none">
                <a:solidFill>
                  <a:srgbClr val="141E27"/>
                </a:solidFill>
                <a:latin typeface="Menlo"/>
              </a:rPr>
              <a:t>n/a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901183" y="598932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 u="none">
                <a:solidFill>
                  <a:srgbClr val="141E27"/>
                </a:solidFill>
                <a:latin typeface="Menlo"/>
              </a:rPr>
              <a:t>0.667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998464" y="598932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 u="none">
                <a:solidFill>
                  <a:srgbClr val="AC4712"/>
                </a:solidFill>
                <a:latin typeface="Menlo"/>
              </a:rPr>
              <a:t>0.784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438912" y="6199632"/>
            <a:ext cx="6656832" cy="0"/>
          </a:xfrm>
          <a:prstGeom prst="line">
            <a:avLst/>
          </a:prstGeom>
          <a:ln w="20320">
            <a:solidFill>
              <a:srgbClr val="141E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438912" y="6327648"/>
            <a:ext cx="6400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 u="none">
                <a:solidFill>
                  <a:srgbClr val="7E8D9B"/>
                </a:solidFill>
                <a:latin typeface="Helvetica Neue"/>
              </a:rPr>
              <a:t>Bold is the best value in a column. MemFail reports its own summary_error instead of a probe P1, so those cells read n/a.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360920" y="1261872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141E27"/>
                </a:solidFill>
                <a:latin typeface="Helvetica Neue"/>
              </a:rPr>
              <a:t>Key findings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360920" y="1517904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u="none">
                <a:solidFill>
                  <a:srgbClr val="16685A"/>
                </a:solidFill>
                <a:latin typeface="Helvetica Neue"/>
              </a:rPr>
              <a:t>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653528" y="1517904"/>
            <a:ext cx="40965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 u="none">
                <a:solidFill>
                  <a:srgbClr val="141E27"/>
                </a:solidFill>
                <a:latin typeface="Helvetica Neue"/>
              </a:rPr>
              <a:t>Composition only needs the facts to be present.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653528" y="1755648"/>
            <a:ext cx="4096512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0" i="0" u="none">
                <a:solidFill>
                  <a:srgbClr val="4C5C6B"/>
                </a:solidFill>
                <a:latin typeface="Helvetica Neue"/>
              </a:rPr>
              <a:t>A wide window supplies that for free. Letta leads LoCoMo multi-hop at 0.625 and MemFail long_hop at 0.800, with P1 at 0.094 on the first: the facts are written, and putting them together is just reading.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360920" y="2706624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u="none">
                <a:solidFill>
                  <a:srgbClr val="16685A"/>
                </a:solidFill>
                <a:latin typeface="Helvetica Neue"/>
              </a:rPr>
              <a:t>2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653528" y="2706624"/>
            <a:ext cx="40965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 u="none">
                <a:solidFill>
                  <a:srgbClr val="141E27"/>
                </a:solidFill>
                <a:latin typeface="Helvetica Neue"/>
              </a:rPr>
              <a:t>Ordering needs a field, not a bigger window.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653528" y="2944368"/>
            <a:ext cx="4096512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0" i="0" u="none">
                <a:solidFill>
                  <a:srgbClr val="4C5C6B"/>
                </a:solidFill>
                <a:latin typeface="Helvetica Neue"/>
              </a:rPr>
              <a:t>Time is not a property of a fact, it is metadata attached to it. Letta carries the widest context of the five, 18.4K tokens per question, and still scores 0 of 37 on LoCoMo temporal.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360920" y="3895344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u="none">
                <a:solidFill>
                  <a:srgbClr val="16685A"/>
                </a:solidFill>
                <a:latin typeface="Helvetica Neue"/>
              </a:rPr>
              <a:t>3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653528" y="3895344"/>
            <a:ext cx="40965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 u="none">
                <a:solidFill>
                  <a:srgbClr val="141E27"/>
                </a:solidFill>
                <a:latin typeface="Helvetica Neue"/>
              </a:rPr>
              <a:t>The stage split says this is a write failure.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653528" y="4133087"/>
            <a:ext cx="4096512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0" i="0" u="none">
                <a:solidFill>
                  <a:srgbClr val="4C5C6B"/>
                </a:solidFill>
                <a:latin typeface="Helvetica Neue"/>
              </a:rPr>
              <a:t>Letta's temporal P1 is 0.784 while P5 is only 0.216. Three quarters of these questions fail because the time never entered memory, not because the model mis-ordered what it saw.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360920" y="5084064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u="none">
                <a:solidFill>
                  <a:srgbClr val="16685A"/>
                </a:solidFill>
                <a:latin typeface="Helvetica Neue"/>
              </a:rPr>
              <a:t>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53528" y="5084064"/>
            <a:ext cx="40965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 u="none">
                <a:solidFill>
                  <a:srgbClr val="141E27"/>
                </a:solidFill>
                <a:latin typeface="Helvetica Neue"/>
              </a:rPr>
              <a:t>And it is fixable at write time.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653528" y="5321807"/>
            <a:ext cx="4096512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0" i="0" u="none">
                <a:solidFill>
                  <a:srgbClr val="4C5C6B"/>
                </a:solidFill>
                <a:latin typeface="Helvetica Neue"/>
              </a:rPr>
              <a:t>StructMem anchors every entry to its source timestamp: P1 0.054 and 0.838 correct on the same 37 questions. Every rewrite-style extractor loses the timestamp, Mem0 v1 0.946, Mem0 v2 0.919, A-MEM 0.865.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38912" y="6547104"/>
            <a:ext cx="113385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 u="none">
                <a:solidFill>
                  <a:srgbClr val="7E8D9B"/>
                </a:solidFill>
                <a:latin typeface="Helvetica Neue"/>
              </a:rPr>
              <a:t>Batch (6): all five backends on gemma-4-31B-it. Temporal is not pooled here because LoCoMo holds 37 of that group's 40 questions, which would make the group cell LoCoMo's number under another name.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