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74519"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Problem &amp; Motivation</a:t>
            </a:r>
          </a:p>
        </p:txBody>
      </p:sp>
      <p:sp>
        <p:nvSpPr>
          <p:cNvPr id="3" name="Rectangle 2"/>
          <p:cNvSpPr/>
          <p:nvPr/>
        </p:nvSpPr>
        <p:spPr>
          <a:xfrm>
            <a:off x="1874519" y="0"/>
            <a:ext cx="10515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RQ</a:t>
            </a:r>
          </a:p>
        </p:txBody>
      </p:sp>
      <p:sp>
        <p:nvSpPr>
          <p:cNvPr id="4" name="Rectangle 3"/>
          <p:cNvSpPr/>
          <p:nvPr/>
        </p:nvSpPr>
        <p:spPr>
          <a:xfrm>
            <a:off x="2926079" y="0"/>
            <a:ext cx="256032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Methodology</a:t>
            </a:r>
          </a:p>
        </p:txBody>
      </p:sp>
      <p:sp>
        <p:nvSpPr>
          <p:cNvPr id="5" name="Rectangle 4"/>
          <p:cNvSpPr/>
          <p:nvPr/>
        </p:nvSpPr>
        <p:spPr>
          <a:xfrm>
            <a:off x="5486400" y="0"/>
            <a:ext cx="2103120" cy="274320"/>
          </a:xfrm>
          <a:prstGeom prst="rect">
            <a:avLst/>
          </a:prstGeom>
          <a:solidFill>
            <a:srgbClr val="8AA9F7"/>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Experimental Results &amp; Analysis</a:t>
            </a:r>
          </a:p>
        </p:txBody>
      </p:sp>
      <p:sp>
        <p:nvSpPr>
          <p:cNvPr id="6" name="Rectangle 5"/>
          <p:cNvSpPr/>
          <p:nvPr/>
        </p:nvSpPr>
        <p:spPr>
          <a:xfrm>
            <a:off x="7589520" y="0"/>
            <a:ext cx="2423160"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Proposed Improvements</a:t>
            </a:r>
          </a:p>
        </p:txBody>
      </p:sp>
      <p:sp>
        <p:nvSpPr>
          <p:cNvPr id="7" name="Rectangle 6"/>
          <p:cNvSpPr/>
          <p:nvPr/>
        </p:nvSpPr>
        <p:spPr>
          <a:xfrm>
            <a:off x="10012680" y="0"/>
            <a:ext cx="2176272" cy="274320"/>
          </a:xfrm>
          <a:prstGeom prst="rect">
            <a:avLst/>
          </a:prstGeom>
          <a:solidFill>
            <a:srgbClr val="F0F1F3"/>
          </a:solidFill>
          <a:ln w="6350">
            <a:solidFill>
              <a:srgbClr val="7E8D9B"/>
            </a:solidFill>
          </a:ln>
          <a:effectLst/>
        </p:spPr>
        <p:style>
          <a:lnRef idx="1">
            <a:schemeClr val="accent1"/>
          </a:lnRef>
          <a:fillRef idx="3">
            <a:schemeClr val="accent1"/>
          </a:fillRef>
          <a:effectRef idx="2">
            <a:schemeClr val="accent1"/>
          </a:effectRef>
          <a:fontRef idx="minor">
            <a:schemeClr val="lt1"/>
          </a:fontRef>
        </p:style>
        <p:txBody>
          <a:bodyPr rtlCol="0" anchor="ctr" lIns="25400" rIns="25400"/>
          <a:lstStyle/>
          <a:p>
            <a:pPr algn="ctr"/>
            <a:r>
              <a:rPr sz="950">
                <a:solidFill>
                  <a:srgbClr val="141E27"/>
                </a:solidFill>
                <a:latin typeface="Helvetica Neue"/>
              </a:rPr>
              <a:t>Validation &amp; Conclusions</a:t>
            </a:r>
          </a:p>
        </p:txBody>
      </p:sp>
      <p:sp>
        <p:nvSpPr>
          <p:cNvPr id="8" name="TextBox 7"/>
          <p:cNvSpPr txBox="1"/>
          <p:nvPr/>
        </p:nvSpPr>
        <p:spPr>
          <a:xfrm>
            <a:off x="502920" y="475488"/>
            <a:ext cx="11155680" cy="420624"/>
          </a:xfrm>
          <a:prstGeom prst="rect">
            <a:avLst/>
          </a:prstGeom>
          <a:noFill/>
        </p:spPr>
        <p:txBody>
          <a:bodyPr wrap="square" lIns="0" rIns="0" tIns="0" bIns="0" anchor="ctr">
            <a:spAutoFit/>
          </a:bodyPr>
          <a:lstStyle/>
          <a:p>
            <a:pPr algn="l"/>
            <a:r>
              <a:rPr sz="2300" b="1" i="0">
                <a:solidFill>
                  <a:srgbClr val="141E27"/>
                </a:solidFill>
                <a:latin typeface="Helvetica Neue"/>
              </a:rPr>
              <a:t>Mem0 v1 vs v2: Where the Architecture Diverges</a:t>
            </a:r>
          </a:p>
        </p:txBody>
      </p:sp>
      <p:sp>
        <p:nvSpPr>
          <p:cNvPr id="9" name="TextBox 8"/>
          <p:cNvSpPr txBox="1"/>
          <p:nvPr/>
        </p:nvSpPr>
        <p:spPr>
          <a:xfrm>
            <a:off x="502920" y="914400"/>
            <a:ext cx="11155680" cy="237744"/>
          </a:xfrm>
          <a:prstGeom prst="rect">
            <a:avLst/>
          </a:prstGeom>
          <a:noFill/>
        </p:spPr>
        <p:txBody>
          <a:bodyPr wrap="square" lIns="0" rIns="0" tIns="0" bIns="0" anchor="ctr">
            <a:spAutoFit/>
          </a:bodyPr>
          <a:lstStyle/>
          <a:p>
            <a:pPr algn="l"/>
            <a:r>
              <a:rPr sz="1150" b="0" i="1">
                <a:solidFill>
                  <a:srgbClr val="7E8D9B"/>
                </a:solidFill>
                <a:latin typeface="Helvetica Neue"/>
              </a:rPr>
              <a:t>LLM-managed CRUD (ADD / UPDATE / DELETE / NONE) versus single-stage append, traced through the write path</a:t>
            </a:r>
          </a:p>
        </p:txBody>
      </p:sp>
      <p:sp>
        <p:nvSpPr>
          <p:cNvPr id="10" name="TextBox 9"/>
          <p:cNvSpPr txBox="1"/>
          <p:nvPr/>
        </p:nvSpPr>
        <p:spPr>
          <a:xfrm>
            <a:off x="502920" y="1243584"/>
            <a:ext cx="5486400" cy="201168"/>
          </a:xfrm>
          <a:prstGeom prst="rect">
            <a:avLst/>
          </a:prstGeom>
          <a:noFill/>
        </p:spPr>
        <p:txBody>
          <a:bodyPr wrap="square" lIns="0" rIns="0" tIns="0" bIns="0" anchor="ctr">
            <a:spAutoFit/>
          </a:bodyPr>
          <a:lstStyle/>
          <a:p>
            <a:pPr algn="l"/>
            <a:r>
              <a:rPr sz="1050" b="1" i="0">
                <a:solidFill>
                  <a:srgbClr val="4C5C6B"/>
                </a:solidFill>
                <a:latin typeface="Helvetica Neue"/>
              </a:rPr>
              <a:t>Table 1.  Write-path accounting  (HaluMem, user #1)</a:t>
            </a:r>
          </a:p>
        </p:txBody>
      </p:sp>
      <p:cxnSp>
        <p:nvCxnSpPr>
          <p:cNvPr id="11" name="Connector 10"/>
          <p:cNvCxnSpPr/>
          <p:nvPr/>
        </p:nvCxnSpPr>
        <p:spPr>
          <a:xfrm>
            <a:off x="502920" y="1481328"/>
            <a:ext cx="864108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1536192"/>
            <a:ext cx="1417320" cy="173736"/>
          </a:xfrm>
          <a:prstGeom prst="rect">
            <a:avLst/>
          </a:prstGeom>
          <a:noFill/>
        </p:spPr>
        <p:txBody>
          <a:bodyPr wrap="square" lIns="0" rIns="0" tIns="0" bIns="0" anchor="ctr">
            <a:spAutoFit/>
          </a:bodyPr>
          <a:lstStyle/>
          <a:p>
            <a:pPr algn="l"/>
            <a:r>
              <a:rPr sz="950" b="1" i="0">
                <a:solidFill>
                  <a:srgbClr val="4C5C6B"/>
                </a:solidFill>
                <a:latin typeface="Helvetica Neue"/>
              </a:rPr>
              <a:t/>
            </a:r>
          </a:p>
        </p:txBody>
      </p:sp>
      <p:sp>
        <p:nvSpPr>
          <p:cNvPr id="13" name="TextBox 12"/>
          <p:cNvSpPr txBox="1"/>
          <p:nvPr/>
        </p:nvSpPr>
        <p:spPr>
          <a:xfrm>
            <a:off x="1920240" y="1536192"/>
            <a:ext cx="1188720" cy="173736"/>
          </a:xfrm>
          <a:prstGeom prst="rect">
            <a:avLst/>
          </a:prstGeom>
          <a:noFill/>
        </p:spPr>
        <p:txBody>
          <a:bodyPr wrap="square" lIns="0" rIns="0" tIns="0" bIns="0" anchor="ctr">
            <a:spAutoFit/>
          </a:bodyPr>
          <a:lstStyle/>
          <a:p>
            <a:pPr algn="ctr"/>
            <a:r>
              <a:rPr sz="950" b="1" i="0">
                <a:solidFill>
                  <a:srgbClr val="4C5C6B"/>
                </a:solidFill>
                <a:latin typeface="Helvetica Neue"/>
              </a:rPr>
              <a:t>Facts</a:t>
            </a:r>
          </a:p>
        </p:txBody>
      </p:sp>
      <p:sp>
        <p:nvSpPr>
          <p:cNvPr id="14" name="TextBox 13"/>
          <p:cNvSpPr txBox="1"/>
          <p:nvPr/>
        </p:nvSpPr>
        <p:spPr>
          <a:xfrm>
            <a:off x="1920240" y="1709928"/>
            <a:ext cx="1188720" cy="173736"/>
          </a:xfrm>
          <a:prstGeom prst="rect">
            <a:avLst/>
          </a:prstGeom>
          <a:noFill/>
        </p:spPr>
        <p:txBody>
          <a:bodyPr wrap="square" lIns="0" rIns="0" tIns="0" bIns="0" anchor="ctr">
            <a:spAutoFit/>
          </a:bodyPr>
          <a:lstStyle/>
          <a:p>
            <a:pPr algn="ctr"/>
            <a:r>
              <a:rPr sz="950" b="1" i="0">
                <a:solidFill>
                  <a:srgbClr val="4C5C6B"/>
                </a:solidFill>
                <a:latin typeface="Helvetica Neue"/>
              </a:rPr>
              <a:t>extracted</a:t>
            </a:r>
          </a:p>
        </p:txBody>
      </p:sp>
      <p:sp>
        <p:nvSpPr>
          <p:cNvPr id="15" name="TextBox 14"/>
          <p:cNvSpPr txBox="1"/>
          <p:nvPr/>
        </p:nvSpPr>
        <p:spPr>
          <a:xfrm>
            <a:off x="3108960" y="1536192"/>
            <a:ext cx="1188720" cy="173736"/>
          </a:xfrm>
          <a:prstGeom prst="rect">
            <a:avLst/>
          </a:prstGeom>
          <a:noFill/>
        </p:spPr>
        <p:txBody>
          <a:bodyPr wrap="square" lIns="0" rIns="0" tIns="0" bIns="0" anchor="ctr">
            <a:spAutoFit/>
          </a:bodyPr>
          <a:lstStyle/>
          <a:p>
            <a:pPr algn="ctr"/>
            <a:r>
              <a:rPr sz="950" b="1" i="0">
                <a:solidFill>
                  <a:srgbClr val="4C5C6B"/>
                </a:solidFill>
                <a:latin typeface="Helvetica Neue"/>
              </a:rPr>
              <a:t>ADD</a:t>
            </a:r>
          </a:p>
        </p:txBody>
      </p:sp>
      <p:sp>
        <p:nvSpPr>
          <p:cNvPr id="16" name="TextBox 15"/>
          <p:cNvSpPr txBox="1"/>
          <p:nvPr/>
        </p:nvSpPr>
        <p:spPr>
          <a:xfrm>
            <a:off x="4297680" y="1536192"/>
            <a:ext cx="1188720" cy="173736"/>
          </a:xfrm>
          <a:prstGeom prst="rect">
            <a:avLst/>
          </a:prstGeom>
          <a:noFill/>
        </p:spPr>
        <p:txBody>
          <a:bodyPr wrap="square" lIns="0" rIns="0" tIns="0" bIns="0" anchor="ctr">
            <a:spAutoFit/>
          </a:bodyPr>
          <a:lstStyle/>
          <a:p>
            <a:pPr algn="ctr"/>
            <a:r>
              <a:rPr sz="950" b="1" i="0">
                <a:solidFill>
                  <a:srgbClr val="4C5C6B"/>
                </a:solidFill>
                <a:latin typeface="Helvetica Neue"/>
              </a:rPr>
              <a:t>UPDATE</a:t>
            </a:r>
          </a:p>
        </p:txBody>
      </p:sp>
      <p:sp>
        <p:nvSpPr>
          <p:cNvPr id="17" name="TextBox 16"/>
          <p:cNvSpPr txBox="1"/>
          <p:nvPr/>
        </p:nvSpPr>
        <p:spPr>
          <a:xfrm>
            <a:off x="5486400" y="1536192"/>
            <a:ext cx="1097280" cy="173736"/>
          </a:xfrm>
          <a:prstGeom prst="rect">
            <a:avLst/>
          </a:prstGeom>
          <a:noFill/>
        </p:spPr>
        <p:txBody>
          <a:bodyPr wrap="square" lIns="0" rIns="0" tIns="0" bIns="0" anchor="ctr">
            <a:spAutoFit/>
          </a:bodyPr>
          <a:lstStyle/>
          <a:p>
            <a:pPr algn="ctr"/>
            <a:r>
              <a:rPr sz="950" b="1" i="0">
                <a:solidFill>
                  <a:srgbClr val="4C5C6B"/>
                </a:solidFill>
                <a:latin typeface="Helvetica Neue"/>
              </a:rPr>
              <a:t>DELETE</a:t>
            </a:r>
          </a:p>
        </p:txBody>
      </p:sp>
      <p:sp>
        <p:nvSpPr>
          <p:cNvPr id="18" name="TextBox 17"/>
          <p:cNvSpPr txBox="1"/>
          <p:nvPr/>
        </p:nvSpPr>
        <p:spPr>
          <a:xfrm>
            <a:off x="6583680" y="1536192"/>
            <a:ext cx="1143000" cy="173736"/>
          </a:xfrm>
          <a:prstGeom prst="rect">
            <a:avLst/>
          </a:prstGeom>
          <a:noFill/>
        </p:spPr>
        <p:txBody>
          <a:bodyPr wrap="square" lIns="0" rIns="0" tIns="0" bIns="0" anchor="ctr">
            <a:spAutoFit/>
          </a:bodyPr>
          <a:lstStyle/>
          <a:p>
            <a:pPr algn="ctr"/>
            <a:r>
              <a:rPr sz="950" b="1" i="0">
                <a:solidFill>
                  <a:srgbClr val="4C5C6B"/>
                </a:solidFill>
                <a:latin typeface="Helvetica Neue"/>
              </a:rPr>
              <a:t>Final</a:t>
            </a:r>
          </a:p>
        </p:txBody>
      </p:sp>
      <p:sp>
        <p:nvSpPr>
          <p:cNvPr id="19" name="TextBox 18"/>
          <p:cNvSpPr txBox="1"/>
          <p:nvPr/>
        </p:nvSpPr>
        <p:spPr>
          <a:xfrm>
            <a:off x="6583680" y="1709928"/>
            <a:ext cx="1143000" cy="173736"/>
          </a:xfrm>
          <a:prstGeom prst="rect">
            <a:avLst/>
          </a:prstGeom>
          <a:noFill/>
        </p:spPr>
        <p:txBody>
          <a:bodyPr wrap="square" lIns="0" rIns="0" tIns="0" bIns="0" anchor="ctr">
            <a:spAutoFit/>
          </a:bodyPr>
          <a:lstStyle/>
          <a:p>
            <a:pPr algn="ctr"/>
            <a:r>
              <a:rPr sz="950" b="1" i="0">
                <a:solidFill>
                  <a:srgbClr val="4C5C6B"/>
                </a:solidFill>
                <a:latin typeface="Helvetica Neue"/>
              </a:rPr>
              <a:t>store</a:t>
            </a:r>
          </a:p>
        </p:txBody>
      </p:sp>
      <p:sp>
        <p:nvSpPr>
          <p:cNvPr id="20" name="TextBox 19"/>
          <p:cNvSpPr txBox="1"/>
          <p:nvPr/>
        </p:nvSpPr>
        <p:spPr>
          <a:xfrm>
            <a:off x="7726679" y="1536192"/>
            <a:ext cx="1417320" cy="173736"/>
          </a:xfrm>
          <a:prstGeom prst="rect">
            <a:avLst/>
          </a:prstGeom>
          <a:noFill/>
        </p:spPr>
        <p:txBody>
          <a:bodyPr wrap="square" lIns="0" rIns="0" tIns="0" bIns="0" anchor="ctr">
            <a:spAutoFit/>
          </a:bodyPr>
          <a:lstStyle/>
          <a:p>
            <a:pPr algn="ctr"/>
            <a:r>
              <a:rPr sz="950" b="1" i="0">
                <a:solidFill>
                  <a:srgbClr val="4C5C6B"/>
                </a:solidFill>
                <a:latin typeface="Helvetica Neue"/>
              </a:rPr>
              <a:t>Net change</a:t>
            </a:r>
          </a:p>
        </p:txBody>
      </p:sp>
      <p:cxnSp>
        <p:nvCxnSpPr>
          <p:cNvPr id="21" name="Connector 20"/>
          <p:cNvCxnSpPr/>
          <p:nvPr/>
        </p:nvCxnSpPr>
        <p:spPr>
          <a:xfrm>
            <a:off x="502920" y="1938528"/>
            <a:ext cx="8641080"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1984248"/>
            <a:ext cx="1417320" cy="219456"/>
          </a:xfrm>
          <a:prstGeom prst="rect">
            <a:avLst/>
          </a:prstGeom>
          <a:noFill/>
        </p:spPr>
        <p:txBody>
          <a:bodyPr wrap="square" lIns="0" rIns="0" tIns="0" bIns="0" anchor="ctr">
            <a:spAutoFit/>
          </a:bodyPr>
          <a:lstStyle/>
          <a:p>
            <a:pPr algn="l"/>
            <a:r>
              <a:rPr sz="1050" b="1" i="0">
                <a:solidFill>
                  <a:srgbClr val="141E27"/>
                </a:solidFill>
                <a:latin typeface="Helvetica Neue"/>
              </a:rPr>
              <a:t>Mem0 v1</a:t>
            </a:r>
          </a:p>
        </p:txBody>
      </p:sp>
      <p:sp>
        <p:nvSpPr>
          <p:cNvPr id="23" name="TextBox 22"/>
          <p:cNvSpPr txBox="1"/>
          <p:nvPr/>
        </p:nvSpPr>
        <p:spPr>
          <a:xfrm>
            <a:off x="1920240" y="1984248"/>
            <a:ext cx="1188720" cy="219456"/>
          </a:xfrm>
          <a:prstGeom prst="rect">
            <a:avLst/>
          </a:prstGeom>
          <a:noFill/>
        </p:spPr>
        <p:txBody>
          <a:bodyPr wrap="square" lIns="0" rIns="0" tIns="0" bIns="0" anchor="ctr">
            <a:spAutoFit/>
          </a:bodyPr>
          <a:lstStyle/>
          <a:p>
            <a:pPr algn="ctr"/>
            <a:r>
              <a:rPr sz="1000" b="0" i="0">
                <a:solidFill>
                  <a:srgbClr val="141E27"/>
                </a:solidFill>
                <a:latin typeface="Menlo"/>
              </a:rPr>
              <a:t>747</a:t>
            </a:r>
          </a:p>
        </p:txBody>
      </p:sp>
      <p:sp>
        <p:nvSpPr>
          <p:cNvPr id="24" name="TextBox 23"/>
          <p:cNvSpPr txBox="1"/>
          <p:nvPr/>
        </p:nvSpPr>
        <p:spPr>
          <a:xfrm>
            <a:off x="3108960" y="1984248"/>
            <a:ext cx="1188720" cy="219456"/>
          </a:xfrm>
          <a:prstGeom prst="rect">
            <a:avLst/>
          </a:prstGeom>
          <a:noFill/>
        </p:spPr>
        <p:txBody>
          <a:bodyPr wrap="square" lIns="0" rIns="0" tIns="0" bIns="0" anchor="ctr">
            <a:spAutoFit/>
          </a:bodyPr>
          <a:lstStyle/>
          <a:p>
            <a:pPr algn="ctr"/>
            <a:r>
              <a:rPr sz="1000" b="0" i="0">
                <a:solidFill>
                  <a:srgbClr val="141E27"/>
                </a:solidFill>
                <a:latin typeface="Menlo"/>
              </a:rPr>
              <a:t>536 (72%)</a:t>
            </a:r>
          </a:p>
        </p:txBody>
      </p:sp>
      <p:sp>
        <p:nvSpPr>
          <p:cNvPr id="25" name="TextBox 24"/>
          <p:cNvSpPr txBox="1"/>
          <p:nvPr/>
        </p:nvSpPr>
        <p:spPr>
          <a:xfrm>
            <a:off x="4297680" y="1984248"/>
            <a:ext cx="1188720" cy="219456"/>
          </a:xfrm>
          <a:prstGeom prst="rect">
            <a:avLst/>
          </a:prstGeom>
          <a:noFill/>
        </p:spPr>
        <p:txBody>
          <a:bodyPr wrap="square" lIns="0" rIns="0" tIns="0" bIns="0" anchor="ctr">
            <a:spAutoFit/>
          </a:bodyPr>
          <a:lstStyle/>
          <a:p>
            <a:pPr algn="ctr"/>
            <a:r>
              <a:rPr sz="1000" b="0" i="0">
                <a:solidFill>
                  <a:srgbClr val="141E27"/>
                </a:solidFill>
                <a:latin typeface="Menlo"/>
              </a:rPr>
              <a:t>207 (28%)</a:t>
            </a:r>
          </a:p>
        </p:txBody>
      </p:sp>
      <p:sp>
        <p:nvSpPr>
          <p:cNvPr id="26" name="TextBox 25"/>
          <p:cNvSpPr txBox="1"/>
          <p:nvPr/>
        </p:nvSpPr>
        <p:spPr>
          <a:xfrm>
            <a:off x="5486400" y="1984248"/>
            <a:ext cx="1097280" cy="219456"/>
          </a:xfrm>
          <a:prstGeom prst="rect">
            <a:avLst/>
          </a:prstGeom>
          <a:noFill/>
        </p:spPr>
        <p:txBody>
          <a:bodyPr wrap="square" lIns="0" rIns="0" tIns="0" bIns="0" anchor="ctr">
            <a:spAutoFit/>
          </a:bodyPr>
          <a:lstStyle/>
          <a:p>
            <a:pPr algn="ctr"/>
            <a:r>
              <a:rPr sz="1000" b="0" i="0">
                <a:solidFill>
                  <a:srgbClr val="141E27"/>
                </a:solidFill>
                <a:latin typeface="Menlo"/>
              </a:rPr>
              <a:t>4 (0.5%)</a:t>
            </a:r>
          </a:p>
        </p:txBody>
      </p:sp>
      <p:sp>
        <p:nvSpPr>
          <p:cNvPr id="27" name="TextBox 26"/>
          <p:cNvSpPr txBox="1"/>
          <p:nvPr/>
        </p:nvSpPr>
        <p:spPr>
          <a:xfrm>
            <a:off x="6583680" y="1984248"/>
            <a:ext cx="1143000" cy="219456"/>
          </a:xfrm>
          <a:prstGeom prst="rect">
            <a:avLst/>
          </a:prstGeom>
          <a:noFill/>
        </p:spPr>
        <p:txBody>
          <a:bodyPr wrap="square" lIns="0" rIns="0" tIns="0" bIns="0" anchor="ctr">
            <a:spAutoFit/>
          </a:bodyPr>
          <a:lstStyle/>
          <a:p>
            <a:pPr algn="ctr"/>
            <a:r>
              <a:rPr sz="1000" b="0" i="0">
                <a:solidFill>
                  <a:srgbClr val="141E27"/>
                </a:solidFill>
                <a:latin typeface="Menlo"/>
              </a:rPr>
              <a:t>532</a:t>
            </a:r>
          </a:p>
        </p:txBody>
      </p:sp>
      <p:sp>
        <p:nvSpPr>
          <p:cNvPr id="28" name="TextBox 27"/>
          <p:cNvSpPr txBox="1"/>
          <p:nvPr/>
        </p:nvSpPr>
        <p:spPr>
          <a:xfrm>
            <a:off x="7726679" y="1984248"/>
            <a:ext cx="1417320" cy="219456"/>
          </a:xfrm>
          <a:prstGeom prst="rect">
            <a:avLst/>
          </a:prstGeom>
          <a:noFill/>
        </p:spPr>
        <p:txBody>
          <a:bodyPr wrap="square" lIns="0" rIns="0" tIns="0" bIns="0" anchor="ctr">
            <a:spAutoFit/>
          </a:bodyPr>
          <a:lstStyle/>
          <a:p>
            <a:pPr algn="ctr"/>
            <a:r>
              <a:rPr sz="1000" b="1" i="0">
                <a:solidFill>
                  <a:srgbClr val="9C4221"/>
                </a:solidFill>
                <a:latin typeface="Menlo"/>
              </a:rPr>
              <a:t>-215 (-29%)</a:t>
            </a:r>
          </a:p>
        </p:txBody>
      </p:sp>
      <p:sp>
        <p:nvSpPr>
          <p:cNvPr id="29" name="TextBox 28"/>
          <p:cNvSpPr txBox="1"/>
          <p:nvPr/>
        </p:nvSpPr>
        <p:spPr>
          <a:xfrm>
            <a:off x="502920" y="2295144"/>
            <a:ext cx="1417320" cy="219456"/>
          </a:xfrm>
          <a:prstGeom prst="rect">
            <a:avLst/>
          </a:prstGeom>
          <a:noFill/>
        </p:spPr>
        <p:txBody>
          <a:bodyPr wrap="square" lIns="0" rIns="0" tIns="0" bIns="0" anchor="ctr">
            <a:spAutoFit/>
          </a:bodyPr>
          <a:lstStyle/>
          <a:p>
            <a:pPr algn="l"/>
            <a:r>
              <a:rPr sz="1050" b="1" i="0">
                <a:solidFill>
                  <a:srgbClr val="141E27"/>
                </a:solidFill>
                <a:latin typeface="Helvetica Neue"/>
              </a:rPr>
              <a:t>Mem0 v2</a:t>
            </a:r>
          </a:p>
        </p:txBody>
      </p:sp>
      <p:sp>
        <p:nvSpPr>
          <p:cNvPr id="30" name="TextBox 29"/>
          <p:cNvSpPr txBox="1"/>
          <p:nvPr/>
        </p:nvSpPr>
        <p:spPr>
          <a:xfrm>
            <a:off x="1920240" y="2295144"/>
            <a:ext cx="1188720" cy="219456"/>
          </a:xfrm>
          <a:prstGeom prst="rect">
            <a:avLst/>
          </a:prstGeom>
          <a:noFill/>
        </p:spPr>
        <p:txBody>
          <a:bodyPr wrap="square" lIns="0" rIns="0" tIns="0" bIns="0" anchor="ctr">
            <a:spAutoFit/>
          </a:bodyPr>
          <a:lstStyle/>
          <a:p>
            <a:pPr algn="ctr"/>
            <a:r>
              <a:rPr sz="1000" b="0" i="0">
                <a:solidFill>
                  <a:srgbClr val="141E27"/>
                </a:solidFill>
                <a:latin typeface="Menlo"/>
              </a:rPr>
              <a:t>673</a:t>
            </a:r>
          </a:p>
        </p:txBody>
      </p:sp>
      <p:sp>
        <p:nvSpPr>
          <p:cNvPr id="31" name="TextBox 30"/>
          <p:cNvSpPr txBox="1"/>
          <p:nvPr/>
        </p:nvSpPr>
        <p:spPr>
          <a:xfrm>
            <a:off x="3108960" y="2295144"/>
            <a:ext cx="1188720" cy="219456"/>
          </a:xfrm>
          <a:prstGeom prst="rect">
            <a:avLst/>
          </a:prstGeom>
          <a:noFill/>
        </p:spPr>
        <p:txBody>
          <a:bodyPr wrap="square" lIns="0" rIns="0" tIns="0" bIns="0" anchor="ctr">
            <a:spAutoFit/>
          </a:bodyPr>
          <a:lstStyle/>
          <a:p>
            <a:pPr algn="ctr"/>
            <a:r>
              <a:rPr sz="1000" b="0" i="0">
                <a:solidFill>
                  <a:srgbClr val="141E27"/>
                </a:solidFill>
                <a:latin typeface="Menlo"/>
              </a:rPr>
              <a:t>673 (100%)</a:t>
            </a:r>
          </a:p>
        </p:txBody>
      </p:sp>
      <p:sp>
        <p:nvSpPr>
          <p:cNvPr id="32" name="TextBox 31"/>
          <p:cNvSpPr txBox="1"/>
          <p:nvPr/>
        </p:nvSpPr>
        <p:spPr>
          <a:xfrm>
            <a:off x="4297680" y="2295144"/>
            <a:ext cx="1188720" cy="219456"/>
          </a:xfrm>
          <a:prstGeom prst="rect">
            <a:avLst/>
          </a:prstGeom>
          <a:noFill/>
        </p:spPr>
        <p:txBody>
          <a:bodyPr wrap="square" lIns="0" rIns="0" tIns="0" bIns="0" anchor="ctr">
            <a:spAutoFit/>
          </a:bodyPr>
          <a:lstStyle/>
          <a:p>
            <a:pPr algn="ctr"/>
            <a:r>
              <a:rPr sz="1000" b="0" i="0">
                <a:solidFill>
                  <a:srgbClr val="141E27"/>
                </a:solidFill>
                <a:latin typeface="Menlo"/>
              </a:rPr>
              <a:t>0</a:t>
            </a:r>
          </a:p>
        </p:txBody>
      </p:sp>
      <p:sp>
        <p:nvSpPr>
          <p:cNvPr id="33" name="TextBox 32"/>
          <p:cNvSpPr txBox="1"/>
          <p:nvPr/>
        </p:nvSpPr>
        <p:spPr>
          <a:xfrm>
            <a:off x="5486400" y="2295144"/>
            <a:ext cx="1097280" cy="219456"/>
          </a:xfrm>
          <a:prstGeom prst="rect">
            <a:avLst/>
          </a:prstGeom>
          <a:noFill/>
        </p:spPr>
        <p:txBody>
          <a:bodyPr wrap="square" lIns="0" rIns="0" tIns="0" bIns="0" anchor="ctr">
            <a:spAutoFit/>
          </a:bodyPr>
          <a:lstStyle/>
          <a:p>
            <a:pPr algn="ctr"/>
            <a:r>
              <a:rPr sz="1000" b="0" i="0">
                <a:solidFill>
                  <a:srgbClr val="141E27"/>
                </a:solidFill>
                <a:latin typeface="Menlo"/>
              </a:rPr>
              <a:t>0</a:t>
            </a:r>
          </a:p>
        </p:txBody>
      </p:sp>
      <p:sp>
        <p:nvSpPr>
          <p:cNvPr id="34" name="TextBox 33"/>
          <p:cNvSpPr txBox="1"/>
          <p:nvPr/>
        </p:nvSpPr>
        <p:spPr>
          <a:xfrm>
            <a:off x="6583680" y="2295144"/>
            <a:ext cx="1143000" cy="219456"/>
          </a:xfrm>
          <a:prstGeom prst="rect">
            <a:avLst/>
          </a:prstGeom>
          <a:noFill/>
        </p:spPr>
        <p:txBody>
          <a:bodyPr wrap="square" lIns="0" rIns="0" tIns="0" bIns="0" anchor="ctr">
            <a:spAutoFit/>
          </a:bodyPr>
          <a:lstStyle/>
          <a:p>
            <a:pPr algn="ctr"/>
            <a:r>
              <a:rPr sz="1000" b="0" i="0">
                <a:solidFill>
                  <a:srgbClr val="141E27"/>
                </a:solidFill>
                <a:latin typeface="Menlo"/>
              </a:rPr>
              <a:t>673</a:t>
            </a:r>
          </a:p>
        </p:txBody>
      </p:sp>
      <p:sp>
        <p:nvSpPr>
          <p:cNvPr id="35" name="TextBox 34"/>
          <p:cNvSpPr txBox="1"/>
          <p:nvPr/>
        </p:nvSpPr>
        <p:spPr>
          <a:xfrm>
            <a:off x="7726679" y="2295144"/>
            <a:ext cx="1417320" cy="219456"/>
          </a:xfrm>
          <a:prstGeom prst="rect">
            <a:avLst/>
          </a:prstGeom>
          <a:noFill/>
        </p:spPr>
        <p:txBody>
          <a:bodyPr wrap="square" lIns="0" rIns="0" tIns="0" bIns="0" anchor="ctr">
            <a:spAutoFit/>
          </a:bodyPr>
          <a:lstStyle/>
          <a:p>
            <a:pPr algn="ctr"/>
            <a:r>
              <a:rPr sz="1000" b="0" i="0">
                <a:solidFill>
                  <a:srgbClr val="141E27"/>
                </a:solidFill>
                <a:latin typeface="Menlo"/>
              </a:rPr>
              <a:t>0</a:t>
            </a:r>
          </a:p>
        </p:txBody>
      </p:sp>
      <p:cxnSp>
        <p:nvCxnSpPr>
          <p:cNvPr id="36" name="Connector 35"/>
          <p:cNvCxnSpPr/>
          <p:nvPr/>
        </p:nvCxnSpPr>
        <p:spPr>
          <a:xfrm>
            <a:off x="502920" y="2560320"/>
            <a:ext cx="864108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02920" y="2615184"/>
            <a:ext cx="8595360" cy="182880"/>
          </a:xfrm>
          <a:prstGeom prst="rect">
            <a:avLst/>
          </a:prstGeom>
          <a:noFill/>
        </p:spPr>
        <p:txBody>
          <a:bodyPr wrap="square" lIns="0" rIns="0" tIns="0" bIns="0" anchor="ctr">
            <a:spAutoFit/>
          </a:bodyPr>
          <a:lstStyle/>
          <a:p>
            <a:pPr algn="l"/>
            <a:r>
              <a:rPr sz="850" b="0" i="1">
                <a:solidFill>
                  <a:srgbClr val="7E8D9B"/>
                </a:solidFill>
                <a:latin typeface="Helvetica Neue"/>
              </a:rPr>
              <a:t>Both stages use the same extraction LLM (gemma-4-31B-it) on the same 77 sessions; only the write policy differs.</a:t>
            </a:r>
          </a:p>
        </p:txBody>
      </p:sp>
      <p:sp>
        <p:nvSpPr>
          <p:cNvPr id="38" name="TextBox 37"/>
          <p:cNvSpPr txBox="1"/>
          <p:nvPr/>
        </p:nvSpPr>
        <p:spPr>
          <a:xfrm>
            <a:off x="502920" y="2816352"/>
            <a:ext cx="5486400" cy="201168"/>
          </a:xfrm>
          <a:prstGeom prst="rect">
            <a:avLst/>
          </a:prstGeom>
          <a:noFill/>
        </p:spPr>
        <p:txBody>
          <a:bodyPr wrap="square" lIns="0" rIns="0" tIns="0" bIns="0" anchor="ctr">
            <a:spAutoFit/>
          </a:bodyPr>
          <a:lstStyle/>
          <a:p>
            <a:pPr algn="l"/>
            <a:r>
              <a:rPr sz="1050" b="1" i="0">
                <a:solidFill>
                  <a:srgbClr val="4C5C6B"/>
                </a:solidFill>
                <a:latin typeface="Helvetica Neue"/>
              </a:rPr>
              <a:t>Table 2.  Stage-level outcomes</a:t>
            </a:r>
          </a:p>
        </p:txBody>
      </p:sp>
      <p:cxnSp>
        <p:nvCxnSpPr>
          <p:cNvPr id="39" name="Connector 38"/>
          <p:cNvCxnSpPr/>
          <p:nvPr/>
        </p:nvCxnSpPr>
        <p:spPr>
          <a:xfrm>
            <a:off x="502920" y="3054096"/>
            <a:ext cx="589788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920" y="3118103"/>
            <a:ext cx="1143000" cy="182880"/>
          </a:xfrm>
          <a:prstGeom prst="rect">
            <a:avLst/>
          </a:prstGeom>
          <a:noFill/>
        </p:spPr>
        <p:txBody>
          <a:bodyPr wrap="square" lIns="0" rIns="0" tIns="0" bIns="0" anchor="ctr">
            <a:spAutoFit/>
          </a:bodyPr>
          <a:lstStyle/>
          <a:p>
            <a:pPr algn="l"/>
            <a:r>
              <a:rPr sz="950" b="1" i="0">
                <a:solidFill>
                  <a:srgbClr val="4C5C6B"/>
                </a:solidFill>
                <a:latin typeface="Helvetica Neue"/>
              </a:rPr>
              <a:t>Stage</a:t>
            </a:r>
          </a:p>
        </p:txBody>
      </p:sp>
      <p:sp>
        <p:nvSpPr>
          <p:cNvPr id="41" name="TextBox 40"/>
          <p:cNvSpPr txBox="1"/>
          <p:nvPr/>
        </p:nvSpPr>
        <p:spPr>
          <a:xfrm>
            <a:off x="1645920" y="3118103"/>
            <a:ext cx="2606040" cy="182880"/>
          </a:xfrm>
          <a:prstGeom prst="rect">
            <a:avLst/>
          </a:prstGeom>
          <a:noFill/>
        </p:spPr>
        <p:txBody>
          <a:bodyPr wrap="square" lIns="0" rIns="0" tIns="0" bIns="0" anchor="ctr">
            <a:spAutoFit/>
          </a:bodyPr>
          <a:lstStyle/>
          <a:p>
            <a:pPr algn="l"/>
            <a:r>
              <a:rPr sz="950" b="1" i="0">
                <a:solidFill>
                  <a:srgbClr val="4C5C6B"/>
                </a:solidFill>
                <a:latin typeface="Helvetica Neue"/>
              </a:rPr>
              <a:t>Metric</a:t>
            </a:r>
          </a:p>
        </p:txBody>
      </p:sp>
      <p:sp>
        <p:nvSpPr>
          <p:cNvPr id="42" name="TextBox 41"/>
          <p:cNvSpPr txBox="1"/>
          <p:nvPr/>
        </p:nvSpPr>
        <p:spPr>
          <a:xfrm>
            <a:off x="4251960" y="3118103"/>
            <a:ext cx="960120" cy="182880"/>
          </a:xfrm>
          <a:prstGeom prst="rect">
            <a:avLst/>
          </a:prstGeom>
          <a:noFill/>
        </p:spPr>
        <p:txBody>
          <a:bodyPr wrap="square" lIns="0" rIns="0" tIns="0" bIns="0" anchor="ctr">
            <a:spAutoFit/>
          </a:bodyPr>
          <a:lstStyle/>
          <a:p>
            <a:pPr algn="ctr"/>
            <a:r>
              <a:rPr sz="950" b="1" i="0">
                <a:solidFill>
                  <a:srgbClr val="4C5C6B"/>
                </a:solidFill>
                <a:latin typeface="Helvetica Neue"/>
              </a:rPr>
              <a:t>Mem0 v1</a:t>
            </a:r>
          </a:p>
        </p:txBody>
      </p:sp>
      <p:sp>
        <p:nvSpPr>
          <p:cNvPr id="43" name="TextBox 42"/>
          <p:cNvSpPr txBox="1"/>
          <p:nvPr/>
        </p:nvSpPr>
        <p:spPr>
          <a:xfrm>
            <a:off x="5212080" y="3118103"/>
            <a:ext cx="1188720" cy="182880"/>
          </a:xfrm>
          <a:prstGeom prst="rect">
            <a:avLst/>
          </a:prstGeom>
          <a:noFill/>
        </p:spPr>
        <p:txBody>
          <a:bodyPr wrap="square" lIns="0" rIns="0" tIns="0" bIns="0" anchor="ctr">
            <a:spAutoFit/>
          </a:bodyPr>
          <a:lstStyle/>
          <a:p>
            <a:pPr algn="ctr"/>
            <a:r>
              <a:rPr sz="950" b="1" i="0">
                <a:solidFill>
                  <a:srgbClr val="4C5C6B"/>
                </a:solidFill>
                <a:latin typeface="Helvetica Neue"/>
              </a:rPr>
              <a:t>Mem0 v2</a:t>
            </a:r>
          </a:p>
        </p:txBody>
      </p:sp>
      <p:cxnSp>
        <p:nvCxnSpPr>
          <p:cNvPr id="44" name="Connector 43"/>
          <p:cNvCxnSpPr/>
          <p:nvPr/>
        </p:nvCxnSpPr>
        <p:spPr>
          <a:xfrm>
            <a:off x="502920" y="3364991"/>
            <a:ext cx="5897880" cy="0"/>
          </a:xfrm>
          <a:prstGeom prst="line">
            <a:avLst/>
          </a:prstGeom>
          <a:ln w="11430">
            <a:solidFill>
              <a:srgbClr val="141E2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02920" y="3396996"/>
            <a:ext cx="1143000" cy="201168"/>
          </a:xfrm>
          <a:prstGeom prst="rect">
            <a:avLst/>
          </a:prstGeom>
          <a:noFill/>
        </p:spPr>
        <p:txBody>
          <a:bodyPr wrap="square" lIns="0" rIns="0" tIns="0" bIns="0" anchor="ctr">
            <a:spAutoFit/>
          </a:bodyPr>
          <a:lstStyle/>
          <a:p>
            <a:pPr algn="l"/>
            <a:r>
              <a:rPr sz="950" b="1" i="0">
                <a:solidFill>
                  <a:srgbClr val="4C5C6B"/>
                </a:solidFill>
                <a:latin typeface="Helvetica Neue"/>
              </a:rPr>
              <a:t>Summary</a:t>
            </a:r>
          </a:p>
        </p:txBody>
      </p:sp>
      <p:sp>
        <p:nvSpPr>
          <p:cNvPr id="46" name="TextBox 45"/>
          <p:cNvSpPr txBox="1"/>
          <p:nvPr/>
        </p:nvSpPr>
        <p:spPr>
          <a:xfrm>
            <a:off x="1645920" y="3396996"/>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HaluMem extraction F1</a:t>
            </a:r>
          </a:p>
        </p:txBody>
      </p:sp>
      <p:sp>
        <p:nvSpPr>
          <p:cNvPr id="47" name="TextBox 46"/>
          <p:cNvSpPr txBox="1"/>
          <p:nvPr/>
        </p:nvSpPr>
        <p:spPr>
          <a:xfrm>
            <a:off x="4251960" y="3396996"/>
            <a:ext cx="960120" cy="201168"/>
          </a:xfrm>
          <a:prstGeom prst="rect">
            <a:avLst/>
          </a:prstGeom>
          <a:noFill/>
        </p:spPr>
        <p:txBody>
          <a:bodyPr wrap="square" lIns="0" rIns="0" tIns="0" bIns="0" anchor="ctr">
            <a:spAutoFit/>
          </a:bodyPr>
          <a:lstStyle/>
          <a:p>
            <a:pPr algn="ctr"/>
            <a:r>
              <a:rPr sz="950" b="0" i="0">
                <a:solidFill>
                  <a:srgbClr val="141E27"/>
                </a:solidFill>
                <a:latin typeface="Menlo"/>
              </a:rPr>
              <a:t>0.6777</a:t>
            </a:r>
          </a:p>
        </p:txBody>
      </p:sp>
      <p:sp>
        <p:nvSpPr>
          <p:cNvPr id="48" name="TextBox 47"/>
          <p:cNvSpPr txBox="1"/>
          <p:nvPr/>
        </p:nvSpPr>
        <p:spPr>
          <a:xfrm>
            <a:off x="5212080" y="3396996"/>
            <a:ext cx="1188720" cy="201168"/>
          </a:xfrm>
          <a:prstGeom prst="rect">
            <a:avLst/>
          </a:prstGeom>
          <a:noFill/>
        </p:spPr>
        <p:txBody>
          <a:bodyPr wrap="square" lIns="0" rIns="0" tIns="0" bIns="0" anchor="ctr">
            <a:spAutoFit/>
          </a:bodyPr>
          <a:lstStyle/>
          <a:p>
            <a:pPr algn="ctr"/>
            <a:r>
              <a:rPr sz="950" b="1" i="0">
                <a:solidFill>
                  <a:srgbClr val="16685A"/>
                </a:solidFill>
                <a:latin typeface="Menlo"/>
              </a:rPr>
              <a:t>0.8830</a:t>
            </a:r>
          </a:p>
        </p:txBody>
      </p:sp>
      <p:sp>
        <p:nvSpPr>
          <p:cNvPr id="49" name="TextBox 48"/>
          <p:cNvSpPr txBox="1"/>
          <p:nvPr/>
        </p:nvSpPr>
        <p:spPr>
          <a:xfrm>
            <a:off x="1645920" y="3634740"/>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LoCoMo extraction F1</a:t>
            </a:r>
          </a:p>
        </p:txBody>
      </p:sp>
      <p:sp>
        <p:nvSpPr>
          <p:cNvPr id="50" name="TextBox 49"/>
          <p:cNvSpPr txBox="1"/>
          <p:nvPr/>
        </p:nvSpPr>
        <p:spPr>
          <a:xfrm>
            <a:off x="4251960" y="3634740"/>
            <a:ext cx="960120" cy="201168"/>
          </a:xfrm>
          <a:prstGeom prst="rect">
            <a:avLst/>
          </a:prstGeom>
          <a:noFill/>
        </p:spPr>
        <p:txBody>
          <a:bodyPr wrap="square" lIns="0" rIns="0" tIns="0" bIns="0" anchor="ctr">
            <a:spAutoFit/>
          </a:bodyPr>
          <a:lstStyle/>
          <a:p>
            <a:pPr algn="ctr"/>
            <a:r>
              <a:rPr sz="950" b="0" i="0">
                <a:solidFill>
                  <a:srgbClr val="141E27"/>
                </a:solidFill>
                <a:latin typeface="Menlo"/>
              </a:rPr>
              <a:t>0.6481</a:t>
            </a:r>
          </a:p>
        </p:txBody>
      </p:sp>
      <p:sp>
        <p:nvSpPr>
          <p:cNvPr id="51" name="TextBox 50"/>
          <p:cNvSpPr txBox="1"/>
          <p:nvPr/>
        </p:nvSpPr>
        <p:spPr>
          <a:xfrm>
            <a:off x="5212080" y="3634740"/>
            <a:ext cx="1188720" cy="201168"/>
          </a:xfrm>
          <a:prstGeom prst="rect">
            <a:avLst/>
          </a:prstGeom>
          <a:noFill/>
        </p:spPr>
        <p:txBody>
          <a:bodyPr wrap="square" lIns="0" rIns="0" tIns="0" bIns="0" anchor="ctr">
            <a:spAutoFit/>
          </a:bodyPr>
          <a:lstStyle/>
          <a:p>
            <a:pPr algn="ctr"/>
            <a:r>
              <a:rPr sz="950" b="1" i="0">
                <a:solidFill>
                  <a:srgbClr val="16685A"/>
                </a:solidFill>
                <a:latin typeface="Menlo"/>
              </a:rPr>
              <a:t>0.7796</a:t>
            </a:r>
          </a:p>
        </p:txBody>
      </p:sp>
      <p:sp>
        <p:nvSpPr>
          <p:cNvPr id="52" name="TextBox 51"/>
          <p:cNvSpPr txBox="1"/>
          <p:nvPr/>
        </p:nvSpPr>
        <p:spPr>
          <a:xfrm>
            <a:off x="1645920" y="3872484"/>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LongMemEval P1</a:t>
            </a:r>
          </a:p>
        </p:txBody>
      </p:sp>
      <p:sp>
        <p:nvSpPr>
          <p:cNvPr id="53" name="TextBox 52"/>
          <p:cNvSpPr txBox="1"/>
          <p:nvPr/>
        </p:nvSpPr>
        <p:spPr>
          <a:xfrm>
            <a:off x="4251960" y="3872484"/>
            <a:ext cx="960120" cy="201168"/>
          </a:xfrm>
          <a:prstGeom prst="rect">
            <a:avLst/>
          </a:prstGeom>
          <a:noFill/>
        </p:spPr>
        <p:txBody>
          <a:bodyPr wrap="square" lIns="0" rIns="0" tIns="0" bIns="0" anchor="ctr">
            <a:spAutoFit/>
          </a:bodyPr>
          <a:lstStyle/>
          <a:p>
            <a:pPr algn="ctr"/>
            <a:r>
              <a:rPr sz="950" b="0" i="0">
                <a:solidFill>
                  <a:srgbClr val="141E27"/>
                </a:solidFill>
                <a:latin typeface="Menlo"/>
              </a:rPr>
              <a:t>0.5000</a:t>
            </a:r>
          </a:p>
        </p:txBody>
      </p:sp>
      <p:sp>
        <p:nvSpPr>
          <p:cNvPr id="54" name="TextBox 53"/>
          <p:cNvSpPr txBox="1"/>
          <p:nvPr/>
        </p:nvSpPr>
        <p:spPr>
          <a:xfrm>
            <a:off x="5212080" y="3872484"/>
            <a:ext cx="1188720" cy="201168"/>
          </a:xfrm>
          <a:prstGeom prst="rect">
            <a:avLst/>
          </a:prstGeom>
          <a:noFill/>
        </p:spPr>
        <p:txBody>
          <a:bodyPr wrap="square" lIns="0" rIns="0" tIns="0" bIns="0" anchor="ctr">
            <a:spAutoFit/>
          </a:bodyPr>
          <a:lstStyle/>
          <a:p>
            <a:pPr algn="ctr"/>
            <a:r>
              <a:rPr sz="950" b="1" i="0">
                <a:solidFill>
                  <a:srgbClr val="16685A"/>
                </a:solidFill>
                <a:latin typeface="Menlo"/>
              </a:rPr>
              <a:t>0.6000</a:t>
            </a:r>
          </a:p>
        </p:txBody>
      </p:sp>
      <p:sp>
        <p:nvSpPr>
          <p:cNvPr id="55" name="TextBox 54"/>
          <p:cNvSpPr txBox="1"/>
          <p:nvPr/>
        </p:nvSpPr>
        <p:spPr>
          <a:xfrm>
            <a:off x="1645920" y="4110228"/>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MemFail summary error ↓</a:t>
            </a:r>
          </a:p>
        </p:txBody>
      </p:sp>
      <p:sp>
        <p:nvSpPr>
          <p:cNvPr id="56" name="TextBox 55"/>
          <p:cNvSpPr txBox="1"/>
          <p:nvPr/>
        </p:nvSpPr>
        <p:spPr>
          <a:xfrm>
            <a:off x="4251960" y="4110228"/>
            <a:ext cx="960120" cy="201168"/>
          </a:xfrm>
          <a:prstGeom prst="rect">
            <a:avLst/>
          </a:prstGeom>
          <a:noFill/>
        </p:spPr>
        <p:txBody>
          <a:bodyPr wrap="square" lIns="0" rIns="0" tIns="0" bIns="0" anchor="ctr">
            <a:spAutoFit/>
          </a:bodyPr>
          <a:lstStyle/>
          <a:p>
            <a:pPr algn="ctr"/>
            <a:r>
              <a:rPr sz="950" b="0" i="0">
                <a:solidFill>
                  <a:srgbClr val="141E27"/>
                </a:solidFill>
                <a:latin typeface="Menlo"/>
              </a:rPr>
              <a:t>0.1143</a:t>
            </a:r>
          </a:p>
        </p:txBody>
      </p:sp>
      <p:sp>
        <p:nvSpPr>
          <p:cNvPr id="57" name="TextBox 56"/>
          <p:cNvSpPr txBox="1"/>
          <p:nvPr/>
        </p:nvSpPr>
        <p:spPr>
          <a:xfrm>
            <a:off x="5212080" y="4110228"/>
            <a:ext cx="1188720" cy="201168"/>
          </a:xfrm>
          <a:prstGeom prst="rect">
            <a:avLst/>
          </a:prstGeom>
          <a:noFill/>
        </p:spPr>
        <p:txBody>
          <a:bodyPr wrap="square" lIns="0" rIns="0" tIns="0" bIns="0" anchor="ctr">
            <a:spAutoFit/>
          </a:bodyPr>
          <a:lstStyle/>
          <a:p>
            <a:pPr algn="ctr"/>
            <a:r>
              <a:rPr sz="950" b="1" i="0">
                <a:solidFill>
                  <a:srgbClr val="16685A"/>
                </a:solidFill>
                <a:latin typeface="Menlo"/>
              </a:rPr>
              <a:t>0.0571</a:t>
            </a:r>
          </a:p>
        </p:txBody>
      </p:sp>
      <p:cxnSp>
        <p:nvCxnSpPr>
          <p:cNvPr id="58" name="Connector 57"/>
          <p:cNvCxnSpPr/>
          <p:nvPr/>
        </p:nvCxnSpPr>
        <p:spPr>
          <a:xfrm>
            <a:off x="502920" y="4329684"/>
            <a:ext cx="589788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02920" y="4347972"/>
            <a:ext cx="1143000" cy="201168"/>
          </a:xfrm>
          <a:prstGeom prst="rect">
            <a:avLst/>
          </a:prstGeom>
          <a:noFill/>
        </p:spPr>
        <p:txBody>
          <a:bodyPr wrap="square" lIns="0" rIns="0" tIns="0" bIns="0" anchor="ctr">
            <a:spAutoFit/>
          </a:bodyPr>
          <a:lstStyle/>
          <a:p>
            <a:pPr algn="l"/>
            <a:r>
              <a:rPr sz="950" b="1" i="0">
                <a:solidFill>
                  <a:srgbClr val="4C5C6B"/>
                </a:solidFill>
                <a:latin typeface="Helvetica Neue"/>
              </a:rPr>
              <a:t>Storage</a:t>
            </a:r>
          </a:p>
        </p:txBody>
      </p:sp>
      <p:sp>
        <p:nvSpPr>
          <p:cNvPr id="60" name="TextBox 59"/>
          <p:cNvSpPr txBox="1"/>
          <p:nvPr/>
        </p:nvSpPr>
        <p:spPr>
          <a:xfrm>
            <a:off x="1645920" y="4347972"/>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HaluMem memory_update</a:t>
            </a:r>
          </a:p>
        </p:txBody>
      </p:sp>
      <p:sp>
        <p:nvSpPr>
          <p:cNvPr id="61" name="TextBox 60"/>
          <p:cNvSpPr txBox="1"/>
          <p:nvPr/>
        </p:nvSpPr>
        <p:spPr>
          <a:xfrm>
            <a:off x="4251960" y="4347972"/>
            <a:ext cx="960120" cy="201168"/>
          </a:xfrm>
          <a:prstGeom prst="rect">
            <a:avLst/>
          </a:prstGeom>
          <a:noFill/>
        </p:spPr>
        <p:txBody>
          <a:bodyPr wrap="square" lIns="0" rIns="0" tIns="0" bIns="0" anchor="ctr">
            <a:spAutoFit/>
          </a:bodyPr>
          <a:lstStyle/>
          <a:p>
            <a:pPr algn="ctr"/>
            <a:r>
              <a:rPr sz="950" b="0" i="0">
                <a:solidFill>
                  <a:srgbClr val="141E27"/>
                </a:solidFill>
                <a:latin typeface="Menlo"/>
              </a:rPr>
              <a:t>0.5251</a:t>
            </a:r>
          </a:p>
        </p:txBody>
      </p:sp>
      <p:sp>
        <p:nvSpPr>
          <p:cNvPr id="62" name="TextBox 61"/>
          <p:cNvSpPr txBox="1"/>
          <p:nvPr/>
        </p:nvSpPr>
        <p:spPr>
          <a:xfrm>
            <a:off x="5212080" y="4347972"/>
            <a:ext cx="1188720" cy="201168"/>
          </a:xfrm>
          <a:prstGeom prst="rect">
            <a:avLst/>
          </a:prstGeom>
          <a:noFill/>
        </p:spPr>
        <p:txBody>
          <a:bodyPr wrap="square" lIns="0" rIns="0" tIns="0" bIns="0" anchor="ctr">
            <a:spAutoFit/>
          </a:bodyPr>
          <a:lstStyle/>
          <a:p>
            <a:pPr algn="ctr"/>
            <a:r>
              <a:rPr sz="950" b="1" i="0">
                <a:solidFill>
                  <a:srgbClr val="16685A"/>
                </a:solidFill>
                <a:latin typeface="Menlo"/>
              </a:rPr>
              <a:t>0.7659</a:t>
            </a:r>
          </a:p>
        </p:txBody>
      </p:sp>
      <p:cxnSp>
        <p:nvCxnSpPr>
          <p:cNvPr id="63" name="Connector 62"/>
          <p:cNvCxnSpPr/>
          <p:nvPr/>
        </p:nvCxnSpPr>
        <p:spPr>
          <a:xfrm>
            <a:off x="502920" y="4567428"/>
            <a:ext cx="589788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02920" y="4585716"/>
            <a:ext cx="1143000" cy="201168"/>
          </a:xfrm>
          <a:prstGeom prst="rect">
            <a:avLst/>
          </a:prstGeom>
          <a:noFill/>
        </p:spPr>
        <p:txBody>
          <a:bodyPr wrap="square" lIns="0" rIns="0" tIns="0" bIns="0" anchor="ctr">
            <a:spAutoFit/>
          </a:bodyPr>
          <a:lstStyle/>
          <a:p>
            <a:pPr algn="l"/>
            <a:r>
              <a:rPr sz="950" b="1" i="0">
                <a:solidFill>
                  <a:srgbClr val="4C5C6B"/>
                </a:solidFill>
                <a:latin typeface="Helvetica Neue"/>
              </a:rPr>
              <a:t>Retrieval</a:t>
            </a:r>
          </a:p>
        </p:txBody>
      </p:sp>
      <p:sp>
        <p:nvSpPr>
          <p:cNvPr id="65" name="TextBox 64"/>
          <p:cNvSpPr txBox="1"/>
          <p:nvPr/>
        </p:nvSpPr>
        <p:spPr>
          <a:xfrm>
            <a:off x="1645920" y="4585716"/>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LoCoMo Recall@5</a:t>
            </a:r>
          </a:p>
        </p:txBody>
      </p:sp>
      <p:sp>
        <p:nvSpPr>
          <p:cNvPr id="66" name="TextBox 65"/>
          <p:cNvSpPr txBox="1"/>
          <p:nvPr/>
        </p:nvSpPr>
        <p:spPr>
          <a:xfrm>
            <a:off x="4251960" y="4585716"/>
            <a:ext cx="960120" cy="201168"/>
          </a:xfrm>
          <a:prstGeom prst="rect">
            <a:avLst/>
          </a:prstGeom>
          <a:noFill/>
        </p:spPr>
        <p:txBody>
          <a:bodyPr wrap="square" lIns="0" rIns="0" tIns="0" bIns="0" anchor="ctr">
            <a:spAutoFit/>
          </a:bodyPr>
          <a:lstStyle/>
          <a:p>
            <a:pPr algn="ctr"/>
            <a:r>
              <a:rPr sz="950" b="0" i="0">
                <a:solidFill>
                  <a:srgbClr val="141E27"/>
                </a:solidFill>
                <a:latin typeface="Menlo"/>
              </a:rPr>
              <a:t>0.2111</a:t>
            </a:r>
          </a:p>
        </p:txBody>
      </p:sp>
      <p:sp>
        <p:nvSpPr>
          <p:cNvPr id="67" name="TextBox 66"/>
          <p:cNvSpPr txBox="1"/>
          <p:nvPr/>
        </p:nvSpPr>
        <p:spPr>
          <a:xfrm>
            <a:off x="5212080" y="4585716"/>
            <a:ext cx="1188720" cy="201168"/>
          </a:xfrm>
          <a:prstGeom prst="rect">
            <a:avLst/>
          </a:prstGeom>
          <a:noFill/>
        </p:spPr>
        <p:txBody>
          <a:bodyPr wrap="square" lIns="0" rIns="0" tIns="0" bIns="0" anchor="ctr">
            <a:spAutoFit/>
          </a:bodyPr>
          <a:lstStyle/>
          <a:p>
            <a:pPr algn="ctr"/>
            <a:r>
              <a:rPr sz="950" b="1" i="0">
                <a:solidFill>
                  <a:srgbClr val="16685A"/>
                </a:solidFill>
                <a:latin typeface="Menlo"/>
              </a:rPr>
              <a:t>0.4979</a:t>
            </a:r>
          </a:p>
        </p:txBody>
      </p:sp>
      <p:sp>
        <p:nvSpPr>
          <p:cNvPr id="68" name="TextBox 67"/>
          <p:cNvSpPr txBox="1"/>
          <p:nvPr/>
        </p:nvSpPr>
        <p:spPr>
          <a:xfrm>
            <a:off x="1645920" y="4823459"/>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LoCoMo NDCG@5</a:t>
            </a:r>
          </a:p>
        </p:txBody>
      </p:sp>
      <p:sp>
        <p:nvSpPr>
          <p:cNvPr id="69" name="TextBox 68"/>
          <p:cNvSpPr txBox="1"/>
          <p:nvPr/>
        </p:nvSpPr>
        <p:spPr>
          <a:xfrm>
            <a:off x="4251960" y="4823459"/>
            <a:ext cx="960120" cy="201168"/>
          </a:xfrm>
          <a:prstGeom prst="rect">
            <a:avLst/>
          </a:prstGeom>
          <a:noFill/>
        </p:spPr>
        <p:txBody>
          <a:bodyPr wrap="square" lIns="0" rIns="0" tIns="0" bIns="0" anchor="ctr">
            <a:spAutoFit/>
          </a:bodyPr>
          <a:lstStyle/>
          <a:p>
            <a:pPr algn="ctr"/>
            <a:r>
              <a:rPr sz="950" b="0" i="0">
                <a:solidFill>
                  <a:srgbClr val="141E27"/>
                </a:solidFill>
                <a:latin typeface="Menlo"/>
              </a:rPr>
              <a:t>0.1654</a:t>
            </a:r>
          </a:p>
        </p:txBody>
      </p:sp>
      <p:sp>
        <p:nvSpPr>
          <p:cNvPr id="70" name="TextBox 69"/>
          <p:cNvSpPr txBox="1"/>
          <p:nvPr/>
        </p:nvSpPr>
        <p:spPr>
          <a:xfrm>
            <a:off x="5212080" y="4823459"/>
            <a:ext cx="1188720" cy="201168"/>
          </a:xfrm>
          <a:prstGeom prst="rect">
            <a:avLst/>
          </a:prstGeom>
          <a:noFill/>
        </p:spPr>
        <p:txBody>
          <a:bodyPr wrap="square" lIns="0" rIns="0" tIns="0" bIns="0" anchor="ctr">
            <a:spAutoFit/>
          </a:bodyPr>
          <a:lstStyle/>
          <a:p>
            <a:pPr algn="ctr"/>
            <a:r>
              <a:rPr sz="950" b="1" i="0">
                <a:solidFill>
                  <a:srgbClr val="16685A"/>
                </a:solidFill>
                <a:latin typeface="Menlo"/>
              </a:rPr>
              <a:t>0.4028</a:t>
            </a:r>
          </a:p>
        </p:txBody>
      </p:sp>
      <p:sp>
        <p:nvSpPr>
          <p:cNvPr id="71" name="TextBox 70"/>
          <p:cNvSpPr txBox="1"/>
          <p:nvPr/>
        </p:nvSpPr>
        <p:spPr>
          <a:xfrm>
            <a:off x="1645920" y="5061203"/>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LongMemEval P4</a:t>
            </a:r>
          </a:p>
        </p:txBody>
      </p:sp>
      <p:sp>
        <p:nvSpPr>
          <p:cNvPr id="72" name="TextBox 71"/>
          <p:cNvSpPr txBox="1"/>
          <p:nvPr/>
        </p:nvSpPr>
        <p:spPr>
          <a:xfrm>
            <a:off x="4251960" y="5061203"/>
            <a:ext cx="960120" cy="201168"/>
          </a:xfrm>
          <a:prstGeom prst="rect">
            <a:avLst/>
          </a:prstGeom>
          <a:noFill/>
        </p:spPr>
        <p:txBody>
          <a:bodyPr wrap="square" lIns="0" rIns="0" tIns="0" bIns="0" anchor="ctr">
            <a:spAutoFit/>
          </a:bodyPr>
          <a:lstStyle/>
          <a:p>
            <a:pPr algn="ctr"/>
            <a:r>
              <a:rPr sz="950" b="1" i="0">
                <a:solidFill>
                  <a:srgbClr val="9C4221"/>
                </a:solidFill>
                <a:latin typeface="Menlo"/>
              </a:rPr>
              <a:t>0.8182</a:t>
            </a:r>
          </a:p>
        </p:txBody>
      </p:sp>
      <p:sp>
        <p:nvSpPr>
          <p:cNvPr id="73" name="TextBox 72"/>
          <p:cNvSpPr txBox="1"/>
          <p:nvPr/>
        </p:nvSpPr>
        <p:spPr>
          <a:xfrm>
            <a:off x="5212080" y="5061203"/>
            <a:ext cx="1188720" cy="201168"/>
          </a:xfrm>
          <a:prstGeom prst="rect">
            <a:avLst/>
          </a:prstGeom>
          <a:noFill/>
        </p:spPr>
        <p:txBody>
          <a:bodyPr wrap="square" lIns="0" rIns="0" tIns="0" bIns="0" anchor="ctr">
            <a:spAutoFit/>
          </a:bodyPr>
          <a:lstStyle/>
          <a:p>
            <a:pPr algn="ctr"/>
            <a:r>
              <a:rPr sz="950" b="0" i="0">
                <a:solidFill>
                  <a:srgbClr val="141E27"/>
                </a:solidFill>
                <a:latin typeface="Menlo"/>
              </a:rPr>
              <a:t>0.7727</a:t>
            </a:r>
          </a:p>
        </p:txBody>
      </p:sp>
      <p:cxnSp>
        <p:nvCxnSpPr>
          <p:cNvPr id="74" name="Connector 73"/>
          <p:cNvCxnSpPr/>
          <p:nvPr/>
        </p:nvCxnSpPr>
        <p:spPr>
          <a:xfrm>
            <a:off x="502920" y="5280659"/>
            <a:ext cx="5897880" cy="0"/>
          </a:xfrm>
          <a:prstGeom prst="line">
            <a:avLst/>
          </a:prstGeom>
          <a:ln w="6350">
            <a:solidFill>
              <a:srgbClr val="DBE2E9"/>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502920" y="5298947"/>
            <a:ext cx="1143000" cy="201168"/>
          </a:xfrm>
          <a:prstGeom prst="rect">
            <a:avLst/>
          </a:prstGeom>
          <a:noFill/>
        </p:spPr>
        <p:txBody>
          <a:bodyPr wrap="square" lIns="0" rIns="0" tIns="0" bIns="0" anchor="ctr">
            <a:spAutoFit/>
          </a:bodyPr>
          <a:lstStyle/>
          <a:p>
            <a:pPr algn="l"/>
            <a:r>
              <a:rPr sz="950" b="1" i="0">
                <a:solidFill>
                  <a:srgbClr val="4C5C6B"/>
                </a:solidFill>
                <a:latin typeface="Helvetica Neue"/>
              </a:rPr>
              <a:t>Cost</a:t>
            </a:r>
          </a:p>
        </p:txBody>
      </p:sp>
      <p:sp>
        <p:nvSpPr>
          <p:cNvPr id="76" name="TextBox 75"/>
          <p:cNvSpPr txBox="1"/>
          <p:nvPr/>
        </p:nvSpPr>
        <p:spPr>
          <a:xfrm>
            <a:off x="1645920" y="5298947"/>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Write LLM calls / unit</a:t>
            </a:r>
          </a:p>
        </p:txBody>
      </p:sp>
      <p:sp>
        <p:nvSpPr>
          <p:cNvPr id="77" name="TextBox 76"/>
          <p:cNvSpPr txBox="1"/>
          <p:nvPr/>
        </p:nvSpPr>
        <p:spPr>
          <a:xfrm>
            <a:off x="4251960" y="5298947"/>
            <a:ext cx="960120" cy="201168"/>
          </a:xfrm>
          <a:prstGeom prst="rect">
            <a:avLst/>
          </a:prstGeom>
          <a:noFill/>
        </p:spPr>
        <p:txBody>
          <a:bodyPr wrap="square" lIns="0" rIns="0" tIns="0" bIns="0" anchor="ctr">
            <a:spAutoFit/>
          </a:bodyPr>
          <a:lstStyle/>
          <a:p>
            <a:pPr algn="ctr"/>
            <a:r>
              <a:rPr sz="950" b="0" i="0">
                <a:solidFill>
                  <a:srgbClr val="141E27"/>
                </a:solidFill>
                <a:latin typeface="Menlo"/>
              </a:rPr>
              <a:t>1.6-3.0</a:t>
            </a:r>
          </a:p>
        </p:txBody>
      </p:sp>
      <p:sp>
        <p:nvSpPr>
          <p:cNvPr id="78" name="TextBox 77"/>
          <p:cNvSpPr txBox="1"/>
          <p:nvPr/>
        </p:nvSpPr>
        <p:spPr>
          <a:xfrm>
            <a:off x="5212080" y="5298947"/>
            <a:ext cx="1188720" cy="201168"/>
          </a:xfrm>
          <a:prstGeom prst="rect">
            <a:avLst/>
          </a:prstGeom>
          <a:noFill/>
        </p:spPr>
        <p:txBody>
          <a:bodyPr wrap="square" lIns="0" rIns="0" tIns="0" bIns="0" anchor="ctr">
            <a:spAutoFit/>
          </a:bodyPr>
          <a:lstStyle/>
          <a:p>
            <a:pPr algn="ctr"/>
            <a:r>
              <a:rPr sz="950" b="1" i="0">
                <a:solidFill>
                  <a:srgbClr val="16685A"/>
                </a:solidFill>
                <a:latin typeface="Menlo"/>
              </a:rPr>
              <a:t>1.0-2.0</a:t>
            </a:r>
          </a:p>
        </p:txBody>
      </p:sp>
      <p:sp>
        <p:nvSpPr>
          <p:cNvPr id="79" name="TextBox 78"/>
          <p:cNvSpPr txBox="1"/>
          <p:nvPr/>
        </p:nvSpPr>
        <p:spPr>
          <a:xfrm>
            <a:off x="1645920" y="5536691"/>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Write tokens / unit</a:t>
            </a:r>
          </a:p>
        </p:txBody>
      </p:sp>
      <p:sp>
        <p:nvSpPr>
          <p:cNvPr id="80" name="TextBox 79"/>
          <p:cNvSpPr txBox="1"/>
          <p:nvPr/>
        </p:nvSpPr>
        <p:spPr>
          <a:xfrm>
            <a:off x="4251960" y="5536691"/>
            <a:ext cx="960120" cy="201168"/>
          </a:xfrm>
          <a:prstGeom prst="rect">
            <a:avLst/>
          </a:prstGeom>
          <a:noFill/>
        </p:spPr>
        <p:txBody>
          <a:bodyPr wrap="square" lIns="0" rIns="0" tIns="0" bIns="0" anchor="ctr">
            <a:spAutoFit/>
          </a:bodyPr>
          <a:lstStyle/>
          <a:p>
            <a:pPr algn="ctr"/>
            <a:r>
              <a:rPr sz="950" b="1" i="0">
                <a:solidFill>
                  <a:srgbClr val="9C4221"/>
                </a:solidFill>
                <a:latin typeface="Menlo"/>
              </a:rPr>
              <a:t>1.00x</a:t>
            </a:r>
          </a:p>
        </p:txBody>
      </p:sp>
      <p:sp>
        <p:nvSpPr>
          <p:cNvPr id="81" name="TextBox 80"/>
          <p:cNvSpPr txBox="1"/>
          <p:nvPr/>
        </p:nvSpPr>
        <p:spPr>
          <a:xfrm>
            <a:off x="5212080" y="5536691"/>
            <a:ext cx="1188720" cy="201168"/>
          </a:xfrm>
          <a:prstGeom prst="rect">
            <a:avLst/>
          </a:prstGeom>
          <a:noFill/>
        </p:spPr>
        <p:txBody>
          <a:bodyPr wrap="square" lIns="0" rIns="0" tIns="0" bIns="0" anchor="ctr">
            <a:spAutoFit/>
          </a:bodyPr>
          <a:lstStyle/>
          <a:p>
            <a:pPr algn="ctr"/>
            <a:r>
              <a:rPr sz="950" b="0" i="0">
                <a:solidFill>
                  <a:srgbClr val="141E27"/>
                </a:solidFill>
                <a:latin typeface="Menlo"/>
              </a:rPr>
              <a:t>1.38-3.81x</a:t>
            </a:r>
          </a:p>
        </p:txBody>
      </p:sp>
      <p:sp>
        <p:nvSpPr>
          <p:cNvPr id="82" name="TextBox 81"/>
          <p:cNvSpPr txBox="1"/>
          <p:nvPr/>
        </p:nvSpPr>
        <p:spPr>
          <a:xfrm>
            <a:off x="1645920" y="5774435"/>
            <a:ext cx="2606040" cy="201168"/>
          </a:xfrm>
          <a:prstGeom prst="rect">
            <a:avLst/>
          </a:prstGeom>
          <a:noFill/>
        </p:spPr>
        <p:txBody>
          <a:bodyPr wrap="square" lIns="0" rIns="0" tIns="0" bIns="0" anchor="ctr">
            <a:spAutoFit/>
          </a:bodyPr>
          <a:lstStyle/>
          <a:p>
            <a:pPr algn="l"/>
            <a:r>
              <a:rPr sz="950" b="0" i="0">
                <a:solidFill>
                  <a:srgbClr val="141E27"/>
                </a:solidFill>
                <a:latin typeface="Helvetica Neue"/>
              </a:rPr>
              <a:t>Write latency / unit</a:t>
            </a:r>
          </a:p>
        </p:txBody>
      </p:sp>
      <p:sp>
        <p:nvSpPr>
          <p:cNvPr id="83" name="TextBox 82"/>
          <p:cNvSpPr txBox="1"/>
          <p:nvPr/>
        </p:nvSpPr>
        <p:spPr>
          <a:xfrm>
            <a:off x="4251960" y="5774435"/>
            <a:ext cx="960120" cy="201168"/>
          </a:xfrm>
          <a:prstGeom prst="rect">
            <a:avLst/>
          </a:prstGeom>
          <a:noFill/>
        </p:spPr>
        <p:txBody>
          <a:bodyPr wrap="square" lIns="0" rIns="0" tIns="0" bIns="0" anchor="ctr">
            <a:spAutoFit/>
          </a:bodyPr>
          <a:lstStyle/>
          <a:p>
            <a:pPr algn="ctr"/>
            <a:r>
              <a:rPr sz="950" b="0" i="0">
                <a:solidFill>
                  <a:srgbClr val="141E27"/>
                </a:solidFill>
                <a:latin typeface="Menlo"/>
              </a:rPr>
              <a:t>1.00x</a:t>
            </a:r>
          </a:p>
        </p:txBody>
      </p:sp>
      <p:sp>
        <p:nvSpPr>
          <p:cNvPr id="84" name="TextBox 83"/>
          <p:cNvSpPr txBox="1"/>
          <p:nvPr/>
        </p:nvSpPr>
        <p:spPr>
          <a:xfrm>
            <a:off x="5212080" y="5774435"/>
            <a:ext cx="1188720" cy="201168"/>
          </a:xfrm>
          <a:prstGeom prst="rect">
            <a:avLst/>
          </a:prstGeom>
          <a:noFill/>
        </p:spPr>
        <p:txBody>
          <a:bodyPr wrap="square" lIns="0" rIns="0" tIns="0" bIns="0" anchor="ctr">
            <a:spAutoFit/>
          </a:bodyPr>
          <a:lstStyle/>
          <a:p>
            <a:pPr algn="ctr"/>
            <a:r>
              <a:rPr sz="950" b="1" i="0">
                <a:solidFill>
                  <a:srgbClr val="16685A"/>
                </a:solidFill>
                <a:latin typeface="Menlo"/>
              </a:rPr>
              <a:t>0.28-0.32x</a:t>
            </a:r>
          </a:p>
        </p:txBody>
      </p:sp>
      <p:cxnSp>
        <p:nvCxnSpPr>
          <p:cNvPr id="85" name="Connector 84"/>
          <p:cNvCxnSpPr/>
          <p:nvPr/>
        </p:nvCxnSpPr>
        <p:spPr>
          <a:xfrm>
            <a:off x="502920" y="5980175"/>
            <a:ext cx="5897880" cy="0"/>
          </a:xfrm>
          <a:prstGeom prst="line">
            <a:avLst/>
          </a:prstGeom>
          <a:ln w="22225">
            <a:solidFill>
              <a:srgbClr val="141E27"/>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02920" y="6044183"/>
            <a:ext cx="5852160" cy="182880"/>
          </a:xfrm>
          <a:prstGeom prst="rect">
            <a:avLst/>
          </a:prstGeom>
          <a:noFill/>
        </p:spPr>
        <p:txBody>
          <a:bodyPr wrap="square" lIns="0" rIns="0" tIns="0" bIns="0" anchor="ctr">
            <a:spAutoFit/>
          </a:bodyPr>
          <a:lstStyle/>
          <a:p>
            <a:pPr algn="l"/>
            <a:r>
              <a:rPr sz="850" b="0" i="1">
                <a:solidFill>
                  <a:srgbClr val="7E8D9B"/>
                </a:solidFill>
                <a:latin typeface="Helvetica Neue"/>
              </a:rPr>
              <a:t>Bold marks the better value: green where v2 leads, brown where v1 does.</a:t>
            </a:r>
          </a:p>
        </p:txBody>
      </p:sp>
      <p:sp>
        <p:nvSpPr>
          <p:cNvPr id="87" name="TextBox 86"/>
          <p:cNvSpPr txBox="1"/>
          <p:nvPr/>
        </p:nvSpPr>
        <p:spPr>
          <a:xfrm>
            <a:off x="6492240" y="2816352"/>
            <a:ext cx="5212080" cy="201168"/>
          </a:xfrm>
          <a:prstGeom prst="rect">
            <a:avLst/>
          </a:prstGeom>
          <a:noFill/>
        </p:spPr>
        <p:txBody>
          <a:bodyPr wrap="square" lIns="0" rIns="0" tIns="0" bIns="0" anchor="ctr">
            <a:spAutoFit/>
          </a:bodyPr>
          <a:lstStyle/>
          <a:p>
            <a:pPr algn="l"/>
            <a:r>
              <a:rPr sz="1050" b="1" i="0">
                <a:solidFill>
                  <a:srgbClr val="4C5C6B"/>
                </a:solidFill>
                <a:latin typeface="Helvetica Neue"/>
              </a:rPr>
              <a:t>Key findings</a:t>
            </a:r>
          </a:p>
        </p:txBody>
      </p:sp>
      <p:sp>
        <p:nvSpPr>
          <p:cNvPr id="88" name="TextBox 87"/>
          <p:cNvSpPr txBox="1"/>
          <p:nvPr/>
        </p:nvSpPr>
        <p:spPr>
          <a:xfrm>
            <a:off x="6492240" y="3054096"/>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1</a:t>
            </a:r>
          </a:p>
        </p:txBody>
      </p:sp>
      <p:sp>
        <p:nvSpPr>
          <p:cNvPr id="89" name="TextBox 88"/>
          <p:cNvSpPr txBox="1"/>
          <p:nvPr/>
        </p:nvSpPr>
        <p:spPr>
          <a:xfrm>
            <a:off x="6766559" y="3054096"/>
            <a:ext cx="4937760" cy="201168"/>
          </a:xfrm>
          <a:prstGeom prst="rect">
            <a:avLst/>
          </a:prstGeom>
          <a:noFill/>
        </p:spPr>
        <p:txBody>
          <a:bodyPr wrap="square" lIns="0" rIns="0" tIns="0" bIns="0" anchor="ctr">
            <a:spAutoFit/>
          </a:bodyPr>
          <a:lstStyle/>
          <a:p>
            <a:pPr algn="l"/>
            <a:r>
              <a:rPr sz="1019" b="1" i="0">
                <a:solidFill>
                  <a:srgbClr val="141E27"/>
                </a:solidFill>
                <a:latin typeface="Helvetica Neue"/>
              </a:rPr>
              <a:t>v1 discards 29% of its own extraction.</a:t>
            </a:r>
          </a:p>
        </p:txBody>
      </p:sp>
      <p:sp>
        <p:nvSpPr>
          <p:cNvPr id="90" name="TextBox 89"/>
          <p:cNvSpPr txBox="1"/>
          <p:nvPr/>
        </p:nvSpPr>
        <p:spPr>
          <a:xfrm>
            <a:off x="6766559" y="3255264"/>
            <a:ext cx="4937760" cy="640080"/>
          </a:xfrm>
          <a:prstGeom prst="rect">
            <a:avLst/>
          </a:prstGeom>
          <a:noFill/>
        </p:spPr>
        <p:txBody>
          <a:bodyPr wrap="square" lIns="0" rIns="0" tIns="0" bIns="0">
            <a:spAutoFit/>
          </a:bodyPr>
          <a:lstStyle/>
          <a:p>
            <a:pPr>
              <a:lnSpc>
                <a:spcPct val="112000"/>
              </a:lnSpc>
            </a:pPr>
            <a:r>
              <a:rPr sz="919">
                <a:solidFill>
                  <a:srgbClr val="4C5C6B"/>
                </a:solidFill>
                <a:latin typeface="Helvetica Neue"/>
              </a:rPr>
              <a:t>It extracts more candidate facts than v2 (747 vs 673) yet ends with fewer memories (532 vs 673). The 207 UPDATE calls rewrite existing entries in place, so those facts never become retrievable items. v1's weaker Summary scores are not an extraction failure but a loss inflicted by its own second stage.</a:t>
            </a:r>
          </a:p>
        </p:txBody>
      </p:sp>
      <p:sp>
        <p:nvSpPr>
          <p:cNvPr id="91" name="TextBox 90"/>
          <p:cNvSpPr txBox="1"/>
          <p:nvPr/>
        </p:nvSpPr>
        <p:spPr>
          <a:xfrm>
            <a:off x="6492240" y="3895344"/>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2</a:t>
            </a:r>
          </a:p>
        </p:txBody>
      </p:sp>
      <p:sp>
        <p:nvSpPr>
          <p:cNvPr id="92" name="TextBox 91"/>
          <p:cNvSpPr txBox="1"/>
          <p:nvPr/>
        </p:nvSpPr>
        <p:spPr>
          <a:xfrm>
            <a:off x="6766559" y="3895344"/>
            <a:ext cx="4937760" cy="201168"/>
          </a:xfrm>
          <a:prstGeom prst="rect">
            <a:avLst/>
          </a:prstGeom>
          <a:noFill/>
        </p:spPr>
        <p:txBody>
          <a:bodyPr wrap="square" lIns="0" rIns="0" tIns="0" bIns="0" anchor="ctr">
            <a:spAutoFit/>
          </a:bodyPr>
          <a:lstStyle/>
          <a:p>
            <a:pPr algn="l"/>
            <a:r>
              <a:rPr sz="1019" b="1" i="0">
                <a:solidFill>
                  <a:srgbClr val="141E27"/>
                </a:solidFill>
                <a:latin typeface="Helvetica Neue"/>
              </a:rPr>
              <a:t>Append-only wins the update metric for a structural reason.</a:t>
            </a:r>
          </a:p>
        </p:txBody>
      </p:sp>
      <p:sp>
        <p:nvSpPr>
          <p:cNvPr id="93" name="TextBox 92"/>
          <p:cNvSpPr txBox="1"/>
          <p:nvPr/>
        </p:nvSpPr>
        <p:spPr>
          <a:xfrm>
            <a:off x="6766559" y="4096511"/>
            <a:ext cx="4937760" cy="640080"/>
          </a:xfrm>
          <a:prstGeom prst="rect">
            <a:avLst/>
          </a:prstGeom>
          <a:noFill/>
        </p:spPr>
        <p:txBody>
          <a:bodyPr wrap="square" lIns="0" rIns="0" tIns="0" bIns="0">
            <a:spAutoFit/>
          </a:bodyPr>
          <a:lstStyle/>
          <a:p>
            <a:pPr>
              <a:lnSpc>
                <a:spcPct val="112000"/>
              </a:lnSpc>
            </a:pPr>
            <a:r>
              <a:rPr sz="919">
                <a:solidFill>
                  <a:srgbClr val="4C5C6B"/>
                </a:solidFill>
                <a:latin typeface="Helvetica Neue"/>
              </a:rPr>
              <a:t>HaluMem's memory_update only asks whether the new value was recorded; it has no category for a stale value left behind. v2 passes by appending, while v1 fails whenever its rewrite is imperfect. The metric therefore favours append-only designs.</a:t>
            </a:r>
          </a:p>
        </p:txBody>
      </p:sp>
      <p:sp>
        <p:nvSpPr>
          <p:cNvPr id="94" name="TextBox 93"/>
          <p:cNvSpPr txBox="1"/>
          <p:nvPr/>
        </p:nvSpPr>
        <p:spPr>
          <a:xfrm>
            <a:off x="6492240" y="4736592"/>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3</a:t>
            </a:r>
          </a:p>
        </p:txBody>
      </p:sp>
      <p:sp>
        <p:nvSpPr>
          <p:cNvPr id="95" name="TextBox 94"/>
          <p:cNvSpPr txBox="1"/>
          <p:nvPr/>
        </p:nvSpPr>
        <p:spPr>
          <a:xfrm>
            <a:off x="6766559" y="4736592"/>
            <a:ext cx="4937760" cy="201168"/>
          </a:xfrm>
          <a:prstGeom prst="rect">
            <a:avLst/>
          </a:prstGeom>
          <a:noFill/>
        </p:spPr>
        <p:txBody>
          <a:bodyPr wrap="square" lIns="0" rIns="0" tIns="0" bIns="0" anchor="ctr">
            <a:spAutoFit/>
          </a:bodyPr>
          <a:lstStyle/>
          <a:p>
            <a:pPr algn="l"/>
            <a:r>
              <a:rPr sz="1019" b="1" i="0">
                <a:solidFill>
                  <a:srgbClr val="141E27"/>
                </a:solidFill>
                <a:latin typeface="Helvetica Neue"/>
              </a:rPr>
              <a:t>The CRUD stage also costs retrieval coverage.</a:t>
            </a:r>
          </a:p>
        </p:txBody>
      </p:sp>
      <p:sp>
        <p:nvSpPr>
          <p:cNvPr id="96" name="TextBox 95"/>
          <p:cNvSpPr txBox="1"/>
          <p:nvPr/>
        </p:nvSpPr>
        <p:spPr>
          <a:xfrm>
            <a:off x="6766559" y="4937759"/>
            <a:ext cx="4937760" cy="640080"/>
          </a:xfrm>
          <a:prstGeom prst="rect">
            <a:avLst/>
          </a:prstGeom>
          <a:noFill/>
        </p:spPr>
        <p:txBody>
          <a:bodyPr wrap="square" lIns="0" rIns="0" tIns="0" bIns="0">
            <a:spAutoFit/>
          </a:bodyPr>
          <a:lstStyle/>
          <a:p>
            <a:pPr>
              <a:lnSpc>
                <a:spcPct val="112000"/>
              </a:lnSpc>
            </a:pPr>
            <a:r>
              <a:rPr sz="919">
                <a:solidFill>
                  <a:srgbClr val="4C5C6B"/>
                </a:solidFill>
                <a:latin typeface="Helvetica Neue"/>
              </a:rPr>
              <a:t>With near-identical store sizes (284 vs 276), v1's memories span only 186 of 419 LoCoMo turns against v2's 218, because merged entries keep just one source id. This, not store size, drives the 2.4x Recall@5 gap.</a:t>
            </a:r>
          </a:p>
        </p:txBody>
      </p:sp>
      <p:sp>
        <p:nvSpPr>
          <p:cNvPr id="97" name="TextBox 96"/>
          <p:cNvSpPr txBox="1"/>
          <p:nvPr/>
        </p:nvSpPr>
        <p:spPr>
          <a:xfrm>
            <a:off x="6492240" y="5577840"/>
            <a:ext cx="256032" cy="201168"/>
          </a:xfrm>
          <a:prstGeom prst="rect">
            <a:avLst/>
          </a:prstGeom>
          <a:noFill/>
        </p:spPr>
        <p:txBody>
          <a:bodyPr wrap="square" lIns="0" rIns="0" tIns="0" bIns="0" anchor="ctr">
            <a:spAutoFit/>
          </a:bodyPr>
          <a:lstStyle/>
          <a:p>
            <a:pPr algn="l"/>
            <a:r>
              <a:rPr sz="1100" b="1" i="0">
                <a:solidFill>
                  <a:srgbClr val="16685A"/>
                </a:solidFill>
                <a:latin typeface="Helvetica Neue"/>
              </a:rPr>
              <a:t>4</a:t>
            </a:r>
          </a:p>
        </p:txBody>
      </p:sp>
      <p:sp>
        <p:nvSpPr>
          <p:cNvPr id="98" name="TextBox 97"/>
          <p:cNvSpPr txBox="1"/>
          <p:nvPr/>
        </p:nvSpPr>
        <p:spPr>
          <a:xfrm>
            <a:off x="6766559" y="5577840"/>
            <a:ext cx="4937760" cy="201168"/>
          </a:xfrm>
          <a:prstGeom prst="rect">
            <a:avLst/>
          </a:prstGeom>
          <a:noFill/>
        </p:spPr>
        <p:txBody>
          <a:bodyPr wrap="square" lIns="0" rIns="0" tIns="0" bIns="0" anchor="ctr">
            <a:spAutoFit/>
          </a:bodyPr>
          <a:lstStyle/>
          <a:p>
            <a:pPr algn="l"/>
            <a:r>
              <a:rPr sz="1019" b="1" i="0">
                <a:solidFill>
                  <a:srgbClr val="141E27"/>
                </a:solidFill>
                <a:latin typeface="Helvetica Neue"/>
              </a:rPr>
              <a:t>Deduplication only pays off at scale.</a:t>
            </a:r>
          </a:p>
        </p:txBody>
      </p:sp>
      <p:sp>
        <p:nvSpPr>
          <p:cNvPr id="99" name="TextBox 98"/>
          <p:cNvSpPr txBox="1"/>
          <p:nvPr/>
        </p:nvSpPr>
        <p:spPr>
          <a:xfrm>
            <a:off x="6766559" y="5779007"/>
            <a:ext cx="4937760" cy="640080"/>
          </a:xfrm>
          <a:prstGeom prst="rect">
            <a:avLst/>
          </a:prstGeom>
          <a:noFill/>
        </p:spPr>
        <p:txBody>
          <a:bodyPr wrap="square" lIns="0" rIns="0" tIns="0" bIns="0">
            <a:spAutoFit/>
          </a:bodyPr>
          <a:lstStyle/>
          <a:p>
            <a:pPr>
              <a:lnSpc>
                <a:spcPct val="112000"/>
              </a:lnSpc>
            </a:pPr>
            <a:r>
              <a:rPr sz="919">
                <a:solidFill>
                  <a:srgbClr val="4C5C6B"/>
                </a:solidFill>
                <a:latin typeface="Helvetica Neue"/>
              </a:rPr>
              <a:t>v1 leads on LongMemEval alone (P4 0.8182 vs 0.7727), the benchmark with the largest haystack, where v2 accumulates 986 entries per question against 838 and retrieval noise begins to dominate.</a:t>
            </a:r>
          </a:p>
        </p:txBody>
      </p:sp>
      <p:cxnSp>
        <p:nvCxnSpPr>
          <p:cNvPr id="100" name="Connector 99"/>
          <p:cNvCxnSpPr/>
          <p:nvPr/>
        </p:nvCxnSpPr>
        <p:spPr>
          <a:xfrm>
            <a:off x="502920" y="6455664"/>
            <a:ext cx="11183112" cy="0"/>
          </a:xfrm>
          <a:prstGeom prst="line">
            <a:avLst/>
          </a:prstGeom>
          <a:ln w="9525">
            <a:solidFill>
              <a:srgbClr val="DBE2E9"/>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02920" y="6510528"/>
            <a:ext cx="11155680" cy="201168"/>
          </a:xfrm>
          <a:prstGeom prst="rect">
            <a:avLst/>
          </a:prstGeom>
          <a:noFill/>
        </p:spPr>
        <p:txBody>
          <a:bodyPr wrap="square" lIns="0" rIns="0" tIns="0" bIns="0" anchor="ctr">
            <a:spAutoFit/>
          </a:bodyPr>
          <a:lstStyle/>
          <a:p>
            <a:pPr algn="l"/>
            <a:r>
              <a:rPr sz="850" b="0" i="1">
                <a:solidFill>
                  <a:srgbClr val="7E8D9B"/>
                </a:solidFill>
                <a:latin typeface="Helvetica Neue"/>
              </a:rPr>
              <a:t>Note.  All values from the cost-instrumented rerun (batch 2). Write-path counts are the ADD / UPDATE / DELETE events Mem0 reports per session; net change is final store size minus facts extracted.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