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420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E8D9B"/>
                </a:solidFill>
                <a:latin typeface="PingFang TC"/>
              </a:rPr>
              <a:t>LAB PROGRESS ・ 資料集歸因能力盤點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20040"/>
            <a:ext cx="11420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41E27"/>
                </a:solidFill>
                <a:latin typeface="PingFang TC"/>
              </a:rPr>
              <a:t>哪些資料集「分得出來」是哪一段壞掉？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94944"/>
            <a:ext cx="11420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>
                <a:solidFill>
                  <a:srgbClr val="4C5C6B"/>
                </a:solidFill>
                <a:latin typeface="PingFang TC"/>
              </a:rPr>
              <a:t>上一版的表在問「這個子集測哪一段失效」—— 那是</a:t>
            </a:r>
            <a:r>
              <a:rPr sz="840" b="1">
                <a:solidFill>
                  <a:srgbClr val="141E27"/>
                </a:solidFill>
                <a:latin typeface="PingFang TC"/>
              </a:rPr>
              <a:t>先驗壓力點，不是歸因</a:t>
            </a:r>
            <a:r>
              <a:rPr sz="840" b="0">
                <a:solidFill>
                  <a:srgbClr val="4C5C6B"/>
                </a:solidFill>
                <a:latin typeface="PingFang TC"/>
              </a:rPr>
              <a:t>。任何子集答錯，四種失效都可能是元凶。這一版換一個問題：</a:t>
            </a:r>
            <a:r>
              <a:rPr sz="840" b="1">
                <a:solidFill>
                  <a:srgbClr val="141E27"/>
                </a:solidFill>
                <a:latin typeface="PingFang TC"/>
              </a:rPr>
              <a:t>這個資料集給不給我中介標註，讓我把失敗切到特定階段？</a:t>
            </a:r>
            <a:r>
              <a:rPr sz="840" b="0">
                <a:solidFill>
                  <a:srgbClr val="4C5C6B"/>
                </a:solidFill>
                <a:latin typeface="PingFang TC"/>
              </a:rPr>
              <a:t>　答案取決於一條四級階梯，四個資料集卡在不同高度。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96696"/>
            <a:ext cx="2704338" cy="566928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 w="9525">
            <a:solidFill>
              <a:srgbClr val="A4CD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3776" y="1060704"/>
            <a:ext cx="248488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6685A"/>
                </a:solidFill>
                <a:latin typeface="PingFang TC"/>
              </a:rPr>
              <a:t>SUMMARY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23444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壓成記憶時刪掉或扭曲關鍵資訊</a:t>
            </a:r>
          </a:p>
          <a:p>
            <a:pPr algn="l">
              <a:lnSpc>
                <a:spcPct val="120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「致命花生過敏」→「花生過敏」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4106" y="1197864"/>
            <a:ext cx="128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7C3CE"/>
                </a:solidFill>
                <a:latin typeface="PingFang T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9554" y="996696"/>
            <a:ext cx="2704338" cy="566928"/>
          </a:xfrm>
          <a:prstGeom prst="roundRect">
            <a:avLst>
              <a:gd name="adj" fmla="val 8000"/>
            </a:avLst>
          </a:prstGeom>
          <a:solidFill>
            <a:srgbClr val="E8EEF9"/>
          </a:solidFill>
          <a:ln w="9525">
            <a:solidFill>
              <a:srgbClr val="ADB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99282" y="1060704"/>
            <a:ext cx="248488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A4A8E"/>
                </a:solidFill>
                <a:latin typeface="PingFang TC"/>
              </a:rPr>
              <a:t>STORAGE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9282" y="123444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(a) 拒絕覆寫過時事實  (b) 誤判可並存為矛盾</a:t>
            </a:r>
          </a:p>
          <a:p>
            <a:pPr algn="l">
              <a:lnSpc>
                <a:spcPct val="120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(c) 錯誤更新資料  (d) 儲存結構造成資訊喪失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9612" y="1197864"/>
            <a:ext cx="128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7C3CE"/>
                </a:solidFill>
                <a:latin typeface="PingFang T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996696"/>
            <a:ext cx="2704338" cy="566928"/>
          </a:xfrm>
          <a:prstGeom prst="roundRect">
            <a:avLst>
              <a:gd name="adj" fmla="val 8000"/>
            </a:avLst>
          </a:prstGeom>
          <a:solidFill>
            <a:srgbClr val="F8F0DE"/>
          </a:solidFill>
          <a:ln w="9525">
            <a:solidFill>
              <a:srgbClr val="DFC3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4788" y="1060704"/>
            <a:ext cx="248488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87590C"/>
                </a:solidFill>
                <a:latin typeface="PingFang TC"/>
              </a:rPr>
              <a:t>RETRIEVAL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4788" y="123444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沒撈回相關記憶，或撈回語意相近</a:t>
            </a:r>
          </a:p>
          <a:p>
            <a:pPr algn="l">
              <a:lnSpc>
                <a:spcPct val="120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但情境不對的記憶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5118" y="1197864"/>
            <a:ext cx="128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7C3CE"/>
                </a:solidFill>
                <a:latin typeface="PingFang T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6" y="996696"/>
            <a:ext cx="2704338" cy="566928"/>
          </a:xfrm>
          <a:prstGeom prst="roundRect">
            <a:avLst>
              <a:gd name="adj" fmla="val 8000"/>
            </a:avLst>
          </a:prstGeom>
          <a:solidFill>
            <a:srgbClr val="F5E8F0"/>
          </a:solidFill>
          <a:ln w="9525">
            <a:solidFill>
              <a:srgbClr val="DCB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10294" y="1060704"/>
            <a:ext cx="248488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782D58"/>
                </a:solidFill>
                <a:latin typeface="PingFang TC"/>
              </a:rPr>
              <a:t>REASONING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0294" y="123444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記憶存對也撈對了，模型仍答錯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1673352"/>
            <a:ext cx="11420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41E27"/>
                </a:solidFill>
                <a:latin typeface="PingFang TC"/>
              </a:rPr>
              <a:t>歸因能力階梯</a:t>
            </a:r>
            <a:r>
              <a:rPr sz="700" b="0">
                <a:solidFill>
                  <a:srgbClr val="4C5C6B"/>
                </a:solidFill>
                <a:latin typeface="PingFang TC"/>
              </a:rPr>
              <a:t>　標註粒度決定你能切到多細。歸因 ＝ 取「第一個斷掉的關卡」；沒有那一級的標註，那一刀就切不下去。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1856231"/>
            <a:ext cx="28072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84048" y="1856231"/>
            <a:ext cx="2807208" cy="25603"/>
          </a:xfrm>
          <a:prstGeom prst="roundRect">
            <a:avLst>
              <a:gd name="adj" fmla="val 40000"/>
            </a:avLst>
          </a:prstGeom>
          <a:solidFill>
            <a:srgbClr val="B7C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75488" y="1920239"/>
            <a:ext cx="262432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7E8D9B"/>
                </a:solidFill>
                <a:latin typeface="PingFang TC"/>
              </a:rPr>
              <a:t>L0</a:t>
            </a:r>
            <a:r>
              <a:rPr sz="780" b="1">
                <a:solidFill>
                  <a:srgbClr val="141E27"/>
                </a:solidFill>
                <a:latin typeface="PingFang TC"/>
              </a:rPr>
              <a:t>　只有（問題, 答案）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2057400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唯一輸出是端到端對錯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2176272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7E8D9B"/>
                </a:solidFill>
                <a:latin typeface="PingFang TC"/>
              </a:rPr>
              <a:t>可切：無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55263" y="1856231"/>
            <a:ext cx="28072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255263" y="1856231"/>
            <a:ext cx="2807208" cy="25603"/>
          </a:xfrm>
          <a:prstGeom prst="roundRect">
            <a:avLst>
              <a:gd name="adj" fmla="val 40000"/>
            </a:avLst>
          </a:prstGeom>
          <a:solidFill>
            <a:srgbClr val="B7C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46703" y="1920239"/>
            <a:ext cx="262432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7E8D9B"/>
                </a:solidFill>
                <a:latin typeface="PingFang TC"/>
              </a:rPr>
              <a:t>L1</a:t>
            </a:r>
            <a:r>
              <a:rPr sz="780" b="1">
                <a:solidFill>
                  <a:srgbClr val="141E27"/>
                </a:solidFill>
                <a:latin typeface="PingFang TC"/>
              </a:rPr>
              <a:t>　＋ evidence 指標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6703" y="2057400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標出哪幾句對話是證據（turn-level）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6703" y="2176272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7E8D9B"/>
                </a:solidFill>
                <a:latin typeface="PingFang TC"/>
              </a:rPr>
              <a:t>可切：寫入側（Summary+Storage 合併）／ Retrieval ／ Reasoning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79" y="1856231"/>
            <a:ext cx="28072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26479" y="1856231"/>
            <a:ext cx="2807208" cy="25603"/>
          </a:xfrm>
          <a:prstGeom prst="roundRect">
            <a:avLst>
              <a:gd name="adj" fmla="val 40000"/>
            </a:avLst>
          </a:prstGeom>
          <a:solidFill>
            <a:srgbClr val="B7C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7919" y="1920239"/>
            <a:ext cx="262432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7E8D9B"/>
                </a:solidFill>
                <a:latin typeface="PingFang TC"/>
              </a:rPr>
              <a:t>L2</a:t>
            </a:r>
            <a:r>
              <a:rPr sz="780" b="1">
                <a:solidFill>
                  <a:srgbClr val="141E27"/>
                </a:solidFill>
                <a:latin typeface="PingFang TC"/>
              </a:rPr>
              <a:t>　＋ 原子記憶點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19" y="2057400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ground truth 是一條條原子事實，非整段對話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19" y="2176272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7E8D9B"/>
                </a:solidFill>
                <a:latin typeface="PingFang TC"/>
              </a:rPr>
              <a:t>可切：Summary 與 Storage 分離（P1 Strict／Distort 成立）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7695" y="1856231"/>
            <a:ext cx="28072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4CD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997695" y="1856231"/>
            <a:ext cx="2807208" cy="25603"/>
          </a:xfrm>
          <a:prstGeom prst="roundRect">
            <a:avLst>
              <a:gd name="adj" fmla="val 40000"/>
            </a:avLst>
          </a:prstGeom>
          <a:solidFill>
            <a:srgbClr val="166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89135" y="1920239"/>
            <a:ext cx="262432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6685A"/>
                </a:solidFill>
                <a:latin typeface="PingFang TC"/>
              </a:rPr>
              <a:t>L3</a:t>
            </a:r>
            <a:r>
              <a:rPr sz="780" b="1">
                <a:solidFill>
                  <a:srgbClr val="141E27"/>
                </a:solidFill>
                <a:latin typeface="PingFang TC"/>
              </a:rPr>
              <a:t>　＋ v1／v2 更新連結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135" y="2057400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標出這條新記憶取代了哪一條舊記憶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9135" y="2176272"/>
            <a:ext cx="2624327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16685A"/>
                </a:solidFill>
                <a:latin typeface="PingFang TC"/>
              </a:rPr>
              <a:t>可切：Storage 內部四子軸（P1u／P2／P3／P4b）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2468880"/>
            <a:ext cx="11420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41E27"/>
                </a:solidFill>
                <a:latin typeface="PingFang TC"/>
              </a:rPr>
              <a:t>四個資料集 × 四個階段</a:t>
            </a:r>
            <a:r>
              <a:rPr sz="700" b="0">
                <a:solidFill>
                  <a:srgbClr val="4C5C6B"/>
                </a:solidFill>
                <a:latin typeface="PingFang TC"/>
              </a:rPr>
              <a:t>　能不能歸因、靠什麼標註。依歸因能力由高到低排列；列首為階梯高度、標註型態與實際數量。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68296" y="2651760"/>
            <a:ext cx="2311146" cy="201168"/>
          </a:xfrm>
          <a:prstGeom prst="roundRect">
            <a:avLst>
              <a:gd name="adj" fmla="val 12000"/>
            </a:avLst>
          </a:prstGeom>
          <a:solidFill>
            <a:srgbClr val="E8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368296" y="2692908"/>
            <a:ext cx="231114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16685A"/>
                </a:solidFill>
                <a:latin typeface="PingFang TC"/>
              </a:rPr>
              <a:t>Summary Failure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43450" y="2651760"/>
            <a:ext cx="2311146" cy="201168"/>
          </a:xfrm>
          <a:prstGeom prst="roundRect">
            <a:avLst>
              <a:gd name="adj" fmla="val 12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743450" y="2692908"/>
            <a:ext cx="231114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2A4A8E"/>
                </a:solidFill>
                <a:latin typeface="PingFang TC"/>
              </a:rPr>
              <a:t>Storage Failure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18604" y="2651760"/>
            <a:ext cx="2311146" cy="201168"/>
          </a:xfrm>
          <a:prstGeom prst="roundRect">
            <a:avLst>
              <a:gd name="adj" fmla="val 12000"/>
            </a:avLst>
          </a:prstGeom>
          <a:solidFill>
            <a:srgbClr val="F8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18604" y="2692908"/>
            <a:ext cx="231114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87590C"/>
                </a:solidFill>
                <a:latin typeface="PingFang TC"/>
              </a:rPr>
              <a:t>Retrieval Failure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3758" y="2651760"/>
            <a:ext cx="2311146" cy="201168"/>
          </a:xfrm>
          <a:prstGeom prst="roundRect">
            <a:avLst>
              <a:gd name="adj" fmla="val 12000"/>
            </a:avLst>
          </a:prstGeom>
          <a:solidFill>
            <a:srgbClr val="F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93758" y="2692908"/>
            <a:ext cx="231114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782D58"/>
                </a:solidFill>
                <a:latin typeface="PingFang TC"/>
              </a:rPr>
              <a:t>Reasoning Failure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" y="2898648"/>
            <a:ext cx="1920240" cy="749808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75488" y="2944368"/>
            <a:ext cx="116128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141E27"/>
                </a:solidFill>
                <a:latin typeface="PingFang TC"/>
              </a:rPr>
              <a:t>HaluMem-Medium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82495" y="2942539"/>
            <a:ext cx="530352" cy="128016"/>
          </a:xfrm>
          <a:prstGeom prst="roundRect">
            <a:avLst>
              <a:gd name="adj" fmla="val 16000"/>
            </a:avLst>
          </a:prstGeom>
          <a:solidFill>
            <a:srgbClr val="E8F3F0"/>
          </a:solidFill>
          <a:ln w="9525">
            <a:solidFill>
              <a:srgbClr val="A4CD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682495" y="2961741"/>
            <a:ext cx="53035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1">
                <a:solidFill>
                  <a:srgbClr val="16685A"/>
                </a:solidFill>
                <a:latin typeface="PingFang TC"/>
              </a:rPr>
              <a:t>L3 原生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" y="3095244"/>
            <a:ext cx="17373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4C5C6B"/>
                </a:solidFill>
                <a:latin typeface="PingFang TC"/>
              </a:rPr>
              <a:t>原子記憶點 ＋ 原生 v1／v2 連結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3223260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20 users ・ 14,948 memory points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Persona 9,116 ／ Event 4,550 ／ Rel. 1,282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3,122 筆 is_update，全數附 original_memories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3,467 題，2,639 題（76%）附 evidence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68296" y="2898648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459736" y="2953512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780" b="1">
                <a:solidFill>
                  <a:srgbClr val="16685A"/>
                </a:solidFill>
                <a:latin typeface="PingFang TC"/>
              </a:rPr>
              <a:t>可歸因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59736" y="3104388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evidence 本身即原子 memory_content，可逐條比對記憶庫，分得出「沒抽到」與「抽到但失真」。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59736" y="3502151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P1　Loose ・ Strict ・ Distort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43450" y="2898648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834890" y="2953512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2A4A8E"/>
                </a:solidFill>
                <a:latin typeface="PingFang TC"/>
              </a:rPr>
              <a:t>▪　</a:t>
            </a:r>
            <a:r>
              <a:rPr sz="780" b="1">
                <a:solidFill>
                  <a:srgbClr val="2A4A8E"/>
                </a:solidFill>
                <a:latin typeface="PingFang TC"/>
              </a:rPr>
              <a:t>可歸因 ・ 四子軸全開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34890" y="3104388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original_memories 直接給出舊值原文 —— 四個資料集裡唯一原生的 v1／v2 連結，不需推導。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34890" y="3502151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P1u ・ P2 對齊 ・ P3 決議 ・ P4b 污染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18604" y="2898648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210044" y="2953512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780" b="1">
                <a:solidFill>
                  <a:srgbClr val="87590C"/>
                </a:solidFill>
                <a:latin typeface="PingFang TC"/>
              </a:rPr>
              <a:t>可歸因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10044" y="3104388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evidence 是事實文字而非 turn 指標，可直接查它在不在 retrieved context 裡。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10044" y="3502151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P4　／　現行 qa_attribution.py 已在跑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493758" y="2898648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585198" y="2953512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780" b="1">
                <a:solidFill>
                  <a:srgbClr val="782D58"/>
                </a:solidFill>
                <a:latin typeface="PingFang TC"/>
              </a:rPr>
              <a:t>可歸因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85198" y="3104388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Memory Boundary 828 題無 evidence（答案就是「沒提過」）—— 不是缺陷，是天然的拒答探針。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85198" y="3502151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P5 抉擇 ＋ </a:t>
            </a:r>
            <a:r>
              <a:rPr sz="630" b="1">
                <a:solidFill>
                  <a:srgbClr val="C03030"/>
                </a:solidFill>
                <a:latin typeface="PingFang TC"/>
              </a:rPr>
              <a:t>P5b 拒答</a:t>
            </a:r>
            <a:r>
              <a:rPr sz="630" b="0">
                <a:solidFill>
                  <a:srgbClr val="7E8D9B"/>
                </a:solidFill>
                <a:latin typeface="PingFang TC"/>
              </a:rPr>
              <a:t> 828 題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" y="3694176"/>
            <a:ext cx="1920240" cy="749808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75488" y="3739896"/>
            <a:ext cx="116128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141E27"/>
                </a:solidFill>
                <a:latin typeface="PingFang TC"/>
              </a:rPr>
              <a:t>LongMemEval-S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82495" y="3738067"/>
            <a:ext cx="530352" cy="128016"/>
          </a:xfrm>
          <a:prstGeom prst="roundRect">
            <a:avLst>
              <a:gd name="adj" fmla="val 16000"/>
            </a:avLst>
          </a:prstGeom>
          <a:solidFill>
            <a:srgbClr val="E8EEF9"/>
          </a:solidFill>
          <a:ln w="9525">
            <a:solidFill>
              <a:srgbClr val="ADB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682495" y="3757269"/>
            <a:ext cx="53035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1">
                <a:solidFill>
                  <a:srgbClr val="2A4A8E"/>
                </a:solidFill>
                <a:latin typeface="PingFang TC"/>
              </a:rPr>
              <a:t>L1→L3*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5488" y="3890772"/>
            <a:ext cx="17373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4C5C6B"/>
                </a:solidFill>
                <a:latin typeface="PingFang TC"/>
              </a:rPr>
              <a:t>turn-level evidence；v1／v2 可低成本推導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" y="4018787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500 題（含 30 題 abstention）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haystack 中位 48 sessions ／ 491 turns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has_answer 逐句旗標，非原子事實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knowledge-update 72 題 100% 為兩段式更新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368296" y="3694176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2459736" y="3749039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16685A"/>
                </a:solidFill>
                <a:latin typeface="PingFang TC"/>
              </a:rPr>
              <a:t>◇　</a:t>
            </a:r>
            <a:r>
              <a:rPr sz="780" b="1">
                <a:solidFill>
                  <a:srgbClr val="16685A"/>
                </a:solidFill>
                <a:latin typeface="PingFang TC"/>
              </a:rPr>
              <a:t>需改定義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59736" y="3899915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證據是整段對話句（中位 289 字、SSA 1,181 字），直接比會灌爆失真率 → 改查 gold answer。推導型子集要改查成分：temporal 127 題答案原文不存在。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59736" y="4297680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P1-ans（代理版）＋ </a:t>
            </a:r>
            <a:r>
              <a:rPr sz="630" b="1">
                <a:solidFill>
                  <a:srgbClr val="C03030"/>
                </a:solidFill>
                <a:latin typeface="PingFang TC"/>
              </a:rPr>
              <a:t>P1t 時間戳保留率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43450" y="3694176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834890" y="3749039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2A4A8E"/>
                </a:solidFill>
                <a:latin typeface="PingFang TC"/>
              </a:rPr>
              <a:t>◇　</a:t>
            </a:r>
            <a:r>
              <a:rPr sz="780" b="1">
                <a:solidFill>
                  <a:srgbClr val="2A4A8E"/>
                </a:solidFill>
                <a:latin typeface="PingFang TC"/>
              </a:rPr>
              <a:t>一次性標註後可歸因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34890" y="3899915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knowledge-update 72 題全部恰好 2 個證據 session，新舊兩句都已被 has_answer 標出，只缺方向。「時序較晚＝v2」明確反例僅 5／72 → LLM 標一次即可，免重跑 backend。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34890" y="4297680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P1u ・ P2 ・ P3 ・ P4b（標註後全開）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118604" y="3694176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210044" y="3749039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780" b="1">
                <a:solidFill>
                  <a:srgbClr val="87590C"/>
                </a:solidFill>
                <a:latin typeface="PingFang TC"/>
              </a:rPr>
              <a:t>可歸因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10044" y="3899915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has_answer 可對回原文再查 retrieved context。haystack 最深（中位 491 turns）。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10044" y="4297680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P4　／　P0 已交叉驗證：Letta 0.124 vs HaluMem 0.139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493758" y="3694176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585198" y="3749039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780" b="1">
                <a:solidFill>
                  <a:srgbClr val="782D58"/>
                </a:solidFill>
                <a:latin typeface="PingFang TC"/>
              </a:rPr>
              <a:t>可歸因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85198" y="3899915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abstention 30 題無任何證據句 → 寫入側探針全部未定義，只能當反向的 reader 探針。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85198" y="4297680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P5 廣義 ＋ </a:t>
            </a:r>
            <a:r>
              <a:rPr sz="630" b="1">
                <a:solidFill>
                  <a:srgbClr val="C03030"/>
                </a:solidFill>
                <a:latin typeface="PingFang TC"/>
              </a:rPr>
              <a:t>P5b 拒答</a:t>
            </a:r>
            <a:r>
              <a:rPr sz="630" b="0">
                <a:solidFill>
                  <a:srgbClr val="7E8D9B"/>
                </a:solidFill>
                <a:latin typeface="PingFang TC"/>
              </a:rPr>
              <a:t> 30 題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4048" y="4489704"/>
            <a:ext cx="1920240" cy="749808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75488" y="4535424"/>
            <a:ext cx="134416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141E27"/>
                </a:solidFill>
                <a:latin typeface="PingFang TC"/>
              </a:rPr>
              <a:t>MemFail（合成）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865376" y="4533595"/>
            <a:ext cx="347472" cy="128016"/>
          </a:xfrm>
          <a:prstGeom prst="roundRect">
            <a:avLst>
              <a:gd name="adj" fmla="val 16000"/>
            </a:avLst>
          </a:prstGeom>
          <a:solidFill>
            <a:srgbClr val="F8F0DE"/>
          </a:solidFill>
          <a:ln w="9525">
            <a:solidFill>
              <a:srgbClr val="DFC3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865376" y="4552797"/>
            <a:ext cx="34747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1">
                <a:solidFill>
                  <a:srgbClr val="87590C"/>
                </a:solidFill>
                <a:latin typeface="PingFang TC"/>
              </a:rPr>
              <a:t>L2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" y="4686300"/>
            <a:ext cx="17373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4C5C6B"/>
                </a:solidFill>
                <a:latin typeface="PingFang TC"/>
              </a:rPr>
              <a:t>原子事實全知；唯一你有生成器控制權的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" y="4814316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conditional_facts　easy 100 ／ hard 100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coexisting 100（各 3 個並存值）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persona 100 實體 ・ 300 題（157 misleading）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long_hop 92 條（1hop 31 ／ 2hop 32 ／ 3hop 29）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68296" y="4489704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2459736" y="4544568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780" b="1">
                <a:solidFill>
                  <a:srgbClr val="16685A"/>
                </a:solidFill>
                <a:latin typeface="PingFang TC"/>
              </a:rPr>
              <a:t>可歸因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59736" y="4695444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注入的事實是自己寫的，逐條已知（entity_facts ／ preference_facts ／ fact_1..4），比對無歧義。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59736" y="5093208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P1　Strict ・ Distort（ground truth 最乾淨）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743450" y="4489704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4834890" y="4544568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780" b="1">
                <a:solidFill>
                  <a:srgbClr val="8B98A4"/>
                </a:solidFill>
                <a:latin typeface="PingFang TC"/>
              </a:rPr>
              <a:t>結構性缺席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34890" y="4695444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只涵蓋 (b) 誤判可並存。生成 prompt 明令「所有事實不得互相矛盾」→ 更新情境根本不存在，不是標註不足。但這也是四個裡唯一能靠新造子集補到 L3 的 —— 生成器在手上。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34890" y="5093208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建議新增 </a:t>
            </a:r>
            <a:r>
              <a:rPr sz="630" b="1">
                <a:solidFill>
                  <a:srgbClr val="C03030"/>
                </a:solidFill>
                <a:latin typeface="PingFang TC"/>
              </a:rPr>
              <a:t>updating_facts 子集</a:t>
            </a:r>
            <a:r>
              <a:rPr sz="630" b="0">
                <a:solidFill>
                  <a:srgbClr val="7E8D9B"/>
                </a:solidFill>
                <a:latin typeface="PingFang TC"/>
              </a:rPr>
              <a:t>（帶 v1／v2 與時序）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118604" y="4489704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10044" y="4544568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780" b="1">
                <a:solidFill>
                  <a:srgbClr val="87590C"/>
                </a:solidFill>
                <a:latin typeface="PingFang TC"/>
              </a:rPr>
              <a:t>可歸因 ・ 難度可控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10044" y="4695444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long_hop 的 hop 深度是自變數（1／2／3），能畫出檢索衰減曲線 —— 其他三個資料集做不到。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10044" y="5093208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P4　／　hop 深度 × NewRet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493758" y="4489704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585198" y="4544568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780" b="1">
                <a:solidFill>
                  <a:srgbClr val="782D58"/>
                </a:solidFill>
                <a:latin typeface="PingFang TC"/>
              </a:rPr>
              <a:t>可歸因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85198" y="4695444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persona 的 157 題 misleading 帶 distractor 標註，直接測「context 有干擾時 reader 挑不挑得對」。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85198" y="5093208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P5 抉擇（唯一有明確干擾項標註的）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84048" y="5285231"/>
            <a:ext cx="1920240" cy="749808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475488" y="5330951"/>
            <a:ext cx="116128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141E27"/>
                </a:solidFill>
                <a:latin typeface="PingFang TC"/>
              </a:rPr>
              <a:t>LoCoMo-10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682495" y="5329123"/>
            <a:ext cx="530352" cy="128016"/>
          </a:xfrm>
          <a:prstGeom prst="roundRect">
            <a:avLst>
              <a:gd name="adj" fmla="val 16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682495" y="5348325"/>
            <a:ext cx="53035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1">
                <a:solidFill>
                  <a:srgbClr val="8B98A4"/>
                </a:solidFill>
                <a:latin typeface="PingFang TC"/>
              </a:rPr>
              <a:t>L1 上限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5488" y="5481827"/>
            <a:ext cx="17373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4C5C6B"/>
                </a:solidFill>
                <a:latin typeface="PingFang TC"/>
              </a:rPr>
              <a:t>turn 指標 evidence；無更新標註、無法升級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5488" y="5609844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10 conversations ・ 1,986 QA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1,982 題附 evidence（turn ID "D1:3"）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cat4 single_hop 841 ／ cat5 adversarial 446</a:t>
            </a:r>
          </a:p>
          <a:p>
            <a:pPr algn="l">
              <a:lnSpc>
                <a:spcPct val="120000"/>
              </a:lnSpc>
            </a:pPr>
            <a:r>
              <a:rPr sz="590" b="0">
                <a:solidFill>
                  <a:srgbClr val="7E8D9B"/>
                </a:solidFill>
                <a:latin typeface="PingFang TC"/>
              </a:rPr>
              <a:t>cat2 temporal 321 ／ cat1 282 ／ cat3 96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368296" y="5285231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459736" y="5340095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780" b="1">
                <a:solidFill>
                  <a:srgbClr val="8B98A4"/>
                </a:solidFill>
                <a:latin typeface="PingFang TC"/>
              </a:rPr>
              <a:t>不可歸因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459736" y="5490971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evidence 只是 turn 指標，不是事實文字。查得出「那句話在不在」，查不出「那句話裡的值有沒有被記歪」。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59736" y="5888736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P1 Distort 無法定義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743450" y="5285231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834890" y="5340095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780" b="1">
                <a:solidFill>
                  <a:srgbClr val="8B98A4"/>
                </a:solidFill>
                <a:latin typeface="PingFang TC"/>
              </a:rPr>
              <a:t>不可歸因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34890" y="5490971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完全沒有 update 標註，也沒有 v1／v2 可推導的結構。這一格是永久卡住的，不是待補。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34890" y="5888736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P1u ／ P2 ／ P3 ／ P4b 全部未定義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118604" y="5285231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7210044" y="5340095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780" b="1">
                <a:solidFill>
                  <a:srgbClr val="87590C"/>
                </a:solidFill>
                <a:latin typeface="PingFang TC"/>
              </a:rPr>
              <a:t>可歸因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210044" y="5490971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turn 指標可對回原文再比 context。標註覆蓋率 1,982／1,986 是四個資料集最高的。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210044" y="5888736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P4（LoCoMo 的主要價值所在）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493758" y="5285231"/>
            <a:ext cx="2311146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9585198" y="5340095"/>
            <a:ext cx="212826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780" b="1">
                <a:solidFill>
                  <a:srgbClr val="782D58"/>
                </a:solidFill>
                <a:latin typeface="PingFang TC"/>
              </a:rPr>
              <a:t>可歸因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85198" y="5490971"/>
            <a:ext cx="2128266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cat 5 adversarial 446 題（22%）帶 adversarial_answer 而非 answer —— 天然的大規模拒答探針。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585198" y="5888736"/>
            <a:ext cx="212826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7E8D9B"/>
                </a:solidFill>
                <a:latin typeface="PingFang TC"/>
              </a:rPr>
              <a:t>P5 ＋ </a:t>
            </a:r>
            <a:r>
              <a:rPr sz="630" b="1">
                <a:solidFill>
                  <a:srgbClr val="C03030"/>
                </a:solidFill>
                <a:latin typeface="PingFang TC"/>
              </a:rPr>
              <a:t>P5b 拒答</a:t>
            </a:r>
            <a:r>
              <a:rPr sz="630" b="0">
                <a:solidFill>
                  <a:srgbClr val="7E8D9B"/>
                </a:solidFill>
                <a:latin typeface="PingFang TC"/>
              </a:rPr>
              <a:t> 446 題，四個裡最大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4048" y="6135624"/>
            <a:ext cx="114208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4C5C6B"/>
                </a:solidFill>
                <a:latin typeface="PingFang TC"/>
              </a:rPr>
              <a:t>▪ 可歸因：標註足以切下這一刀　　</a:t>
            </a:r>
            <a:r>
              <a:rPr sz="660" b="0">
                <a:solidFill>
                  <a:srgbClr val="4C5C6B"/>
                </a:solidFill>
                <a:latin typeface="PingFang TC"/>
              </a:rPr>
              <a:t>◇ 需改定義／需一次性標註　　</a:t>
            </a:r>
            <a:r>
              <a:rPr sz="660" b="0">
                <a:solidFill>
                  <a:srgbClr val="8B98A4"/>
                </a:solidFill>
                <a:latin typeface="PingFang TC"/>
              </a:rPr>
              <a:t>✕ 不可歸因：標註結構上缺席　　</a:t>
            </a:r>
            <a:r>
              <a:rPr sz="660" b="1">
                <a:solidFill>
                  <a:srgbClr val="C03030"/>
                </a:solidFill>
                <a:latin typeface="PingFang TC"/>
              </a:rPr>
              <a:t>紅字 ＝ 我新增、現有 benchmark 沒有的探針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84048" y="6309360"/>
            <a:ext cx="11420856" cy="2743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493776" y="6387084"/>
            <a:ext cx="112014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41E27"/>
                </a:solidFill>
                <a:latin typeface="PingFang TC"/>
              </a:rPr>
              <a:t>結論　</a:t>
            </a:r>
            <a:r>
              <a:rPr sz="700" b="1">
                <a:solidFill>
                  <a:srgbClr val="141E27"/>
                </a:solidFill>
                <a:latin typeface="PingFang TC"/>
              </a:rPr>
              <a:t>HaluMem＝</a:t>
            </a:r>
            <a:r>
              <a:rPr sz="700" b="0">
                <a:solidFill>
                  <a:srgbClr val="4C5C6B"/>
                </a:solidFill>
                <a:latin typeface="PingFang TC"/>
              </a:rPr>
              <a:t>主力歸因場，唯一原生 L3；目前只用了 user1 的 142 點，母體大 22 倍</a:t>
            </a:r>
            <a:r>
              <a:rPr sz="700" b="0">
                <a:solidFill>
                  <a:srgbClr val="B7C3CE"/>
                </a:solidFill>
                <a:latin typeface="PingFang TC"/>
              </a:rPr>
              <a:t>　｜　</a:t>
            </a:r>
            <a:r>
              <a:rPr sz="700" b="1">
                <a:solidFill>
                  <a:srgbClr val="141E27"/>
                </a:solidFill>
                <a:latin typeface="PingFang TC"/>
              </a:rPr>
              <a:t>LongMemEval＝</a:t>
            </a:r>
            <a:r>
              <a:rPr sz="700" b="0">
                <a:solidFill>
                  <a:srgbClr val="4C5C6B"/>
                </a:solidFill>
                <a:latin typeface="PingFang TC"/>
              </a:rPr>
              <a:t>72 次 LLM 呼叫換第二個獨立 L3 來源；temporal 127 題是唯一能測時間戳的地方</a:t>
            </a:r>
            <a:r>
              <a:rPr sz="700" b="0">
                <a:solidFill>
                  <a:srgbClr val="B7C3CE"/>
                </a:solidFill>
                <a:latin typeface="PingFang TC"/>
              </a:rPr>
              <a:t>　｜　</a:t>
            </a:r>
            <a:r>
              <a:rPr sz="700" b="1">
                <a:solidFill>
                  <a:srgbClr val="141E27"/>
                </a:solidFill>
                <a:latin typeface="PingFang TC"/>
              </a:rPr>
              <a:t>MemFail＝</a:t>
            </a:r>
            <a:r>
              <a:rPr sz="700" b="0">
                <a:solidFill>
                  <a:srgbClr val="4C5C6B"/>
                </a:solidFill>
                <a:latin typeface="PingFang TC"/>
              </a:rPr>
              <a:t>唯一能自己造出 L3 的 —— 加一個 updating_facts 子集</a:t>
            </a:r>
            <a:r>
              <a:rPr sz="700" b="0">
                <a:solidFill>
                  <a:srgbClr val="B7C3CE"/>
                </a:solidFill>
                <a:latin typeface="PingFang TC"/>
              </a:rPr>
              <a:t>　｜　</a:t>
            </a:r>
            <a:r>
              <a:rPr sz="700" b="1">
                <a:solidFill>
                  <a:srgbClr val="141E27"/>
                </a:solidFill>
                <a:latin typeface="PingFang TC"/>
              </a:rPr>
              <a:t>LoCoMo＝</a:t>
            </a:r>
            <a:r>
              <a:rPr sz="700" b="0">
                <a:solidFill>
                  <a:srgbClr val="4C5C6B"/>
                </a:solidFill>
                <a:latin typeface="PingFang TC"/>
              </a:rPr>
              <a:t>降級為讀取側驗證集；但 cat5 的 446 題是四者最大的拒答樣本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4048" y="6638544"/>
            <a:ext cx="114208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數量全部由本機資料檔實際統計：HaluMem-Medium.jsonl（20 users）・ longmemeval_s.json（500 題）・ locomo10.json（10 conv／1,986 QA）・ memfail_experiment/datasets/（4 子集 CSV）　｜　階段定義：MemFail arXiv 2605.26667，(c)(d) 為本研究補充　｜　探針定義見 memory_update_probe_framework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